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12192000"/>
  <p:embeddedFontLst>
    <p:embeddedFont>
      <p:font typeface="IBM Plex Sans"/>
      <p:regular r:id="rId22"/>
      <p:bold r:id="rId23"/>
      <p:italic r:id="rId24"/>
      <p:boldItalic r:id="rId25"/>
    </p:embeddedFont>
    <p:embeddedFont>
      <p:font typeface="JetBrains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h+ljcQ9PHeFaXzZJtt/s0y4rYn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7F23D1-3F80-4BEE-83EA-0B8E7BF24E51}">
  <a:tblStyle styleId="{C67F23D1-3F80-4BEE-83EA-0B8E7BF24E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BMPlexSans-regular.fntdata"/><Relationship Id="rId21" Type="http://schemas.openxmlformats.org/officeDocument/2006/relationships/slide" Target="slides/slide16.xml"/><Relationship Id="rId24" Type="http://schemas.openxmlformats.org/officeDocument/2006/relationships/font" Target="fonts/IBMPlexSans-italic.fntdata"/><Relationship Id="rId23" Type="http://schemas.openxmlformats.org/officeDocument/2006/relationships/font" Target="fonts/IBMPlex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regular.fntdata"/><Relationship Id="rId25" Type="http://schemas.openxmlformats.org/officeDocument/2006/relationships/font" Target="fonts/IBMPlexSans-boldItalic.fntdata"/><Relationship Id="rId28" Type="http://schemas.openxmlformats.org/officeDocument/2006/relationships/font" Target="fonts/JetBrainsMono-italic.fntdata"/><Relationship Id="rId27" Type="http://schemas.openxmlformats.org/officeDocument/2006/relationships/font" Target="fonts/JetBrains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ca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IMPO</a:t>
            </a:r>
            <a:r>
              <a:rPr lang="ca"/>
              <a:t>RTANT: </a:t>
            </a:r>
            <a:r>
              <a:rPr lang="ca">
                <a:solidFill>
                  <a:srgbClr val="000000"/>
                </a:solidFill>
              </a:rPr>
              <a:t>la reconnexió automàtica només funciona quan la connexió cau per un error de xarxa. Si el servidor respon amb un error (per exemple, un 500) o amb un </a:t>
            </a:r>
            <a:r>
              <a:rPr lang="ca">
                <a:solidFill>
                  <a:srgbClr val="188038"/>
                </a:solidFill>
              </a:rPr>
              <a:t>Content-Type</a:t>
            </a:r>
            <a:r>
              <a:rPr lang="ca">
                <a:solidFill>
                  <a:srgbClr val="000000"/>
                </a:solidFill>
              </a:rPr>
              <a:t> incorrecte, el navegador </a:t>
            </a:r>
            <a:r>
              <a:rPr b="1" lang="ca">
                <a:solidFill>
                  <a:srgbClr val="000000"/>
                </a:solidFill>
              </a:rPr>
              <a:t>no</a:t>
            </a:r>
            <a:r>
              <a:rPr lang="ca">
                <a:solidFill>
                  <a:srgbClr val="000000"/>
                </a:solidFill>
              </a:rPr>
              <a:t> es torna a connectar. I si el servidor respon amb un </a:t>
            </a:r>
            <a:r>
              <a:rPr lang="ca">
                <a:solidFill>
                  <a:srgbClr val="188038"/>
                </a:solidFill>
              </a:rPr>
              <a:t>204 No Content</a:t>
            </a:r>
            <a:r>
              <a:rPr lang="ca">
                <a:solidFill>
                  <a:srgbClr val="000000"/>
                </a:solidFill>
              </a:rPr>
              <a:t>, li està dient expressament que pari. És un bon detall per demostrar que domineu el tema si surt a les preguntes.</a:t>
            </a:r>
            <a:endParaRPr/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7F8F6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8"/>
          <p:cNvSpPr txBox="1"/>
          <p:nvPr>
            <p:ph type="title"/>
          </p:nvPr>
        </p:nvSpPr>
        <p:spPr>
          <a:xfrm>
            <a:off x="812800" y="812800"/>
            <a:ext cx="10566400" cy="523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589"/>
              <a:buFont typeface="IBM Plex Sans"/>
              <a:buNone/>
              <a:defRPr sz="3589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" type="body"/>
          </p:nvPr>
        </p:nvSpPr>
        <p:spPr>
          <a:xfrm>
            <a:off x="812800" y="1641574"/>
            <a:ext cx="10566400" cy="4403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5202B"/>
              </a:buClr>
              <a:buSzPts val="1600"/>
              <a:buNone/>
              <a:defRPr sz="1600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12800" y="812800"/>
            <a:ext cx="10566400" cy="523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589"/>
              <a:buFont typeface="IBM Plex Sans"/>
              <a:buNone/>
              <a:defRPr b="0" i="0" sz="3589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12800" y="1641574"/>
            <a:ext cx="10566400" cy="4403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5202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02B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JetBrains Mono"/>
              <a:buNone/>
            </a:pPr>
            <a:r>
              <a:rPr b="0" i="0" lang="ca" sz="14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ASW · PRESENTACIÓ 1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" name="Google Shape;22;p1"/>
          <p:cNvSpPr txBox="1"/>
          <p:nvPr>
            <p:ph type="title"/>
          </p:nvPr>
        </p:nvSpPr>
        <p:spPr>
          <a:xfrm>
            <a:off x="812800" y="2022475"/>
            <a:ext cx="10883392" cy="1492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7F8F6"/>
              </a:buClr>
              <a:buSzPts val="5500"/>
              <a:buFont typeface="IBM Plex Sans"/>
              <a:buNone/>
            </a:pPr>
            <a:r>
              <a:rPr b="1" i="0" lang="ca" sz="5500">
                <a:solidFill>
                  <a:srgbClr val="F7F8F6"/>
                </a:solidFill>
                <a:latin typeface="IBM Plex Sans"/>
                <a:ea typeface="IBM Plex Sans"/>
                <a:cs typeface="IBM Plex Sans"/>
                <a:sym typeface="IBM Plex Sans"/>
              </a:rPr>
              <a:t>WebSockets i</a:t>
            </a:r>
            <a:endParaRPr sz="5500"/>
          </a:p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7F8F6"/>
              </a:buClr>
              <a:buSzPts val="5500"/>
              <a:buFont typeface="IBM Plex Sans"/>
              <a:buNone/>
            </a:pPr>
            <a:r>
              <a:rPr b="1" i="0" lang="ca" sz="5500">
                <a:solidFill>
                  <a:srgbClr val="F7F8F6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Server-Sent Events</a:t>
            </a:r>
            <a:endParaRPr sz="5500"/>
          </a:p>
        </p:txBody>
      </p:sp>
      <p:sp>
        <p:nvSpPr>
          <p:cNvPr id="23" name="Google Shape;23;p1"/>
          <p:cNvSpPr/>
          <p:nvPr/>
        </p:nvSpPr>
        <p:spPr>
          <a:xfrm>
            <a:off x="812800" y="3798607"/>
            <a:ext cx="85026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0C0"/>
              </a:buClr>
              <a:buSzPts val="2100"/>
              <a:buFont typeface="IBM Plex Sans"/>
              <a:buNone/>
            </a:pPr>
            <a:r>
              <a:rPr b="0" i="0" lang="ca" sz="2100" u="none" cap="none" strike="noStrike">
                <a:solidFill>
                  <a:srgbClr val="9FB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 aconseguim que el servidor parli primer</a:t>
            </a:r>
            <a:endParaRPr b="0" i="0" sz="2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line" id="24" name="Google Shape;2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5052120"/>
            <a:ext cx="10566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812800" y="5468196"/>
            <a:ext cx="108834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7F8F6"/>
              </a:buClr>
              <a:buSzPts val="1500"/>
              <a:buFont typeface="IBM Plex Sans"/>
              <a:buNone/>
            </a:pPr>
            <a:r>
              <a:rPr lang="ca" sz="1500">
                <a:solidFill>
                  <a:srgbClr val="F7F8F6"/>
                </a:solidFill>
                <a:latin typeface="IBM Plex Sans"/>
                <a:ea typeface="IBM Plex Sans"/>
                <a:cs typeface="IBM Plex Sans"/>
                <a:sym typeface="IBM Plex Sans"/>
              </a:rPr>
              <a:t>Alex Blanco · Simona Duelt · Raúl Guasch </a:t>
            </a:r>
            <a:r>
              <a:rPr lang="ca" sz="1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· </a:t>
            </a:r>
            <a:r>
              <a:rPr lang="ca" sz="1500">
                <a:solidFill>
                  <a:srgbClr val="F7F8F6"/>
                </a:solidFill>
                <a:latin typeface="IBM Plex Sans"/>
                <a:ea typeface="IBM Plex Sans"/>
                <a:cs typeface="IBM Plex Sans"/>
                <a:sym typeface="IBM Plex Sans"/>
              </a:rPr>
              <a:t>Marc Planas · Jan Santaliestra</a:t>
            </a:r>
            <a:endParaRPr sz="1500">
              <a:solidFill>
                <a:srgbClr val="F7F8F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7F8F6"/>
              </a:buClr>
              <a:buSzPts val="1500"/>
              <a:buFont typeface="IBM Plex Sans"/>
              <a:buNone/>
            </a:pPr>
            <a:r>
              <a:t/>
            </a:r>
            <a:endParaRPr sz="1500">
              <a:solidFill>
                <a:srgbClr val="F7F8F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12800" y="5814120"/>
            <a:ext cx="1088339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0C0"/>
              </a:buClr>
              <a:buSzPts val="1300"/>
              <a:buFont typeface="IBM Plex Sans"/>
              <a:buNone/>
            </a:pPr>
            <a:r>
              <a:rPr b="0" i="0" lang="ca" sz="1300" u="none" cap="none" strike="noStrike">
                <a:solidFill>
                  <a:srgbClr val="9FB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Grau en Enginyeria Informàtica · FIB · UPC 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/>
          <p:nvPr>
            <p:ph type="title"/>
          </p:nvPr>
        </p:nvSpPr>
        <p:spPr>
          <a:xfrm>
            <a:off x="812800" y="812800"/>
            <a:ext cx="108834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300"/>
              <a:buFont typeface="IBM Plex Sans"/>
              <a:buNone/>
            </a:pPr>
            <a:r>
              <a:rPr b="1" i="0" lang="ca" sz="3300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Què són, i per què calen</a:t>
            </a:r>
            <a:endParaRPr sz="3300"/>
          </a:p>
        </p:txBody>
      </p:sp>
      <p:sp>
        <p:nvSpPr>
          <p:cNvPr id="33" name="Google Shape;33;p2"/>
          <p:cNvSpPr/>
          <p:nvPr/>
        </p:nvSpPr>
        <p:spPr>
          <a:xfrm>
            <a:off x="812850" y="1985538"/>
            <a:ext cx="55986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None/>
            </a:pPr>
            <a:r>
              <a:rPr b="1" lang="ca" sz="1700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WebSocket</a:t>
            </a:r>
            <a:r>
              <a:rPr lang="ca" sz="1700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: protocol que permet una comunicació bidireccional i en temps real entre client i servidor a través d’una única connexió persistent.</a:t>
            </a:r>
            <a:endParaRPr sz="1700">
              <a:solidFill>
                <a:srgbClr val="1520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12800" y="5288500"/>
            <a:ext cx="5479800" cy="854100"/>
          </a:xfrm>
          <a:prstGeom prst="roundRect">
            <a:avLst>
              <a:gd fmla="val 4613" name="adj"/>
            </a:avLst>
          </a:prstGeom>
          <a:solidFill>
            <a:srgbClr val="ECEEE9"/>
          </a:solidFill>
          <a:ln>
            <a:noFill/>
          </a:ln>
        </p:spPr>
        <p:txBody>
          <a:bodyPr anchorCtr="0" anchor="t" bIns="137500" lIns="251800" spcFirstLastPara="1" rIns="65500" wrap="square" tIns="162900">
            <a:norm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Font typeface="IBM Plex Sans"/>
              <a:buNone/>
            </a:pPr>
            <a:r>
              <a:rPr b="0" i="1" lang="ca" sz="135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«HTTP is one-way: clients make requests to servers, no vice versa.»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Font typeface="IBM Plex Sans"/>
              <a:buNone/>
            </a:pPr>
            <a:r>
              <a:rPr b="0" i="1" lang="ca" sz="135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ASW, tema 2, diapositiva 26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12849" y="5288522"/>
            <a:ext cx="5326888" cy="853452"/>
          </a:xfrm>
          <a:custGeom>
            <a:rect b="b" l="l" r="r" t="t"/>
            <a:pathLst>
              <a:path extrusionOk="0" h="1101229" w="5435600">
                <a:moveTo>
                  <a:pt x="50800" y="1101229"/>
                </a:moveTo>
                <a:lnTo>
                  <a:pt x="50800" y="1101229"/>
                </a:lnTo>
                <a:cubicBezTo>
                  <a:pt x="22744" y="1101229"/>
                  <a:pt x="0" y="1078485"/>
                  <a:pt x="0" y="1050429"/>
                </a:cubicBezTo>
                <a:lnTo>
                  <a:pt x="0" y="50800"/>
                </a:lnTo>
                <a:cubicBezTo>
                  <a:pt x="0" y="22744"/>
                  <a:pt x="22744" y="0"/>
                  <a:pt x="50800" y="0"/>
                </a:cubicBezTo>
                <a:lnTo>
                  <a:pt x="50800" y="0"/>
                </a:lnTo>
                <a:cubicBezTo>
                  <a:pt x="43786" y="0"/>
                  <a:pt x="38100" y="22744"/>
                  <a:pt x="38100" y="50800"/>
                </a:cubicBezTo>
                <a:lnTo>
                  <a:pt x="38100" y="1050429"/>
                </a:lnTo>
                <a:cubicBezTo>
                  <a:pt x="38100" y="1063902"/>
                  <a:pt x="39438" y="1076823"/>
                  <a:pt x="41820" y="1086350"/>
                </a:cubicBezTo>
                <a:cubicBezTo>
                  <a:pt x="44201" y="1095877"/>
                  <a:pt x="47432" y="1101229"/>
                  <a:pt x="50800" y="1101229"/>
                </a:cubicBezTo>
                <a:close/>
              </a:path>
            </a:pathLst>
          </a:custGeom>
          <a:solidFill>
            <a:srgbClr val="1520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592661" y="5392447"/>
            <a:ext cx="46209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None/>
            </a:pPr>
            <a:r>
              <a:rPr lang="ca" sz="15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Són la base de </a:t>
            </a:r>
            <a:r>
              <a:rPr b="0" i="0" lang="ca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xats, notificacions, marcadors, dashboards en viu,</a:t>
            </a:r>
            <a:r>
              <a:rPr lang="ca" sz="15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els models de llenguatge, etc.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556375" y="1674042"/>
            <a:ext cx="4819800" cy="2973000"/>
          </a:xfrm>
          <a:prstGeom prst="roundRect">
            <a:avLst>
              <a:gd fmla="val 3311" name="adj"/>
            </a:avLst>
          </a:prstGeom>
          <a:solidFill>
            <a:srgbClr val="ECEEE9"/>
          </a:solidFill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838950" y="2084213"/>
            <a:ext cx="132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350"/>
              <a:buFont typeface="IBM Plex Sans"/>
              <a:buNone/>
            </a:pPr>
            <a:r>
              <a:rPr b="1" i="0" lang="ca" sz="135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Navegador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arrow-right"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6617" y="1956617"/>
            <a:ext cx="10795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9442450" y="2084213"/>
            <a:ext cx="132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350"/>
              <a:buFont typeface="IBM Plex Sans"/>
              <a:buNone/>
            </a:pPr>
            <a:r>
              <a:rPr b="1" i="0" lang="ca" sz="135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Servidor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838950" y="2629717"/>
            <a:ext cx="43821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lang="ca" sz="13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HTTP: el servidor només respon quan el client pregunta.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line"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8950" y="3038598"/>
            <a:ext cx="42545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6838950" y="3356693"/>
            <a:ext cx="132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350"/>
              <a:buFont typeface="IBM Plex Sans"/>
              <a:buNone/>
            </a:pPr>
            <a:r>
              <a:rPr b="1" i="0" lang="ca" sz="135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Navegador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arrow-left" id="44" name="Google Shape;4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617" y="3229098"/>
            <a:ext cx="10795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9442450" y="3356693"/>
            <a:ext cx="132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350"/>
              <a:buFont typeface="IBM Plex Sans"/>
              <a:buNone/>
            </a:pPr>
            <a:r>
              <a:rPr b="1" i="0" lang="ca" sz="135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Servidor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838950" y="3902198"/>
            <a:ext cx="43821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IBM Plex Sans"/>
              <a:buNone/>
            </a:pPr>
            <a:r>
              <a:rPr b="1" i="0" lang="ca" sz="1300" u="none" cap="none" strike="noStrike">
                <a:solidFill>
                  <a:srgbClr val="B45309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servidor no pot enviar res per iniciativa pròpia a HTTP</a:t>
            </a:r>
            <a:r>
              <a:rPr lang="ca" sz="1300">
                <a:solidFill>
                  <a:srgbClr val="B45309"/>
                </a:solidFill>
                <a:latin typeface="IBM Plex Sans"/>
                <a:ea typeface="IBM Plex Sans"/>
                <a:cs typeface="IBM Plex Sans"/>
                <a:sym typeface="IBM Plex Sans"/>
              </a:rPr>
              <a:t>. </a:t>
            </a:r>
            <a:r>
              <a:rPr b="0" i="0" lang="ca" sz="1300" u="none" cap="none" strike="noStrike">
                <a:solidFill>
                  <a:srgbClr val="B45309"/>
                </a:solidFill>
                <a:latin typeface="IBM Plex Sans"/>
                <a:ea typeface="IBM Plex Sans"/>
                <a:cs typeface="IBM Plex Sans"/>
                <a:sym typeface="IBM Plex Sans"/>
              </a:rPr>
              <a:t>Això ho resolen SSE i WebSockets.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12875" y="3371038"/>
            <a:ext cx="55986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None/>
            </a:pPr>
            <a:r>
              <a:rPr b="1" lang="ca" sz="1700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Server-Sent Events</a:t>
            </a:r>
            <a:r>
              <a:rPr lang="ca" sz="1700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: tecnologia que permet al servidor enviar esdeveniments al client en temps real a través d’una connexió HTTP persistent i unidireccional. </a:t>
            </a:r>
            <a:endParaRPr sz="1700">
              <a:solidFill>
                <a:srgbClr val="15202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/>
          <p:nvPr>
            <p:ph type="title"/>
          </p:nvPr>
        </p:nvSpPr>
        <p:spPr>
          <a:xfrm>
            <a:off x="812800" y="812800"/>
            <a:ext cx="10883392" cy="485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7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145"/>
              <a:buFont typeface="IBM Plex Sans"/>
              <a:buNone/>
            </a:pPr>
            <a:r>
              <a:rPr b="1" i="0" lang="ca" sz="3145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 hi hem arribat</a:t>
            </a:r>
            <a:endParaRPr sz="3145"/>
          </a:p>
        </p:txBody>
      </p:sp>
      <p:sp>
        <p:nvSpPr>
          <p:cNvPr id="54" name="Google Shape;54;p3"/>
          <p:cNvSpPr/>
          <p:nvPr/>
        </p:nvSpPr>
        <p:spPr>
          <a:xfrm>
            <a:off x="812800" y="1501378"/>
            <a:ext cx="10566400" cy="779859"/>
          </a:xfrm>
          <a:prstGeom prst="roundRect">
            <a:avLst>
              <a:gd fmla="val 9771" name="adj"/>
            </a:avLst>
          </a:prstGeom>
          <a:solidFill>
            <a:srgbClr val="ECEE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1016000" y="1653775"/>
            <a:ext cx="99201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347"/>
              <a:buFont typeface="IBM Plex Sans"/>
              <a:buNone/>
            </a:pPr>
            <a:r>
              <a:rPr b="1" i="0" lang="ca" sz="1347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Abans de tot:</a:t>
            </a:r>
            <a:r>
              <a:rPr b="0" i="0" lang="ca" sz="1347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anys 2000, </a:t>
            </a:r>
            <a:r>
              <a:rPr lang="ca" sz="1347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pedaços com el polling (preguntar cada pocs segons) i el long polling (deixar la pregunta oberta fins que hi ha novetats). Funcionaven, però eren lents i ineficients.</a:t>
            </a:r>
            <a:endParaRPr sz="1347">
              <a:solidFill>
                <a:srgbClr val="4A556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12800" y="2509838"/>
            <a:ext cx="5181600" cy="2574727"/>
          </a:xfrm>
          <a:prstGeom prst="roundRect">
            <a:avLst>
              <a:gd fmla="val 3946" name="adj"/>
            </a:avLst>
          </a:prstGeom>
          <a:solidFill>
            <a:srgbClr val="ECEE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812800" y="2509838"/>
            <a:ext cx="5181600" cy="2574727"/>
          </a:xfrm>
          <a:custGeom>
            <a:rect b="b" l="l" r="r" t="t"/>
            <a:pathLst>
              <a:path extrusionOk="0" h="2574727" w="5181600">
                <a:moveTo>
                  <a:pt x="0" y="101600"/>
                </a:move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5080000" y="0"/>
                </a:lnTo>
                <a:cubicBezTo>
                  <a:pt x="5106946" y="0"/>
                  <a:pt x="5132788" y="10704"/>
                  <a:pt x="5151842" y="29758"/>
                </a:cubicBezTo>
                <a:cubicBezTo>
                  <a:pt x="5170896" y="48812"/>
                  <a:pt x="5181600" y="74654"/>
                  <a:pt x="5181600" y="101600"/>
                </a:cubicBezTo>
                <a:lnTo>
                  <a:pt x="5181600" y="101600"/>
                </a:lnTo>
                <a:cubicBezTo>
                  <a:pt x="5181600" y="73544"/>
                  <a:pt x="5136112" y="50800"/>
                  <a:pt x="5080000" y="50800"/>
                </a:cubicBezTo>
                <a:lnTo>
                  <a:pt x="101600" y="50800"/>
                </a:lnTo>
                <a:cubicBezTo>
                  <a:pt x="45488" y="50800"/>
                  <a:pt x="0" y="73544"/>
                  <a:pt x="0" y="10160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1066800" y="2814638"/>
            <a:ext cx="4813808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600"/>
              <a:buFont typeface="IBM Plex Sans"/>
              <a:buNone/>
            </a:pPr>
            <a:r>
              <a:rPr b="1" i="0" lang="ca" sz="1600" u="none" cap="none" strike="noStrike">
                <a:solidFill>
                  <a:srgbClr val="B45309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Server-Sent Events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066800" y="3185418"/>
            <a:ext cx="100330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JetBrains Mono"/>
              <a:buNone/>
            </a:pPr>
            <a:r>
              <a:rPr b="1" i="0" lang="ca" sz="1300" u="none" cap="none" strike="noStrike">
                <a:solidFill>
                  <a:srgbClr val="B4530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2004</a:t>
            </a:r>
            <a:endParaRPr b="1" sz="1300">
              <a:solidFill>
                <a:srgbClr val="B4530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JetBrains Mono"/>
              <a:buNone/>
            </a:pPr>
            <a:r>
              <a:rPr b="1" lang="ca" sz="1300">
                <a:solidFill>
                  <a:srgbClr val="B4530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r>
              <a:rPr b="1" i="0" lang="ca" sz="1300" u="none" cap="none" strike="noStrike">
                <a:solidFill>
                  <a:srgbClr val="B4530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146300" y="3185418"/>
            <a:ext cx="3701923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0" i="0" lang="ca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Ian Hickson </a:t>
            </a:r>
            <a:r>
              <a:rPr lang="ca" sz="13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defineix les SSE</a:t>
            </a:r>
            <a:r>
              <a:rPr b="0" i="0" lang="ca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. </a:t>
            </a:r>
            <a:endParaRPr b="0" i="0" sz="1300" u="none" cap="none" strike="noStrike">
              <a:solidFill>
                <a:srgbClr val="4A556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0" i="0" lang="ca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 9 </a:t>
            </a:r>
            <a:r>
              <a:rPr lang="ca" sz="13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és el primer navegador que el prova.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066800" y="3774579"/>
            <a:ext cx="10033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JetBrains Mono"/>
              <a:buNone/>
            </a:pPr>
            <a:r>
              <a:rPr b="1" i="0" lang="ca" sz="1300" u="none" cap="none" strike="noStrike">
                <a:solidFill>
                  <a:srgbClr val="B4530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2010-11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146300" y="3774579"/>
            <a:ext cx="345293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0" i="0" lang="ca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Chrome, Safari i Firefox l'implementen.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66800" y="4132659"/>
            <a:ext cx="100330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JetBrains Mono"/>
              <a:buNone/>
            </a:pPr>
            <a:r>
              <a:rPr b="1" i="0" lang="ca" sz="1300" u="none" cap="none" strike="noStrike">
                <a:solidFill>
                  <a:srgbClr val="B4530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2015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146300" y="4132659"/>
            <a:ext cx="3701923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0" i="0" lang="ca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Recomanació del W3C.</a:t>
            </a:r>
            <a:r>
              <a:rPr lang="ca" sz="13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És el moment en què passen a ser oficialment un estàndard.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197600" y="2509838"/>
            <a:ext cx="5181600" cy="2574727"/>
          </a:xfrm>
          <a:prstGeom prst="roundRect">
            <a:avLst>
              <a:gd fmla="val 3946" name="adj"/>
            </a:avLst>
          </a:prstGeom>
          <a:solidFill>
            <a:srgbClr val="ECEE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197600" y="2509838"/>
            <a:ext cx="5181600" cy="2574727"/>
          </a:xfrm>
          <a:custGeom>
            <a:rect b="b" l="l" r="r" t="t"/>
            <a:pathLst>
              <a:path extrusionOk="0" h="2574727" w="5181600">
                <a:moveTo>
                  <a:pt x="0" y="101600"/>
                </a:move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5080000" y="0"/>
                </a:lnTo>
                <a:cubicBezTo>
                  <a:pt x="5106946" y="0"/>
                  <a:pt x="5132788" y="10704"/>
                  <a:pt x="5151842" y="29758"/>
                </a:cubicBezTo>
                <a:cubicBezTo>
                  <a:pt x="5170896" y="48812"/>
                  <a:pt x="5181600" y="74654"/>
                  <a:pt x="5181600" y="101600"/>
                </a:cubicBezTo>
                <a:lnTo>
                  <a:pt x="5181600" y="101600"/>
                </a:lnTo>
                <a:cubicBezTo>
                  <a:pt x="5181600" y="73544"/>
                  <a:pt x="5136112" y="50800"/>
                  <a:pt x="5080000" y="50800"/>
                </a:cubicBezTo>
                <a:lnTo>
                  <a:pt x="101600" y="50800"/>
                </a:lnTo>
                <a:cubicBezTo>
                  <a:pt x="45488" y="50800"/>
                  <a:pt x="0" y="73544"/>
                  <a:pt x="0" y="10160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451600" y="2814638"/>
            <a:ext cx="4813808" cy="250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20"/>
              <a:buFont typeface="IBM Plex Sans"/>
              <a:buNone/>
            </a:pPr>
            <a:r>
              <a:rPr b="1" i="0" lang="ca" sz="1520" u="none" cap="none" strike="noStrike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WebSockets</a:t>
            </a:r>
            <a:endParaRPr b="0" i="0" sz="152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451600" y="3167063"/>
            <a:ext cx="1003300" cy="239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JetBrains Mono"/>
              <a:buNone/>
            </a:pPr>
            <a:r>
              <a:rPr b="1" i="0" lang="ca" sz="130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2008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531100" y="3167063"/>
            <a:ext cx="2644973" cy="239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lang="ca" sz="13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Carter i Hickson creen WebSocket.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51600" y="3507780"/>
            <a:ext cx="1003300" cy="452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JetBrains Mono"/>
              <a:buNone/>
            </a:pPr>
            <a:r>
              <a:rPr b="1" i="0" lang="ca" sz="130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2010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531100" y="3507780"/>
            <a:ext cx="3701923" cy="452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lang="ca" sz="13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Passa a l’IETF. Una fallada de seguretat fa que Firefox i Opera el desactivin.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451600" y="4062313"/>
            <a:ext cx="1003300" cy="239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JetBrains Mono"/>
              <a:buNone/>
            </a:pPr>
            <a:r>
              <a:rPr b="1" i="0" lang="ca" sz="130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2011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531100" y="4062313"/>
            <a:ext cx="3745944" cy="239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300"/>
              <a:buFont typeface="IBM Plex Sans"/>
              <a:buNone/>
            </a:pPr>
            <a:r>
              <a:rPr b="1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RFC 6455</a:t>
            </a:r>
            <a:r>
              <a:rPr b="0" i="0" lang="ca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, versió 13: l'estàndard definitiu.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51600" y="4403030"/>
            <a:ext cx="1003300" cy="452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JetBrains Mono"/>
              <a:buNone/>
            </a:pPr>
            <a:r>
              <a:rPr b="1" i="0" lang="ca" sz="130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2018-22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7531100" y="4403030"/>
            <a:ext cx="3701923" cy="452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1" i="0" lang="ca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RFC 8441</a:t>
            </a:r>
            <a:r>
              <a:rPr b="0" i="0" lang="ca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i </a:t>
            </a:r>
            <a:r>
              <a:rPr b="1" i="0" lang="ca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9220</a:t>
            </a:r>
            <a:r>
              <a:rPr b="0" i="0" lang="ca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: </a:t>
            </a:r>
            <a:r>
              <a:rPr lang="ca" sz="13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s</a:t>
            </a:r>
            <a:r>
              <a:rPr b="0" i="0" lang="ca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’adapta a HTTP/2 i HTTP/3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12800" y="5313164"/>
            <a:ext cx="5181600" cy="732036"/>
          </a:xfrm>
          <a:prstGeom prst="roundRect">
            <a:avLst>
              <a:gd fmla="val 10409" name="adj"/>
            </a:avLst>
          </a:prstGeom>
          <a:solidFill>
            <a:srgbClr val="1B2733"/>
          </a:solidFill>
          <a:ln>
            <a:noFill/>
          </a:ln>
        </p:spPr>
        <p:txBody>
          <a:bodyPr anchorCtr="0" anchor="t" bIns="104675" lIns="180875" spcFirstLastPara="1" rIns="37625" wrap="square" tIns="130075">
            <a:norm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3"/>
              <a:buFont typeface="IBM Plex Sans"/>
              <a:buNone/>
            </a:pPr>
            <a:r>
              <a:rPr b="1" i="0" lang="ca" sz="1203" u="none" cap="none" strike="noStrike">
                <a:solidFill>
                  <a:srgbClr val="F59E0B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</a:t>
            </a:r>
            <a:r>
              <a:rPr b="1" lang="ca" sz="1203">
                <a:solidFill>
                  <a:srgbClr val="F59E0B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b="0" i="0" lang="ca" sz="1203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 · </a:t>
            </a:r>
            <a:r>
              <a:rPr lang="ca" sz="1203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Edge 79 l’adopta: SSE funciona a tots els navegadors principals.</a:t>
            </a:r>
            <a:endParaRPr b="0" i="0" sz="1203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197600" y="5313164"/>
            <a:ext cx="5181600" cy="732036"/>
          </a:xfrm>
          <a:prstGeom prst="roundRect">
            <a:avLst>
              <a:gd fmla="val 10409" name="adj"/>
            </a:avLst>
          </a:prstGeom>
          <a:solidFill>
            <a:srgbClr val="1B2733"/>
          </a:solidFill>
          <a:ln>
            <a:noFill/>
          </a:ln>
        </p:spPr>
        <p:txBody>
          <a:bodyPr anchorCtr="0" anchor="t" bIns="130075" lIns="180875" spcFirstLastPara="1" rIns="37625" wrap="square" tIns="130075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300"/>
              <a:buFont typeface="IBM Plex Sans"/>
              <a:buNone/>
            </a:pPr>
            <a:r>
              <a:rPr b="1" i="0" lang="ca" sz="1300" u="none" cap="none" strike="noStrike">
                <a:solidFill>
                  <a:srgbClr val="60A5FA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2026</a:t>
            </a:r>
            <a:r>
              <a:rPr b="0" i="0" lang="ca" sz="1300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 · WebTransport arriba a </a:t>
            </a:r>
            <a:r>
              <a:rPr i="0" lang="ca" sz="1300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tots</a:t>
            </a:r>
            <a:r>
              <a:rPr b="0" i="0" lang="ca" sz="1300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 els navegadors principals.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812800" y="812800"/>
            <a:ext cx="10883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B4530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PRIMERA OPCIÓ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4" name="Google Shape;84;p4"/>
          <p:cNvSpPr txBox="1"/>
          <p:nvPr>
            <p:ph type="title"/>
          </p:nvPr>
        </p:nvSpPr>
        <p:spPr>
          <a:xfrm>
            <a:off x="812800" y="1145480"/>
            <a:ext cx="108834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600"/>
              <a:buFont typeface="IBM Plex Sans"/>
              <a:buNone/>
            </a:pPr>
            <a:r>
              <a:rPr b="1" i="0" lang="ca" sz="3600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Server-Sent Events</a:t>
            </a:r>
            <a:endParaRPr sz="3600"/>
          </a:p>
        </p:txBody>
      </p:sp>
      <p:sp>
        <p:nvSpPr>
          <p:cNvPr id="85" name="Google Shape;85;p4"/>
          <p:cNvSpPr/>
          <p:nvPr/>
        </p:nvSpPr>
        <p:spPr>
          <a:xfrm>
            <a:off x="812800" y="1976041"/>
            <a:ext cx="55986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700"/>
              <a:buFont typeface="IBM Plex Sans"/>
              <a:buNone/>
            </a:pPr>
            <a:r>
              <a:rPr b="1" i="0" lang="ca" sz="17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Un sol canal</a:t>
            </a:r>
            <a:r>
              <a:rPr b="1" lang="ca" sz="1700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1" i="0" lang="ca" sz="17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de servidor a client.</a:t>
            </a:r>
            <a:endParaRPr b="0" i="0" sz="17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83925" y="2456048"/>
            <a:ext cx="5520000" cy="21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Char char="•"/>
            </a:pPr>
            <a:r>
              <a:rPr lang="ca" sz="15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Una resposta HTTP que no es tanca mai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Char char="•"/>
            </a:pPr>
            <a:r>
              <a:rPr b="0" i="0" lang="ca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servidor va escrivint esdeveniments al cos de la resposta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500"/>
              <a:buFont typeface="IBM Plex Sans"/>
              <a:buChar char="•"/>
            </a:pPr>
            <a:r>
              <a:rPr b="0" i="0" lang="ca" sz="1500" u="none" cap="none" strike="noStrike">
                <a:solidFill>
                  <a:srgbClr val="B45309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Content-Type: text/event-stream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Char char="•"/>
            </a:pPr>
            <a:r>
              <a:rPr b="0" i="0" lang="ca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Només text UTF-8, res de binari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Char char="•"/>
            </a:pPr>
            <a:r>
              <a:rPr lang="ca" sz="15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Si es talla, el navegador es reconnecta sol</a:t>
            </a:r>
            <a:endParaRPr sz="1500">
              <a:solidFill>
                <a:srgbClr val="4A556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Char char="•"/>
            </a:pPr>
            <a:r>
              <a:rPr lang="ca" sz="15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API de navegador dedicada</a:t>
            </a:r>
            <a:r>
              <a:rPr lang="ca" sz="1100"/>
              <a:t>: </a:t>
            </a:r>
            <a:r>
              <a:rPr lang="ca" sz="1500">
                <a:solidFill>
                  <a:srgbClr val="B45309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EventSource.</a:t>
            </a:r>
            <a:endParaRPr sz="1500">
              <a:solidFill>
                <a:srgbClr val="4A556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553200" y="1976050"/>
            <a:ext cx="4826100" cy="3356400"/>
          </a:xfrm>
          <a:prstGeom prst="roundRect">
            <a:avLst>
              <a:gd fmla="val 3349" name="adj"/>
            </a:avLst>
          </a:prstGeom>
          <a:solidFill>
            <a:srgbClr val="1B2733"/>
          </a:solidFill>
          <a:ln>
            <a:noFill/>
          </a:ln>
        </p:spPr>
        <p:txBody>
          <a:bodyPr anchorCtr="0" anchor="t" bIns="198825" lIns="224225" spcFirstLastPara="1" rIns="94700" wrap="square" tIns="224225">
            <a:norm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 es = new EventSource("/avisos");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BM Plex Sans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es.onmessage = e =&gt; {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console.log(e.data);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};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BM Plex Sans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es.addEventListener("vot", e =&gt; {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pinta(JSON.parse(e.data));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});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812800" y="812800"/>
            <a:ext cx="10883392" cy="55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600"/>
              <a:buFont typeface="IBM Plex Sans"/>
              <a:buNone/>
            </a:pPr>
            <a:r>
              <a:rPr b="1" i="0" lang="ca" sz="3600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format del </a:t>
            </a:r>
            <a:r>
              <a:rPr b="1" lang="ca" sz="3600"/>
              <a:t>flux</a:t>
            </a:r>
            <a:endParaRPr sz="3600"/>
          </a:p>
        </p:txBody>
      </p:sp>
      <p:sp>
        <p:nvSpPr>
          <p:cNvPr id="94" name="Google Shape;94;p5"/>
          <p:cNvSpPr/>
          <p:nvPr/>
        </p:nvSpPr>
        <p:spPr>
          <a:xfrm>
            <a:off x="812800" y="1643350"/>
            <a:ext cx="5715000" cy="4109700"/>
          </a:xfrm>
          <a:prstGeom prst="roundRect">
            <a:avLst>
              <a:gd fmla="val 2827" name="adj"/>
            </a:avLst>
          </a:prstGeom>
          <a:solidFill>
            <a:srgbClr val="1B2733"/>
          </a:solidFill>
          <a:ln>
            <a:noFill/>
          </a:ln>
        </p:spPr>
        <p:txBody>
          <a:bodyPr anchorCtr="0" anchor="t" bIns="198825" lIns="224225" spcFirstLastPara="1" rIns="68025" wrap="square" tIns="224225">
            <a:norm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9FB0C0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9FB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HTTP/1.1 200 OK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9FB0C0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9FB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Content-Type: text/event-stream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9FB0C0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9FB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Cache-Control: no-cache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BM Plex Sans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event:</a:t>
            </a: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vot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data:</a:t>
            </a: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{"id":27,"vots":42}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id:</a:t>
            </a: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1043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BM Plex Sans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data:</a:t>
            </a: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sense nom d'esdeveniment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BM Plex Sans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retry:</a:t>
            </a: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5000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838950" y="2164545"/>
            <a:ext cx="468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500"/>
              <a:buFont typeface="IBM Plex Sans"/>
              <a:buNone/>
            </a:pPr>
            <a:r>
              <a:rPr b="1" i="0" lang="ca" sz="15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Una línia en blanc</a:t>
            </a:r>
            <a:r>
              <a:rPr b="0" i="0" lang="ca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tanca cada esdeveniment.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96" name="Google Shape;96;p5"/>
          <p:cNvCxnSpPr/>
          <p:nvPr/>
        </p:nvCxnSpPr>
        <p:spPr>
          <a:xfrm>
            <a:off x="11382375" y="2541256"/>
            <a:ext cx="0" cy="2152200"/>
          </a:xfrm>
          <a:prstGeom prst="straightConnector1">
            <a:avLst/>
          </a:prstGeom>
          <a:noFill/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5"/>
          <p:cNvCxnSpPr/>
          <p:nvPr/>
        </p:nvCxnSpPr>
        <p:spPr>
          <a:xfrm>
            <a:off x="6838950" y="4690136"/>
            <a:ext cx="4546500" cy="0"/>
          </a:xfrm>
          <a:prstGeom prst="straightConnector1">
            <a:avLst/>
          </a:prstGeom>
          <a:noFill/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5"/>
          <p:cNvCxnSpPr/>
          <p:nvPr/>
        </p:nvCxnSpPr>
        <p:spPr>
          <a:xfrm>
            <a:off x="6838950" y="2547606"/>
            <a:ext cx="4546500" cy="0"/>
          </a:xfrm>
          <a:prstGeom prst="straightConnector1">
            <a:avLst/>
          </a:prstGeom>
          <a:noFill/>
          <a:ln cap="flat" cmpd="sng" w="12700">
            <a:solidFill>
              <a:srgbClr val="141413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5"/>
          <p:cNvCxnSpPr/>
          <p:nvPr/>
        </p:nvCxnSpPr>
        <p:spPr>
          <a:xfrm>
            <a:off x="6848475" y="2547606"/>
            <a:ext cx="0" cy="2152200"/>
          </a:xfrm>
          <a:prstGeom prst="straightConnector1">
            <a:avLst/>
          </a:prstGeom>
          <a:noFill/>
          <a:ln cap="flat" cmpd="sng" w="12700">
            <a:solidFill>
              <a:srgbClr val="141413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00" name="Google Shape;100;p5"/>
          <p:cNvGraphicFramePr/>
          <p:nvPr/>
        </p:nvGraphicFramePr>
        <p:xfrm>
          <a:off x="6978650" y="26555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{C67F23D1-3F80-4BEE-83EA-0B8E7BF24E51}</a:tableStyleId>
              </a:tblPr>
              <a:tblGrid>
                <a:gridCol w="1282075"/>
                <a:gridCol w="2991475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ca" sz="140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Camp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ca" sz="140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Per a què serveix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E9"/>
                    </a:solidFill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ca" sz="140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event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ca" sz="140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Nom, per escoltar-lo a part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ca" sz="140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data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ca" sz="140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El contingut del missatge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ca" sz="140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id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ca" sz="140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Marca per reprendre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ca" sz="140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retry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ca" sz="140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Espera abans de reconnectar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>
            <p:ph type="title"/>
          </p:nvPr>
        </p:nvSpPr>
        <p:spPr>
          <a:xfrm>
            <a:off x="812800" y="812800"/>
            <a:ext cx="108834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600"/>
              <a:buFont typeface="IBM Plex Sans"/>
              <a:buNone/>
            </a:pPr>
            <a:r>
              <a:rPr b="1" lang="ca" sz="3600"/>
              <a:t>Reconnexió automàtica</a:t>
            </a:r>
            <a:endParaRPr sz="3600"/>
          </a:p>
        </p:txBody>
      </p:sp>
      <p:sp>
        <p:nvSpPr>
          <p:cNvPr id="107" name="Google Shape;107;p6"/>
          <p:cNvSpPr/>
          <p:nvPr/>
        </p:nvSpPr>
        <p:spPr>
          <a:xfrm>
            <a:off x="815975" y="1646535"/>
            <a:ext cx="3380400" cy="1393200"/>
          </a:xfrm>
          <a:prstGeom prst="roundRect">
            <a:avLst>
              <a:gd fmla="val 7065" name="adj"/>
            </a:avLst>
          </a:prstGeom>
          <a:solidFill>
            <a:srgbClr val="ECEEE9"/>
          </a:solidFill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1073150" y="1903710"/>
            <a:ext cx="29520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600"/>
              <a:buFont typeface="IBM Plex Sans"/>
              <a:buNone/>
            </a:pPr>
            <a:r>
              <a:rPr b="1" i="0" lang="ca" sz="1600" u="none" cap="none" strike="noStrike">
                <a:solidFill>
                  <a:srgbClr val="B45309"/>
                </a:solidFill>
                <a:latin typeface="IBM Plex Sans"/>
                <a:ea typeface="IBM Plex Sans"/>
                <a:cs typeface="IBM Plex Sans"/>
                <a:sym typeface="IBM Plex Sans"/>
              </a:rPr>
              <a:t>1 · Cau la connexió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073150" y="2249091"/>
            <a:ext cx="29520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IBM Plex Sans"/>
              <a:buNone/>
            </a:pP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Wi-Fi, túnel, proxy que talla per inactivitat. Passa </a:t>
            </a:r>
            <a:r>
              <a:rPr lang="ca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sovint</a:t>
            </a: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405809" y="1646535"/>
            <a:ext cx="3380400" cy="1393200"/>
          </a:xfrm>
          <a:prstGeom prst="roundRect">
            <a:avLst>
              <a:gd fmla="val 7065" name="adj"/>
            </a:avLst>
          </a:prstGeom>
          <a:solidFill>
            <a:srgbClr val="ECEEE9"/>
          </a:solidFill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662984" y="1903710"/>
            <a:ext cx="29520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600"/>
              <a:buFont typeface="IBM Plex Sans"/>
              <a:buNone/>
            </a:pPr>
            <a:r>
              <a:rPr b="1" i="0" lang="ca" sz="1600" u="none" cap="none" strike="noStrike">
                <a:solidFill>
                  <a:srgbClr val="B45309"/>
                </a:solidFill>
                <a:latin typeface="IBM Plex Sans"/>
                <a:ea typeface="IBM Plex Sans"/>
                <a:cs typeface="IBM Plex Sans"/>
                <a:sym typeface="IBM Plex Sans"/>
              </a:rPr>
              <a:t>2 · El navegador torna sol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662984" y="2249091"/>
            <a:ext cx="29520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IBM Plex Sans"/>
              <a:buNone/>
            </a:pP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has d'escriure ni una línia. El temps d'espera el fixa retry.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7995741" y="1646535"/>
            <a:ext cx="3380400" cy="1393200"/>
          </a:xfrm>
          <a:prstGeom prst="roundRect">
            <a:avLst>
              <a:gd fmla="val 7065" name="adj"/>
            </a:avLst>
          </a:prstGeom>
          <a:solidFill>
            <a:srgbClr val="ECEEE9"/>
          </a:solidFill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8252916" y="1903710"/>
            <a:ext cx="29520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600"/>
              <a:buFont typeface="IBM Plex Sans"/>
              <a:buNone/>
            </a:pPr>
            <a:r>
              <a:rPr b="1" i="0" lang="ca" sz="1600" u="none" cap="none" strike="noStrike">
                <a:solidFill>
                  <a:srgbClr val="B45309"/>
                </a:solidFill>
                <a:latin typeface="IBM Plex Sans"/>
                <a:ea typeface="IBM Plex Sans"/>
                <a:cs typeface="IBM Plex Sans"/>
                <a:sym typeface="IBM Plex Sans"/>
              </a:rPr>
              <a:t>3 · Reprèn on era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8252916" y="2249091"/>
            <a:ext cx="29520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IBM Plex Sans"/>
              <a:buNone/>
            </a:pP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Envia la capçalera Last-Event-ID amb l'últim id que va rebre.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12800" y="3347641"/>
            <a:ext cx="10566300" cy="954900"/>
          </a:xfrm>
          <a:prstGeom prst="roundRect">
            <a:avLst>
              <a:gd fmla="val 10640" name="adj"/>
            </a:avLst>
          </a:prstGeom>
          <a:solidFill>
            <a:srgbClr val="1B2733"/>
          </a:solidFill>
          <a:ln>
            <a:noFill/>
          </a:ln>
        </p:spPr>
        <p:txBody>
          <a:bodyPr anchorCtr="0" anchor="t" bIns="173425" lIns="224225" spcFirstLastPara="1" rIns="0" wrap="square" tIns="198825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JetBrains Mono"/>
              <a:buNone/>
            </a:pPr>
            <a:r>
              <a:rPr b="0" i="0" lang="ca" sz="14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 /avisos HTTP/1.1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JetBrains Mono"/>
              <a:buNone/>
            </a:pPr>
            <a:r>
              <a:rPr b="0" i="0" lang="ca" sz="14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Last-Event-ID: 1043</a:t>
            </a:r>
            <a:r>
              <a:rPr b="0" i="0" lang="ca" sz="14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</a:t>
            </a:r>
            <a:r>
              <a:rPr b="0" i="0" lang="ca" sz="1400" u="none" cap="none" strike="noStrike">
                <a:solidFill>
                  <a:srgbClr val="9FB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el servidor sap per on continuar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12800" y="4607322"/>
            <a:ext cx="10566300" cy="853200"/>
          </a:xfrm>
          <a:prstGeom prst="roundRect">
            <a:avLst>
              <a:gd fmla="val 5953" name="adj"/>
            </a:avLst>
          </a:prstGeom>
          <a:solidFill>
            <a:srgbClr val="ECEEE9"/>
          </a:solidFill>
          <a:ln>
            <a:noFill/>
          </a:ln>
        </p:spPr>
        <p:txBody>
          <a:bodyPr anchorCtr="0" anchor="t" bIns="137500" lIns="277200" spcFirstLastPara="1" rIns="0" wrap="square" tIns="1629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400"/>
              <a:buFont typeface="IBM Plex Sans"/>
              <a:buNone/>
            </a:pPr>
            <a:r>
              <a:rPr b="1" i="0" lang="ca" sz="14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Un parany:</a:t>
            </a: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ca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amb HTTP/1.1, el navegador només obre 6 connexions per domini, entre totes les pestanyes, i cada SSE n’ocupa una de fixa. Amb HTTP/2, el multiplexatge ho resol.</a:t>
            </a:r>
            <a:endParaRPr>
              <a:solidFill>
                <a:srgbClr val="4A556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12800" y="4607322"/>
            <a:ext cx="10566400" cy="853281"/>
          </a:xfrm>
          <a:custGeom>
            <a:rect b="b" l="l" r="r" t="t"/>
            <a:pathLst>
              <a:path extrusionOk="0" h="853281" w="10566400">
                <a:moveTo>
                  <a:pt x="50800" y="853281"/>
                </a:moveTo>
                <a:lnTo>
                  <a:pt x="50800" y="853281"/>
                </a:lnTo>
                <a:cubicBezTo>
                  <a:pt x="22744" y="853281"/>
                  <a:pt x="0" y="830537"/>
                  <a:pt x="0" y="802481"/>
                </a:cubicBezTo>
                <a:lnTo>
                  <a:pt x="0" y="50800"/>
                </a:lnTo>
                <a:cubicBezTo>
                  <a:pt x="0" y="22744"/>
                  <a:pt x="22744" y="0"/>
                  <a:pt x="50800" y="0"/>
                </a:cubicBezTo>
                <a:lnTo>
                  <a:pt x="50800" y="0"/>
                </a:lnTo>
                <a:cubicBezTo>
                  <a:pt x="43786" y="0"/>
                  <a:pt x="38100" y="22744"/>
                  <a:pt x="38100" y="50800"/>
                </a:cubicBezTo>
                <a:lnTo>
                  <a:pt x="38100" y="802481"/>
                </a:lnTo>
                <a:cubicBezTo>
                  <a:pt x="38100" y="815954"/>
                  <a:pt x="39438" y="828875"/>
                  <a:pt x="41820" y="838402"/>
                </a:cubicBezTo>
                <a:cubicBezTo>
                  <a:pt x="44201" y="847929"/>
                  <a:pt x="47432" y="853281"/>
                  <a:pt x="50800" y="853281"/>
                </a:cubicBezTo>
                <a:close/>
              </a:path>
            </a:pathLst>
          </a:cu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SEGONA OPCIÓ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5" name="Google Shape;125;p7"/>
          <p:cNvSpPr txBox="1"/>
          <p:nvPr>
            <p:ph type="title"/>
          </p:nvPr>
        </p:nvSpPr>
        <p:spPr>
          <a:xfrm>
            <a:off x="812800" y="1145480"/>
            <a:ext cx="10883392" cy="55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600"/>
              <a:buFont typeface="IBM Plex Sans"/>
              <a:buNone/>
            </a:pPr>
            <a:r>
              <a:rPr b="1" i="0" lang="ca" sz="3600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WebSockets</a:t>
            </a:r>
            <a:endParaRPr sz="3600"/>
          </a:p>
        </p:txBody>
      </p:sp>
      <p:sp>
        <p:nvSpPr>
          <p:cNvPr id="126" name="Google Shape;126;p7"/>
          <p:cNvSpPr/>
          <p:nvPr/>
        </p:nvSpPr>
        <p:spPr>
          <a:xfrm>
            <a:off x="812800" y="1925241"/>
            <a:ext cx="5310886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None/>
            </a:pPr>
            <a:r>
              <a:rPr b="1" i="0" lang="ca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client demana canviar de protocol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812800" y="2255441"/>
            <a:ext cx="5156100" cy="2076600"/>
          </a:xfrm>
          <a:prstGeom prst="roundRect">
            <a:avLst>
              <a:gd fmla="val 4893" name="adj"/>
            </a:avLst>
          </a:prstGeom>
          <a:solidFill>
            <a:srgbClr val="1B2733"/>
          </a:solidFill>
          <a:ln>
            <a:noFill/>
          </a:ln>
        </p:spPr>
        <p:txBody>
          <a:bodyPr anchorCtr="0" anchor="t" bIns="173425" lIns="198825" spcFirstLastPara="1" rIns="57850" wrap="square" tIns="198825">
            <a:norm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JetBrains Mono"/>
              <a:buNone/>
            </a:pPr>
            <a:r>
              <a:rPr b="0" i="0" lang="ca" sz="125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 /xat HTTP/1.1</a:t>
            </a:r>
            <a:endParaRPr b="0" i="0" sz="12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JetBrains Mono"/>
              <a:buNone/>
            </a:pPr>
            <a:r>
              <a:rPr b="0" i="0" lang="ca" sz="125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Host: example.com</a:t>
            </a:r>
            <a:endParaRPr b="0" i="0" sz="12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50"/>
              <a:buFont typeface="JetBrains Mono"/>
              <a:buNone/>
            </a:pPr>
            <a:r>
              <a:rPr b="0" i="0" lang="ca" sz="125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Upgrade: websocket</a:t>
            </a:r>
            <a:endParaRPr b="0" i="0" sz="12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50"/>
              <a:buFont typeface="JetBrains Mono"/>
              <a:buNone/>
            </a:pPr>
            <a:r>
              <a:rPr b="0" i="0" lang="ca" sz="125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Connection: Upgrade</a:t>
            </a:r>
            <a:endParaRPr b="0" i="0" sz="12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JetBrains Mono"/>
              <a:buNone/>
            </a:pPr>
            <a:r>
              <a:rPr lang="ca" sz="125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Sec-WebSocket-Key: dGhlIHNhbXBsZSBub25jZQ==</a:t>
            </a:r>
            <a:endParaRPr sz="1250">
              <a:solidFill>
                <a:srgbClr val="E6EDF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JetBrains Mono"/>
              <a:buNone/>
            </a:pPr>
            <a:r>
              <a:rPr b="0" i="0" lang="ca" sz="125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Sec-WebSocket-Version: 13</a:t>
            </a:r>
            <a:endParaRPr b="0" i="0" sz="12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223000" y="1925241"/>
            <a:ext cx="5310886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None/>
            </a:pPr>
            <a:r>
              <a:rPr b="1" i="0" lang="ca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servidor accepta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223000" y="2255441"/>
            <a:ext cx="5156200" cy="2076450"/>
          </a:xfrm>
          <a:prstGeom prst="roundRect">
            <a:avLst>
              <a:gd fmla="val 4893" name="adj"/>
            </a:avLst>
          </a:prstGeom>
          <a:solidFill>
            <a:srgbClr val="1B2733"/>
          </a:solidFill>
          <a:ln>
            <a:noFill/>
          </a:ln>
        </p:spPr>
        <p:txBody>
          <a:bodyPr anchorCtr="0" anchor="t" bIns="173425" lIns="198825" spcFirstLastPara="1" rIns="57850" wrap="square" tIns="198825">
            <a:norm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50"/>
              <a:buFont typeface="JetBrains Mono"/>
              <a:buNone/>
            </a:pPr>
            <a:r>
              <a:rPr b="0" i="0" lang="ca" sz="125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HTTP/1.1 101 Switching Protocols</a:t>
            </a:r>
            <a:endParaRPr b="0" i="0" sz="12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JetBrains Mono"/>
              <a:buNone/>
            </a:pPr>
            <a:r>
              <a:rPr b="0" i="0" lang="ca" sz="125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Upgrade: websocket</a:t>
            </a:r>
            <a:endParaRPr b="0" i="0" sz="12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JetBrains Mono"/>
              <a:buNone/>
            </a:pPr>
            <a:r>
              <a:rPr b="0" i="0" lang="ca" sz="125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Connection: Upgrade</a:t>
            </a:r>
            <a:endParaRPr b="0" i="0" sz="12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JetBrains Mono"/>
              <a:buNone/>
            </a:pPr>
            <a:r>
              <a:rPr b="0" i="0" lang="ca" sz="125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Sec-WebSocket-Accept: s3pPLMBi...</a:t>
            </a:r>
            <a:endParaRPr b="0" i="0" sz="12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IBM Plex Sans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9FB0C0"/>
              </a:buClr>
              <a:buSzPts val="1250"/>
              <a:buFont typeface="JetBrains Mono"/>
              <a:buNone/>
            </a:pPr>
            <a:r>
              <a:rPr b="0" i="0" lang="ca" sz="1250" u="none" cap="none" strike="noStrike">
                <a:solidFill>
                  <a:srgbClr val="9FB0C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d'aquí endavant, ja no hi ha HTTP</a:t>
            </a:r>
            <a:endParaRPr b="0" i="0" sz="12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12800" y="4585891"/>
            <a:ext cx="10566400" cy="889000"/>
          </a:xfrm>
          <a:prstGeom prst="roundRect">
            <a:avLst>
              <a:gd fmla="val 5714" name="adj"/>
            </a:avLst>
          </a:prstGeom>
          <a:solidFill>
            <a:srgbClr val="ECEEE9"/>
          </a:solidFill>
          <a:ln>
            <a:noFill/>
          </a:ln>
        </p:spPr>
        <p:txBody>
          <a:bodyPr anchorCtr="0" anchor="t" bIns="137500" lIns="277200" spcFirstLastPara="1" rIns="0" wrap="square" tIns="1629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None/>
            </a:pPr>
            <a:r>
              <a:rPr b="0" i="0" lang="ca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codi </a:t>
            </a:r>
            <a:r>
              <a:rPr b="1" i="0" lang="ca" sz="15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101</a:t>
            </a:r>
            <a:r>
              <a:rPr b="0" i="0" lang="ca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és la frontera: la connexió TCP ja estava oberta i es queda oberta, però a partir d'aquí hi viatja un altre protocol.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812800" y="4585891"/>
            <a:ext cx="10566400" cy="889000"/>
          </a:xfrm>
          <a:custGeom>
            <a:rect b="b" l="l" r="r" t="t"/>
            <a:pathLst>
              <a:path extrusionOk="0" h="889000" w="10566400">
                <a:moveTo>
                  <a:pt x="50800" y="889000"/>
                </a:moveTo>
                <a:lnTo>
                  <a:pt x="50800" y="889000"/>
                </a:lnTo>
                <a:cubicBezTo>
                  <a:pt x="22744" y="889000"/>
                  <a:pt x="0" y="866256"/>
                  <a:pt x="0" y="838200"/>
                </a:cubicBezTo>
                <a:lnTo>
                  <a:pt x="0" y="50800"/>
                </a:lnTo>
                <a:cubicBezTo>
                  <a:pt x="0" y="22744"/>
                  <a:pt x="22744" y="0"/>
                  <a:pt x="50800" y="0"/>
                </a:cubicBezTo>
                <a:lnTo>
                  <a:pt x="50800" y="0"/>
                </a:lnTo>
                <a:cubicBezTo>
                  <a:pt x="43786" y="0"/>
                  <a:pt x="38100" y="22744"/>
                  <a:pt x="38100" y="50800"/>
                </a:cubicBezTo>
                <a:lnTo>
                  <a:pt x="38100" y="838200"/>
                </a:lnTo>
                <a:cubicBezTo>
                  <a:pt x="38100" y="851673"/>
                  <a:pt x="39438" y="864594"/>
                  <a:pt x="41820" y="874121"/>
                </a:cubicBezTo>
                <a:cubicBezTo>
                  <a:pt x="44201" y="883648"/>
                  <a:pt x="47432" y="889000"/>
                  <a:pt x="50800" y="88900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12800" y="812800"/>
            <a:ext cx="10883392" cy="55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600"/>
              <a:buFont typeface="IBM Plex Sans"/>
              <a:buNone/>
            </a:pPr>
            <a:r>
              <a:rPr b="1" i="0" lang="ca" sz="3600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Després del 101 ja no és HTTP</a:t>
            </a:r>
            <a:endParaRPr sz="3600"/>
          </a:p>
        </p:txBody>
      </p:sp>
      <p:sp>
        <p:nvSpPr>
          <p:cNvPr id="138" name="Google Shape;138;p8"/>
          <p:cNvSpPr/>
          <p:nvPr/>
        </p:nvSpPr>
        <p:spPr>
          <a:xfrm>
            <a:off x="883925" y="1643351"/>
            <a:ext cx="5106000" cy="24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Char char="•"/>
            </a:pPr>
            <a:r>
              <a:rPr b="0" i="0" lang="ca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mateixa connexió TCP transporta ara </a:t>
            </a:r>
            <a:r>
              <a:rPr b="1" i="0" lang="ca" sz="15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frames</a:t>
            </a:r>
            <a:r>
              <a:rPr b="0" i="0" lang="ca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binaris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Char char="•"/>
            </a:pPr>
            <a:r>
              <a:rPr b="1" i="0" lang="ca" sz="15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Full duplex:</a:t>
            </a:r>
            <a:r>
              <a:rPr b="0" i="0" lang="ca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els dos extrems envien quan volen, alhora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Char char="•"/>
            </a:pPr>
            <a:r>
              <a:rPr b="0" i="0" lang="ca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 </a:t>
            </a:r>
            <a:r>
              <a:rPr b="1" i="0" lang="ca" sz="15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b="0" i="0" lang="ca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binari: imatges, àudio, protocols propis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Char char="•"/>
            </a:pPr>
            <a:r>
              <a:rPr lang="ca" sz="15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Cap capçalera per missatge:</a:t>
            </a:r>
            <a:r>
              <a:rPr b="0" i="0" lang="ca" sz="1500" u="none" cap="none" strike="noStrike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 el format te’l dissenyes tu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Char char="•"/>
            </a:pPr>
            <a:r>
              <a:rPr b="0" i="0" lang="ca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Frames de ping i pong per mantenir viva la connexió</a:t>
            </a:r>
            <a:endParaRPr b="0" i="0" sz="1500" u="none" cap="none" strike="noStrike">
              <a:solidFill>
                <a:srgbClr val="4A556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Char char="•"/>
            </a:pPr>
            <a:r>
              <a:rPr lang="ca" sz="1500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Si es talla, la reconnexió l’has de programar tu</a:t>
            </a:r>
            <a:endParaRPr sz="1500">
              <a:solidFill>
                <a:srgbClr val="4A5568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2880" lvl="0" marL="1828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IBM Plex Sans"/>
              <a:buChar char="•"/>
            </a:pPr>
            <a:r>
              <a:rPr b="0" i="0" lang="ca" sz="1500" u="none" cap="none" strike="noStrike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ws://</a:t>
            </a:r>
            <a:r>
              <a:rPr b="0" i="0" lang="ca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i </a:t>
            </a:r>
            <a:r>
              <a:rPr b="0" i="0" lang="ca" sz="1500" u="none" cap="none" strike="noStrike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wss://</a:t>
            </a:r>
            <a:r>
              <a:rPr b="0" i="0" lang="ca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, que és el mateix sobre TLS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680200" y="1643350"/>
            <a:ext cx="4698900" cy="4660500"/>
          </a:xfrm>
          <a:prstGeom prst="roundRect">
            <a:avLst>
              <a:gd fmla="val 2445" name="adj"/>
            </a:avLst>
          </a:prstGeom>
          <a:solidFill>
            <a:srgbClr val="1B2733"/>
          </a:solidFill>
          <a:ln>
            <a:noFill/>
          </a:ln>
        </p:spPr>
        <p:txBody>
          <a:bodyPr anchorCtr="0" anchor="t" bIns="198825" lIns="224225" spcFirstLastPara="1" rIns="98500" wrap="square" tIns="224225">
            <a:norm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 ws = new WebSocket(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"wss://example.com/xat"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BM Plex Sans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ws.onopen = () =&gt; {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ws.send(JSON.stringify(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{tipus: "hola"}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));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};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BM Plex Sans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ws.onmessage = e =&gt; {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pinta(JSON.parse(e.data));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JetBrains Mono"/>
              <a:buNone/>
            </a:pPr>
            <a:r>
              <a:rPr b="0" i="0" lang="ca" sz="1300" u="none" cap="none" strike="noStrike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};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812800" y="812800"/>
            <a:ext cx="108834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600"/>
              <a:buFont typeface="IBM Plex Sans"/>
              <a:buNone/>
            </a:pPr>
            <a:r>
              <a:rPr b="1" lang="ca" sz="3600"/>
              <a:t>Comparació</a:t>
            </a:r>
            <a:endParaRPr sz="3600"/>
          </a:p>
        </p:txBody>
      </p:sp>
      <p:cxnSp>
        <p:nvCxnSpPr>
          <p:cNvPr id="146" name="Google Shape;146;p9"/>
          <p:cNvCxnSpPr/>
          <p:nvPr/>
        </p:nvCxnSpPr>
        <p:spPr>
          <a:xfrm>
            <a:off x="11376025" y="1643360"/>
            <a:ext cx="0" cy="3441600"/>
          </a:xfrm>
          <a:prstGeom prst="straightConnector1">
            <a:avLst/>
          </a:prstGeom>
          <a:noFill/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9"/>
          <p:cNvCxnSpPr/>
          <p:nvPr/>
        </p:nvCxnSpPr>
        <p:spPr>
          <a:xfrm>
            <a:off x="812800" y="5081885"/>
            <a:ext cx="10566300" cy="0"/>
          </a:xfrm>
          <a:prstGeom prst="straightConnector1">
            <a:avLst/>
          </a:prstGeom>
          <a:noFill/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9"/>
          <p:cNvCxnSpPr/>
          <p:nvPr/>
        </p:nvCxnSpPr>
        <p:spPr>
          <a:xfrm>
            <a:off x="812800" y="1649710"/>
            <a:ext cx="10566300" cy="0"/>
          </a:xfrm>
          <a:prstGeom prst="straightConnector1">
            <a:avLst/>
          </a:prstGeom>
          <a:noFill/>
          <a:ln cap="flat" cmpd="sng" w="12700">
            <a:solidFill>
              <a:srgbClr val="141413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9"/>
          <p:cNvCxnSpPr/>
          <p:nvPr/>
        </p:nvCxnSpPr>
        <p:spPr>
          <a:xfrm>
            <a:off x="819150" y="1643360"/>
            <a:ext cx="0" cy="3441600"/>
          </a:xfrm>
          <a:prstGeom prst="straightConnector1">
            <a:avLst/>
          </a:prstGeom>
          <a:noFill/>
          <a:ln cap="flat" cmpd="sng" w="12700">
            <a:solidFill>
              <a:srgbClr val="141413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50" name="Google Shape;150;p9"/>
          <p:cNvGraphicFramePr/>
          <p:nvPr/>
        </p:nvGraphicFramePr>
        <p:xfrm>
          <a:off x="977900" y="1770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{C67F23D1-3F80-4BEE-83EA-0B8E7BF24E51}</a:tableStyleId>
              </a:tblPr>
              <a:tblGrid>
                <a:gridCol w="2458200"/>
                <a:gridCol w="3892175"/>
                <a:gridCol w="3892175"/>
              </a:tblGrid>
              <a:tr h="39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50"/>
                        <a:buFont typeface="IBM Plex Sans"/>
                        <a:buNone/>
                      </a:pPr>
                      <a:r>
                        <a:t/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5309"/>
                        </a:buClr>
                        <a:buSzPts val="1450"/>
                        <a:buFont typeface="IBM Plex Sans"/>
                        <a:buNone/>
                      </a:pPr>
                      <a:r>
                        <a:rPr b="1" lang="ca" sz="1450" u="none" cap="none" strike="noStrike">
                          <a:solidFill>
                            <a:srgbClr val="B4530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Server-Sent Events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450"/>
                        <a:buFont typeface="IBM Plex Sans"/>
                        <a:buNone/>
                      </a:pPr>
                      <a:r>
                        <a:rPr b="1" lang="ca" sz="1450" u="none" cap="none" strike="noStrike">
                          <a:solidFill>
                            <a:srgbClr val="2563E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WebSockets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E9"/>
                    </a:solidFill>
                  </a:tcPr>
                </a:tc>
              </a:tr>
              <a:tr h="39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Sentit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Unidireccional, s</a:t>
                      </a: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ervidor cap a client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Bidireccional, i alhora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Protocol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HTTP, sense res més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Propi, després del handshake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Dades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Només text UTF-8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Text i binari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Reconnexió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Automàtica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</a:t>
                      </a: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'has </a:t>
                      </a:r>
                      <a:r>
                        <a:rPr lang="ca" sz="1450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 programar </a:t>
                      </a: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tu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API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EventSource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WebSocket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Proxies i firewalls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Hi passa: és HTTP normal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 vegades el bloquegen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Complexitat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Baixa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50"/>
                        <a:buFont typeface="IBM Plex Sans"/>
                        <a:buNone/>
                      </a:pPr>
                      <a:r>
                        <a:rPr lang="ca" sz="1450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Alta</a:t>
                      </a:r>
                      <a:endParaRPr sz="14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4450" marB="64450" marR="64450" marL="64450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>
            <p:ph type="title"/>
          </p:nvPr>
        </p:nvSpPr>
        <p:spPr>
          <a:xfrm>
            <a:off x="812800" y="812800"/>
            <a:ext cx="10883392" cy="507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300"/>
              <a:buFont typeface="IBM Plex Sans"/>
              <a:buNone/>
            </a:pPr>
            <a:r>
              <a:rPr b="1" i="0" lang="ca" sz="3300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Punts forts</a:t>
            </a:r>
            <a:endParaRPr sz="3300"/>
          </a:p>
        </p:txBody>
      </p:sp>
      <p:sp>
        <p:nvSpPr>
          <p:cNvPr id="157" name="Google Shape;157;p10"/>
          <p:cNvSpPr/>
          <p:nvPr/>
        </p:nvSpPr>
        <p:spPr>
          <a:xfrm>
            <a:off x="812800" y="1773243"/>
            <a:ext cx="5156100" cy="2888100"/>
          </a:xfrm>
          <a:prstGeom prst="roundRect">
            <a:avLst>
              <a:gd fmla="val 3895" name="adj"/>
            </a:avLst>
          </a:prstGeom>
          <a:solidFill>
            <a:srgbClr val="ECEE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812800" y="1773248"/>
            <a:ext cx="5156200" cy="2608560"/>
          </a:xfrm>
          <a:custGeom>
            <a:rect b="b" l="l" r="r" t="t"/>
            <a:pathLst>
              <a:path extrusionOk="0" h="2608560" w="5156200">
                <a:moveTo>
                  <a:pt x="0" y="101600"/>
                </a:move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5054600" y="0"/>
                </a:lnTo>
                <a:cubicBezTo>
                  <a:pt x="5081546" y="0"/>
                  <a:pt x="5107388" y="10704"/>
                  <a:pt x="5126442" y="29758"/>
                </a:cubicBezTo>
                <a:cubicBezTo>
                  <a:pt x="5145496" y="48812"/>
                  <a:pt x="5156200" y="74654"/>
                  <a:pt x="5156200" y="101600"/>
                </a:cubicBezTo>
                <a:lnTo>
                  <a:pt x="5156200" y="101600"/>
                </a:lnTo>
                <a:cubicBezTo>
                  <a:pt x="5156200" y="73544"/>
                  <a:pt x="5110712" y="50800"/>
                  <a:pt x="5054600" y="50800"/>
                </a:cubicBezTo>
                <a:lnTo>
                  <a:pt x="101600" y="50800"/>
                </a:lnTo>
                <a:cubicBezTo>
                  <a:pt x="45488" y="50800"/>
                  <a:pt x="0" y="73544"/>
                  <a:pt x="0" y="10160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1092200" y="2103448"/>
            <a:ext cx="47352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700"/>
              <a:buFont typeface="IBM Plex Sans"/>
              <a:buNone/>
            </a:pPr>
            <a:r>
              <a:rPr b="1" i="0" lang="ca" sz="1700" u="none" cap="none" strike="noStrike">
                <a:solidFill>
                  <a:srgbClr val="B45309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Server-Sent Events</a:t>
            </a:r>
            <a:endParaRPr b="0" i="0" sz="17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1170432" y="2502209"/>
            <a:ext cx="46494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400"/>
              <a:buFont typeface="IBM Plex Sans"/>
              <a:buChar char="•"/>
            </a:pPr>
            <a:r>
              <a:rPr b="1" i="0" lang="ca" sz="14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Simplicitat radical:</a:t>
            </a: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quatre camps i una línia en blanc. </a:t>
            </a:r>
            <a:r>
              <a:rPr lang="ca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Cap llibreria, ni al client ni al servidor.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400"/>
              <a:buFont typeface="IBM Plex Sans"/>
              <a:buChar char="•"/>
            </a:pPr>
            <a:r>
              <a:rPr b="1" i="0" lang="ca" sz="14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Reconnexió i represa de sèrie</a:t>
            </a: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, amb Last-Event-ID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400"/>
              <a:buFont typeface="IBM Plex Sans"/>
              <a:buChar char="•"/>
            </a:pPr>
            <a:r>
              <a:rPr b="1" i="0" lang="ca" sz="14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És HTTP:</a:t>
            </a: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ca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aprofita</a:t>
            </a: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CORS, compressió, HTTP/2 i tota la infraestructura que ja tens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IBM Plex Sans"/>
              <a:buChar char="•"/>
            </a:pP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Travessa qualsevol proxy i firewall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6223000" y="1773243"/>
            <a:ext cx="5156100" cy="2888100"/>
          </a:xfrm>
          <a:prstGeom prst="roundRect">
            <a:avLst>
              <a:gd fmla="val 3895" name="adj"/>
            </a:avLst>
          </a:prstGeom>
          <a:solidFill>
            <a:srgbClr val="ECEE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6223000" y="1773248"/>
            <a:ext cx="5156200" cy="2608560"/>
          </a:xfrm>
          <a:custGeom>
            <a:rect b="b" l="l" r="r" t="t"/>
            <a:pathLst>
              <a:path extrusionOk="0" h="2608560" w="5156200">
                <a:moveTo>
                  <a:pt x="0" y="101600"/>
                </a:move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5054600" y="0"/>
                </a:lnTo>
                <a:cubicBezTo>
                  <a:pt x="5081546" y="0"/>
                  <a:pt x="5107388" y="10704"/>
                  <a:pt x="5126442" y="29758"/>
                </a:cubicBezTo>
                <a:cubicBezTo>
                  <a:pt x="5145496" y="48812"/>
                  <a:pt x="5156200" y="74654"/>
                  <a:pt x="5156200" y="101600"/>
                </a:cubicBezTo>
                <a:lnTo>
                  <a:pt x="5156200" y="101600"/>
                </a:lnTo>
                <a:cubicBezTo>
                  <a:pt x="5156200" y="73544"/>
                  <a:pt x="5110712" y="50800"/>
                  <a:pt x="5054600" y="50800"/>
                </a:cubicBezTo>
                <a:lnTo>
                  <a:pt x="101600" y="50800"/>
                </a:lnTo>
                <a:cubicBezTo>
                  <a:pt x="45488" y="50800"/>
                  <a:pt x="0" y="73544"/>
                  <a:pt x="0" y="10160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6502400" y="2103448"/>
            <a:ext cx="47352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IBM Plex Sans"/>
              <a:buNone/>
            </a:pPr>
            <a:r>
              <a:rPr b="1" i="0" lang="ca" sz="1700" u="none" cap="none" strike="noStrike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WebSockets</a:t>
            </a:r>
            <a:endParaRPr b="0" i="0" sz="17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6580632" y="2502209"/>
            <a:ext cx="46494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400"/>
              <a:buFont typeface="IBM Plex Sans"/>
              <a:buChar char="•"/>
            </a:pPr>
            <a:r>
              <a:rPr b="1" i="0" lang="ca" sz="14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Bidireccional i simultani</a:t>
            </a: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, amb la latència més baixa que pots tenir al navegador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400"/>
              <a:buFont typeface="IBM Plex Sans"/>
              <a:buChar char="•"/>
            </a:pPr>
            <a:r>
              <a:rPr b="1" i="0" lang="ca" sz="14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 i binari</a:t>
            </a: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sense haver de codificar res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IBM Plex Sans"/>
              <a:buChar char="•"/>
            </a:pPr>
            <a:r>
              <a:rPr lang="ca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hi ha</a:t>
            </a: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sobrecàrrega de capçaleres HTTP a cada missatge: els frames són mínims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IBM Plex Sans"/>
              <a:buChar char="•"/>
            </a:pP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Pots negociar </a:t>
            </a:r>
            <a:r>
              <a:rPr b="1" i="0" lang="ca" sz="14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subprotocols</a:t>
            </a: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propis al handshake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>
            <p:ph type="title"/>
          </p:nvPr>
        </p:nvSpPr>
        <p:spPr>
          <a:xfrm>
            <a:off x="812800" y="812800"/>
            <a:ext cx="10883392" cy="459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983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2970"/>
              <a:buFont typeface="IBM Plex Sans"/>
              <a:buNone/>
            </a:pPr>
            <a:r>
              <a:rPr b="1" i="0" lang="ca" sz="2970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Punts febles i crítiques</a:t>
            </a:r>
            <a:endParaRPr sz="2970"/>
          </a:p>
        </p:txBody>
      </p:sp>
      <p:sp>
        <p:nvSpPr>
          <p:cNvPr id="171" name="Google Shape;171;p11"/>
          <p:cNvSpPr/>
          <p:nvPr/>
        </p:nvSpPr>
        <p:spPr>
          <a:xfrm>
            <a:off x="812800" y="1475475"/>
            <a:ext cx="5156100" cy="2472000"/>
          </a:xfrm>
          <a:prstGeom prst="roundRect">
            <a:avLst>
              <a:gd fmla="val 4224" name="adj"/>
            </a:avLst>
          </a:prstGeom>
          <a:solidFill>
            <a:srgbClr val="ECEE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812800" y="1475482"/>
            <a:ext cx="5156200" cy="2405063"/>
          </a:xfrm>
          <a:custGeom>
            <a:rect b="b" l="l" r="r" t="t"/>
            <a:pathLst>
              <a:path extrusionOk="0" h="2405063" w="5156200">
                <a:moveTo>
                  <a:pt x="0" y="101600"/>
                </a:move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5054600" y="0"/>
                </a:lnTo>
                <a:cubicBezTo>
                  <a:pt x="5081546" y="0"/>
                  <a:pt x="5107388" y="10704"/>
                  <a:pt x="5126442" y="29758"/>
                </a:cubicBezTo>
                <a:cubicBezTo>
                  <a:pt x="5145496" y="48812"/>
                  <a:pt x="5156200" y="74654"/>
                  <a:pt x="5156200" y="101600"/>
                </a:cubicBezTo>
                <a:lnTo>
                  <a:pt x="5156200" y="101600"/>
                </a:lnTo>
                <a:cubicBezTo>
                  <a:pt x="5156200" y="73544"/>
                  <a:pt x="5110712" y="50800"/>
                  <a:pt x="5054600" y="50800"/>
                </a:cubicBezTo>
                <a:lnTo>
                  <a:pt x="101600" y="50800"/>
                </a:lnTo>
                <a:cubicBezTo>
                  <a:pt x="45488" y="50800"/>
                  <a:pt x="0" y="73544"/>
                  <a:pt x="0" y="10160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1066800" y="1780282"/>
            <a:ext cx="4787646" cy="236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95"/>
              <a:buFont typeface="IBM Plex Sans"/>
              <a:buNone/>
            </a:pPr>
            <a:r>
              <a:rPr b="1" i="0" lang="ca" sz="1600" u="none" cap="none" strike="noStrike">
                <a:solidFill>
                  <a:srgbClr val="B45309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Server-Sent Events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1152117" y="2118519"/>
            <a:ext cx="4694709" cy="1533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8683" lvl="0" marL="168683" marR="0" rtl="0" algn="l">
              <a:lnSpc>
                <a:spcPct val="144938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4"/>
              <a:buFont typeface="IBM Plex Sans"/>
              <a:buChar char="•"/>
            </a:pPr>
            <a:r>
              <a:rPr b="0" i="0" lang="ca" sz="1304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Només text UTF-8: el binari s'ha de codificar i creix un 33%</a:t>
            </a:r>
            <a:endParaRPr b="0" i="0" sz="130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8683" lvl="0" marL="168683" marR="0" rtl="0" algn="l">
              <a:lnSpc>
                <a:spcPct val="144938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4"/>
              <a:buFont typeface="IBM Plex Sans"/>
              <a:buChar char="•"/>
            </a:pPr>
            <a:r>
              <a:rPr b="0" i="0" lang="ca" sz="1304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Un sol sentit: </a:t>
            </a:r>
            <a:endParaRPr b="0" i="0" sz="130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8683" lvl="0" marL="168683" marR="0" rtl="0" algn="l">
              <a:lnSpc>
                <a:spcPct val="144938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4"/>
              <a:buFont typeface="IBM Plex Sans"/>
              <a:buChar char="•"/>
            </a:pPr>
            <a:r>
              <a:rPr b="0" i="0" lang="ca" sz="1304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Amb HTTP/1.1, </a:t>
            </a:r>
            <a:r>
              <a:rPr b="1" i="0" lang="ca" sz="1304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màxim 6 connexions per host</a:t>
            </a:r>
            <a:r>
              <a:rPr b="0" i="0" lang="ca" sz="1304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: la setena pestanya es </a:t>
            </a:r>
            <a:r>
              <a:rPr lang="ca" sz="1304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queda esperant </a:t>
            </a:r>
            <a:endParaRPr b="0" i="0" sz="130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8683" lvl="0" marL="168683" marR="0" rtl="0" algn="l">
              <a:lnSpc>
                <a:spcPct val="144938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4"/>
              <a:buFont typeface="IBM Plex Sans"/>
              <a:buChar char="•"/>
            </a:pPr>
            <a:r>
              <a:rPr b="0" i="0" lang="ca" sz="1304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EventSource no admet capçaleres pròpies: autenticació per cookie</a:t>
            </a:r>
            <a:endParaRPr b="0" i="0" sz="130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6223000" y="1475475"/>
            <a:ext cx="5156100" cy="2472000"/>
          </a:xfrm>
          <a:prstGeom prst="roundRect">
            <a:avLst>
              <a:gd fmla="val 4224" name="adj"/>
            </a:avLst>
          </a:prstGeom>
          <a:solidFill>
            <a:srgbClr val="ECEE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6223000" y="1475482"/>
            <a:ext cx="5156200" cy="2405063"/>
          </a:xfrm>
          <a:custGeom>
            <a:rect b="b" l="l" r="r" t="t"/>
            <a:pathLst>
              <a:path extrusionOk="0" h="2405063" w="5156200">
                <a:moveTo>
                  <a:pt x="0" y="101600"/>
                </a:move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5054600" y="0"/>
                </a:lnTo>
                <a:cubicBezTo>
                  <a:pt x="5081546" y="0"/>
                  <a:pt x="5107388" y="10704"/>
                  <a:pt x="5126442" y="29758"/>
                </a:cubicBezTo>
                <a:cubicBezTo>
                  <a:pt x="5145496" y="48812"/>
                  <a:pt x="5156200" y="74654"/>
                  <a:pt x="5156200" y="101600"/>
                </a:cubicBezTo>
                <a:lnTo>
                  <a:pt x="5156200" y="101600"/>
                </a:lnTo>
                <a:cubicBezTo>
                  <a:pt x="5156200" y="73544"/>
                  <a:pt x="5110712" y="50800"/>
                  <a:pt x="5054600" y="50800"/>
                </a:cubicBezTo>
                <a:lnTo>
                  <a:pt x="101600" y="50800"/>
                </a:lnTo>
                <a:cubicBezTo>
                  <a:pt x="45488" y="50800"/>
                  <a:pt x="0" y="73544"/>
                  <a:pt x="0" y="10160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6477000" y="1780282"/>
            <a:ext cx="4787646" cy="266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IBM Plex Sans"/>
              <a:buNone/>
            </a:pPr>
            <a:r>
              <a:rPr b="1" i="0" lang="ca" sz="1600" u="none" cap="none" strike="noStrike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WebSockets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562027" y="2148880"/>
            <a:ext cx="4694999" cy="150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8973" lvl="0" marL="168973" marR="0" rtl="0" algn="l">
              <a:lnSpc>
                <a:spcPct val="144932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42"/>
              <a:buFont typeface="IBM Plex Sans"/>
              <a:buChar char="•"/>
            </a:pPr>
            <a:r>
              <a:rPr b="0" i="0" lang="ca" sz="1342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Reconnexió i </a:t>
            </a:r>
            <a:r>
              <a:rPr b="0" i="1" lang="ca" sz="1342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backoff</a:t>
            </a:r>
            <a:r>
              <a:rPr b="0" i="0" lang="ca" sz="1342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: </a:t>
            </a:r>
            <a:r>
              <a:rPr lang="ca" sz="1342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els </a:t>
            </a:r>
            <a:r>
              <a:rPr b="0" i="0" lang="ca" sz="1342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escrius tu, és font d'errors </a:t>
            </a:r>
            <a:r>
              <a:rPr lang="ca" sz="1342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habitual</a:t>
            </a:r>
            <a:endParaRPr b="0" i="0" sz="1342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8973" lvl="0" marL="168973" marR="0" rtl="0" algn="l">
              <a:lnSpc>
                <a:spcPct val="144932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42"/>
              <a:buFont typeface="IBM Plex Sans"/>
              <a:buChar char="•"/>
            </a:pPr>
            <a:r>
              <a:rPr lang="ca" sz="1342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hi ha</a:t>
            </a:r>
            <a:r>
              <a:rPr b="0" i="0" lang="ca" sz="1342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semàntica de missatges: el protocol d'aplicació </a:t>
            </a:r>
            <a:r>
              <a:rPr lang="ca" sz="1342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l’has de dissenyar tu</a:t>
            </a:r>
            <a:endParaRPr b="0" i="0" sz="1342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8973" lvl="0" marL="168973" marR="0" rtl="0" algn="l">
              <a:lnSpc>
                <a:spcPct val="144932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42"/>
              <a:buFont typeface="IBM Plex Sans"/>
              <a:buChar char="•"/>
            </a:pPr>
            <a:r>
              <a:rPr b="0" i="0" lang="ca" sz="1342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Tampoc admet capçaleres pròpies des del navegador</a:t>
            </a:r>
            <a:endParaRPr b="0" i="0" sz="1342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8973" lvl="0" marL="168973" marR="0" rtl="0" algn="l">
              <a:lnSpc>
                <a:spcPct val="144932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42"/>
              <a:buFont typeface="IBM Plex Sans"/>
              <a:buChar char="•"/>
            </a:pPr>
            <a:r>
              <a:rPr b="0" i="0" lang="ca" sz="1342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Alguns proxies corporatius el bloquegen</a:t>
            </a:r>
            <a:endParaRPr b="0" i="0" sz="1342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789700" y="4150676"/>
            <a:ext cx="10566300" cy="1224000"/>
          </a:xfrm>
          <a:prstGeom prst="roundRect">
            <a:avLst>
              <a:gd fmla="val 8812" name="adj"/>
            </a:avLst>
          </a:prstGeom>
          <a:solidFill>
            <a:srgbClr val="1B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789700" y="4150675"/>
            <a:ext cx="10566400" cy="1225085"/>
          </a:xfrm>
          <a:custGeom>
            <a:rect b="b" l="l" r="r" t="t"/>
            <a:pathLst>
              <a:path extrusionOk="0" h="1153021" w="10566400">
                <a:moveTo>
                  <a:pt x="101600" y="1153021"/>
                </a:moveTo>
                <a:lnTo>
                  <a:pt x="101600" y="1153021"/>
                </a:lnTo>
                <a:cubicBezTo>
                  <a:pt x="45488" y="1153021"/>
                  <a:pt x="0" y="1107533"/>
                  <a:pt x="0" y="1051421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101600" y="0"/>
                </a:lnTo>
                <a:cubicBezTo>
                  <a:pt x="73544" y="0"/>
                  <a:pt x="50800" y="45488"/>
                  <a:pt x="50800" y="101600"/>
                </a:cubicBezTo>
                <a:lnTo>
                  <a:pt x="50800" y="1051421"/>
                </a:lnTo>
                <a:cubicBezTo>
                  <a:pt x="50800" y="1107533"/>
                  <a:pt x="73544" y="1153021"/>
                  <a:pt x="101600" y="1153021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1094500" y="4353875"/>
            <a:ext cx="99612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33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59"/>
              <a:buFont typeface="IBM Plex Sans"/>
              <a:buNone/>
            </a:pPr>
            <a:r>
              <a:rPr b="1" i="0" lang="ca" sz="1359" u="none" cap="none" strike="noStrike">
                <a:solidFill>
                  <a:srgbClr val="F59E0B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crítica de seguretat més seriosa:</a:t>
            </a:r>
            <a:r>
              <a:rPr b="0" i="0" lang="ca" sz="1359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0" i="0" lang="ca" sz="1359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handshake de WebSocket </a:t>
            </a:r>
            <a:r>
              <a:rPr b="1" i="0" lang="ca" sz="1359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el protegeix la Same-Origin Policy</a:t>
            </a:r>
            <a:r>
              <a:rPr b="0" i="0" lang="ca" sz="1359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. </a:t>
            </a:r>
            <a:r>
              <a:rPr lang="ca" sz="1359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Una altra web pot obrir una connexió al teu servidor enviant-hi les cookies de l’usuari.</a:t>
            </a:r>
            <a:r>
              <a:rPr b="0" i="0" lang="ca" sz="1359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ca" sz="1359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 el servidor no comprova la capçalera </a:t>
            </a:r>
            <a:r>
              <a:rPr b="0" i="0" lang="ca" sz="1359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Origin, </a:t>
            </a:r>
            <a:r>
              <a:rPr lang="ca" sz="1359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és vulnerable a </a:t>
            </a:r>
            <a:r>
              <a:rPr b="0" i="1" lang="ca" sz="1359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Cross-Site WebSocket Hijacking</a:t>
            </a:r>
            <a:r>
              <a:rPr b="0" i="0" lang="ca" sz="1359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1359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814580" y="5578962"/>
            <a:ext cx="10566300" cy="554400"/>
          </a:xfrm>
          <a:prstGeom prst="roundRect">
            <a:avLst>
              <a:gd fmla="val 9162" name="adj"/>
            </a:avLst>
          </a:prstGeom>
          <a:solidFill>
            <a:srgbClr val="ECEEE9"/>
          </a:solidFill>
          <a:ln>
            <a:noFill/>
          </a:ln>
        </p:spPr>
        <p:txBody>
          <a:bodyPr anchorCtr="0" anchor="t" bIns="124800" lIns="277200" spcFirstLastPara="1" rIns="0" wrap="square" tIns="150200">
            <a:norm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264"/>
              <a:buFont typeface="IBM Plex Sans"/>
              <a:buNone/>
            </a:pPr>
            <a:r>
              <a:rPr b="1" i="0" lang="ca" sz="1364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I la crítica compartida:</a:t>
            </a:r>
            <a:r>
              <a:rPr b="0" i="0" lang="ca" sz="1364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tots dos trenquen que el servidor sigui sense estat.</a:t>
            </a:r>
            <a:endParaRPr b="0" i="0" sz="1364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814580" y="5578962"/>
            <a:ext cx="10566400" cy="554434"/>
          </a:xfrm>
          <a:custGeom>
            <a:rect b="b" l="l" r="r" t="t"/>
            <a:pathLst>
              <a:path extrusionOk="0" h="554434" w="10566400">
                <a:moveTo>
                  <a:pt x="50800" y="554434"/>
                </a:moveTo>
                <a:lnTo>
                  <a:pt x="50800" y="554434"/>
                </a:lnTo>
                <a:cubicBezTo>
                  <a:pt x="22744" y="554434"/>
                  <a:pt x="0" y="531690"/>
                  <a:pt x="0" y="503634"/>
                </a:cubicBezTo>
                <a:lnTo>
                  <a:pt x="0" y="50800"/>
                </a:lnTo>
                <a:cubicBezTo>
                  <a:pt x="0" y="22744"/>
                  <a:pt x="22744" y="0"/>
                  <a:pt x="50800" y="0"/>
                </a:cubicBezTo>
                <a:lnTo>
                  <a:pt x="50800" y="0"/>
                </a:lnTo>
                <a:cubicBezTo>
                  <a:pt x="43786" y="0"/>
                  <a:pt x="38100" y="22744"/>
                  <a:pt x="38100" y="50800"/>
                </a:cubicBezTo>
                <a:lnTo>
                  <a:pt x="38100" y="503634"/>
                </a:lnTo>
                <a:cubicBezTo>
                  <a:pt x="38100" y="517107"/>
                  <a:pt x="39438" y="530028"/>
                  <a:pt x="41820" y="539555"/>
                </a:cubicBezTo>
                <a:cubicBezTo>
                  <a:pt x="44201" y="549082"/>
                  <a:pt x="47432" y="554434"/>
                  <a:pt x="50800" y="554434"/>
                </a:cubicBezTo>
                <a:close/>
              </a:path>
            </a:pathLst>
          </a:custGeom>
          <a:solidFill>
            <a:srgbClr val="1520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title"/>
          </p:nvPr>
        </p:nvSpPr>
        <p:spPr>
          <a:xfrm>
            <a:off x="812800" y="812800"/>
            <a:ext cx="10883392" cy="55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600"/>
              <a:buFont typeface="IBM Plex Sans"/>
              <a:buNone/>
            </a:pPr>
            <a:r>
              <a:rPr b="1" i="0" lang="ca" sz="3600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Què li fa això a l'arquitectura</a:t>
            </a:r>
            <a:endParaRPr sz="3600"/>
          </a:p>
        </p:txBody>
      </p:sp>
      <p:sp>
        <p:nvSpPr>
          <p:cNvPr id="190" name="Google Shape;190;p12"/>
          <p:cNvSpPr/>
          <p:nvPr/>
        </p:nvSpPr>
        <p:spPr>
          <a:xfrm>
            <a:off x="812800" y="1617960"/>
            <a:ext cx="9810750" cy="629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700"/>
              <a:buFont typeface="IBM Plex Sans"/>
              <a:buNone/>
            </a:pPr>
            <a:r>
              <a:rPr b="0" i="0" lang="ca" sz="17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Tots dos mantenen una </a:t>
            </a:r>
            <a:r>
              <a:rPr b="1" i="0" lang="ca" sz="17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connexió oberta</a:t>
            </a:r>
            <a:r>
              <a:rPr b="0" i="0" lang="ca" sz="17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. El servidor deixa de ser sense estat: ara té estat </a:t>
            </a:r>
            <a:r>
              <a:rPr b="0" i="1" lang="ca" sz="17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 cada client connectat</a:t>
            </a:r>
            <a:r>
              <a:rPr b="0" i="0" lang="ca" sz="17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815975" y="2504976"/>
            <a:ext cx="3380284" cy="1809750"/>
          </a:xfrm>
          <a:prstGeom prst="roundRect">
            <a:avLst>
              <a:gd fmla="val 5439" name="adj"/>
            </a:avLst>
          </a:prstGeom>
          <a:solidFill>
            <a:srgbClr val="ECEEE9"/>
          </a:solidFill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"/>
          <p:cNvSpPr/>
          <p:nvPr/>
        </p:nvSpPr>
        <p:spPr>
          <a:xfrm>
            <a:off x="1047750" y="2736751"/>
            <a:ext cx="3004236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500"/>
              <a:buFont typeface="IBM Plex Sans"/>
              <a:buNone/>
            </a:pPr>
            <a:r>
              <a:rPr b="1" i="0" lang="ca" sz="15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Servidors replicats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1047750" y="3054251"/>
            <a:ext cx="3004236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Font typeface="IBM Plex Sans"/>
              <a:buNone/>
            </a:pPr>
            <a:r>
              <a:rPr b="0" i="0" lang="ca" sz="135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Quin node té la connexió d'aquest usuari? Cal un bus de publicació i subscripció (Redis, Kafka) per difondre entre nodes.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4405809" y="2504976"/>
            <a:ext cx="3380383" cy="1809750"/>
          </a:xfrm>
          <a:prstGeom prst="roundRect">
            <a:avLst>
              <a:gd fmla="val 5439" name="adj"/>
            </a:avLst>
          </a:prstGeom>
          <a:solidFill>
            <a:srgbClr val="ECEEE9"/>
          </a:solidFill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4637584" y="2736751"/>
            <a:ext cx="3004338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500"/>
              <a:buFont typeface="IBM Plex Sans"/>
              <a:buNone/>
            </a:pPr>
            <a:r>
              <a:rPr b="1" i="0" lang="ca" sz="15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Balancejador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4637584" y="3054251"/>
            <a:ext cx="3004338" cy="7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Font typeface="IBM Plex Sans"/>
              <a:buNone/>
            </a:pPr>
            <a:r>
              <a:rPr b="0" i="0" lang="ca" sz="135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Ha de saber mantenir connexions llargues i enviar-te sempre al mateix node.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7995741" y="2504976"/>
            <a:ext cx="3380284" cy="1809750"/>
          </a:xfrm>
          <a:prstGeom prst="roundRect">
            <a:avLst>
              <a:gd fmla="val 5439" name="adj"/>
            </a:avLst>
          </a:prstGeom>
          <a:solidFill>
            <a:srgbClr val="ECEEE9"/>
          </a:solidFill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8227516" y="2736751"/>
            <a:ext cx="3004236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500"/>
              <a:buFont typeface="IBM Plex Sans"/>
              <a:buNone/>
            </a:pPr>
            <a:r>
              <a:rPr b="1" i="0" lang="ca" sz="15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Límits reals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8227516" y="3054251"/>
            <a:ext cx="3004236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Font typeface="IBM Plex Sans"/>
              <a:buNone/>
            </a:pPr>
            <a:r>
              <a:rPr b="0" i="0" lang="ca" sz="135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connexió és memòria i un descriptor de fitxer. I els proxies tallen el que està inactiu: cal keepalive.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812800" y="4597301"/>
            <a:ext cx="10566400" cy="896541"/>
          </a:xfrm>
          <a:prstGeom prst="roundRect">
            <a:avLst>
              <a:gd fmla="val 5666" name="adj"/>
            </a:avLst>
          </a:prstGeom>
          <a:solidFill>
            <a:srgbClr val="ECEEE9"/>
          </a:solidFill>
          <a:ln>
            <a:noFill/>
          </a:ln>
        </p:spPr>
        <p:txBody>
          <a:bodyPr anchorCtr="0" anchor="t" bIns="150200" lIns="277200" spcFirstLastPara="1" rIns="0" wrap="square" tIns="1756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450"/>
              <a:buFont typeface="IBM Plex Sans"/>
              <a:buNone/>
            </a:pPr>
            <a:r>
              <a:rPr b="1" i="0" lang="ca" sz="145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Enllaç amb el tema 3:</a:t>
            </a:r>
            <a:r>
              <a:rPr b="0" i="0" lang="ca" sz="145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és el mateix problema de </a:t>
            </a:r>
            <a:r>
              <a:rPr b="0" i="1" lang="ca" sz="145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state maintenance</a:t>
            </a:r>
            <a:r>
              <a:rPr b="0" i="0" lang="ca" sz="145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amb servidors replicats — session affinity o session migration — però ara amb connexions obertes, que no es poden migrar.</a:t>
            </a:r>
            <a:endParaRPr b="0" i="0" sz="14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812800" y="4597301"/>
            <a:ext cx="10566400" cy="896541"/>
          </a:xfrm>
          <a:custGeom>
            <a:rect b="b" l="l" r="r" t="t"/>
            <a:pathLst>
              <a:path extrusionOk="0" h="896541" w="10566400">
                <a:moveTo>
                  <a:pt x="50800" y="896541"/>
                </a:moveTo>
                <a:lnTo>
                  <a:pt x="50800" y="896541"/>
                </a:lnTo>
                <a:cubicBezTo>
                  <a:pt x="22744" y="896541"/>
                  <a:pt x="0" y="873797"/>
                  <a:pt x="0" y="845741"/>
                </a:cubicBezTo>
                <a:lnTo>
                  <a:pt x="0" y="50800"/>
                </a:lnTo>
                <a:cubicBezTo>
                  <a:pt x="0" y="22744"/>
                  <a:pt x="22744" y="0"/>
                  <a:pt x="50800" y="0"/>
                </a:cubicBezTo>
                <a:lnTo>
                  <a:pt x="50800" y="0"/>
                </a:lnTo>
                <a:cubicBezTo>
                  <a:pt x="43786" y="0"/>
                  <a:pt x="38100" y="22744"/>
                  <a:pt x="38100" y="50800"/>
                </a:cubicBezTo>
                <a:lnTo>
                  <a:pt x="38100" y="845741"/>
                </a:lnTo>
                <a:cubicBezTo>
                  <a:pt x="38100" y="859214"/>
                  <a:pt x="39438" y="872135"/>
                  <a:pt x="41820" y="881662"/>
                </a:cubicBezTo>
                <a:cubicBezTo>
                  <a:pt x="44201" y="891189"/>
                  <a:pt x="47432" y="896541"/>
                  <a:pt x="50800" y="896541"/>
                </a:cubicBezTo>
                <a:close/>
              </a:path>
            </a:pathLst>
          </a:custGeom>
          <a:solidFill>
            <a:srgbClr val="1520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"/>
          <p:cNvSpPr txBox="1"/>
          <p:nvPr>
            <p:ph type="title"/>
          </p:nvPr>
        </p:nvSpPr>
        <p:spPr>
          <a:xfrm>
            <a:off x="812800" y="812800"/>
            <a:ext cx="10883392" cy="547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98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578"/>
              <a:buFont typeface="IBM Plex Sans"/>
              <a:buNone/>
            </a:pPr>
            <a:r>
              <a:rPr b="1" i="0" lang="ca" sz="3578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 fer servir cadascun</a:t>
            </a:r>
            <a:endParaRPr sz="3578"/>
          </a:p>
        </p:txBody>
      </p:sp>
      <p:sp>
        <p:nvSpPr>
          <p:cNvPr id="208" name="Google Shape;208;p13"/>
          <p:cNvSpPr/>
          <p:nvPr/>
        </p:nvSpPr>
        <p:spPr>
          <a:xfrm>
            <a:off x="812800" y="1639788"/>
            <a:ext cx="5156200" cy="3129161"/>
          </a:xfrm>
          <a:prstGeom prst="roundRect">
            <a:avLst>
              <a:gd fmla="val 3247" name="adj"/>
            </a:avLst>
          </a:prstGeom>
          <a:solidFill>
            <a:srgbClr val="ECEE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812800" y="1639788"/>
            <a:ext cx="5156200" cy="3129161"/>
          </a:xfrm>
          <a:custGeom>
            <a:rect b="b" l="l" r="r" t="t"/>
            <a:pathLst>
              <a:path extrusionOk="0" h="3129161" w="5156200">
                <a:moveTo>
                  <a:pt x="0" y="101600"/>
                </a:move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5054600" y="0"/>
                </a:lnTo>
                <a:cubicBezTo>
                  <a:pt x="5081546" y="0"/>
                  <a:pt x="5107388" y="10704"/>
                  <a:pt x="5126442" y="29758"/>
                </a:cubicBezTo>
                <a:cubicBezTo>
                  <a:pt x="5145496" y="48812"/>
                  <a:pt x="5156200" y="74654"/>
                  <a:pt x="5156200" y="101600"/>
                </a:cubicBezTo>
                <a:lnTo>
                  <a:pt x="5156200" y="101600"/>
                </a:lnTo>
                <a:cubicBezTo>
                  <a:pt x="5156200" y="73544"/>
                  <a:pt x="5110712" y="50800"/>
                  <a:pt x="5054600" y="50800"/>
                </a:cubicBezTo>
                <a:lnTo>
                  <a:pt x="101600" y="50800"/>
                </a:lnTo>
                <a:cubicBezTo>
                  <a:pt x="45488" y="50800"/>
                  <a:pt x="0" y="73544"/>
                  <a:pt x="0" y="10160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1117600" y="1995388"/>
            <a:ext cx="4682998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800"/>
              <a:buFont typeface="IBM Plex Sans"/>
              <a:buNone/>
            </a:pPr>
            <a:r>
              <a:rPr b="1" i="0" lang="ca" sz="1800" u="none" cap="none" strike="noStrike">
                <a:solidFill>
                  <a:srgbClr val="B45309"/>
                </a:solidFill>
                <a:latin typeface="IBM Plex Sans"/>
                <a:ea typeface="IBM Plex Sans"/>
                <a:cs typeface="IBM Plex Sans"/>
                <a:sym typeface="IBM Plex Sans"/>
              </a:rPr>
              <a:t>SSE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1117600" y="2422029"/>
            <a:ext cx="4682998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500"/>
              <a:buFont typeface="IBM Plex Sans"/>
              <a:buNone/>
            </a:pPr>
            <a:r>
              <a:rPr b="0" i="0" lang="ca" sz="15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 </a:t>
            </a:r>
            <a:r>
              <a:rPr b="1" i="0" lang="ca" sz="15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només el servidor té novetats</a:t>
            </a:r>
            <a:r>
              <a:rPr b="0" i="0" lang="ca" sz="15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1195832" y="2841129"/>
            <a:ext cx="4597146" cy="1403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75768" lvl="0" marL="175768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IBM Plex Sans"/>
              <a:buChar char="•"/>
            </a:pP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Notificacions i avisos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IBM Plex Sans"/>
              <a:buChar char="•"/>
            </a:pP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Dashboards i mètriques en viu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IBM Plex Sans"/>
              <a:buChar char="•"/>
            </a:pP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Barres de progrés d'una tasca llarga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IBM Plex Sans"/>
              <a:buChar char="•"/>
            </a:pP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Cotitzacions i marcadors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IBM Plex Sans"/>
              <a:buChar char="•"/>
            </a:pPr>
            <a:r>
              <a:rPr b="0" i="0" lang="ca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Seguiment de logs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6223000" y="1639788"/>
            <a:ext cx="5156200" cy="3129161"/>
          </a:xfrm>
          <a:prstGeom prst="roundRect">
            <a:avLst>
              <a:gd fmla="val 3247" name="adj"/>
            </a:avLst>
          </a:prstGeom>
          <a:solidFill>
            <a:srgbClr val="ECEE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"/>
          <p:cNvSpPr/>
          <p:nvPr/>
        </p:nvSpPr>
        <p:spPr>
          <a:xfrm>
            <a:off x="6223000" y="1639788"/>
            <a:ext cx="5156200" cy="3129161"/>
          </a:xfrm>
          <a:custGeom>
            <a:rect b="b" l="l" r="r" t="t"/>
            <a:pathLst>
              <a:path extrusionOk="0" h="3129161" w="5156200">
                <a:moveTo>
                  <a:pt x="0" y="101600"/>
                </a:move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5054600" y="0"/>
                </a:lnTo>
                <a:cubicBezTo>
                  <a:pt x="5081546" y="0"/>
                  <a:pt x="5107388" y="10704"/>
                  <a:pt x="5126442" y="29758"/>
                </a:cubicBezTo>
                <a:cubicBezTo>
                  <a:pt x="5145496" y="48812"/>
                  <a:pt x="5156200" y="74654"/>
                  <a:pt x="5156200" y="101600"/>
                </a:cubicBezTo>
                <a:lnTo>
                  <a:pt x="5156200" y="101600"/>
                </a:lnTo>
                <a:cubicBezTo>
                  <a:pt x="5156200" y="73544"/>
                  <a:pt x="5110712" y="50800"/>
                  <a:pt x="5054600" y="50800"/>
                </a:cubicBezTo>
                <a:lnTo>
                  <a:pt x="101600" y="50800"/>
                </a:lnTo>
                <a:cubicBezTo>
                  <a:pt x="45488" y="50800"/>
                  <a:pt x="0" y="73544"/>
                  <a:pt x="0" y="10160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"/>
          <p:cNvSpPr/>
          <p:nvPr/>
        </p:nvSpPr>
        <p:spPr>
          <a:xfrm>
            <a:off x="6527800" y="1995388"/>
            <a:ext cx="4682998" cy="296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IBM Plex Sans"/>
              <a:buNone/>
            </a:pPr>
            <a:r>
              <a:rPr b="1" i="0" lang="ca" sz="1800" u="none" cap="none" strike="noStrike">
                <a:solidFill>
                  <a:srgbClr val="2563EB"/>
                </a:solidFill>
                <a:latin typeface="IBM Plex Sans"/>
                <a:ea typeface="IBM Plex Sans"/>
                <a:cs typeface="IBM Plex Sans"/>
                <a:sym typeface="IBM Plex Sans"/>
              </a:rPr>
              <a:t>WebSockets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6527800" y="2419350"/>
            <a:ext cx="4682998" cy="553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491"/>
              <a:buFont typeface="IBM Plex Sans"/>
              <a:buNone/>
            </a:pPr>
            <a:r>
              <a:rPr b="0" i="0" lang="ca" sz="1491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 </a:t>
            </a:r>
            <a:r>
              <a:rPr b="1" i="0" lang="ca" sz="1491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client també parla sovint</a:t>
            </a:r>
            <a:r>
              <a:rPr b="0" i="0" lang="ca" sz="1491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i la latència importa.</a:t>
            </a:r>
            <a:endParaRPr b="0" i="0" sz="1491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6612482" y="3099991"/>
            <a:ext cx="4590696" cy="1389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69318" lvl="0" marL="169318" marR="0" rtl="0" algn="l">
              <a:lnSpc>
                <a:spcPct val="15501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87"/>
              <a:buFont typeface="IBM Plex Sans"/>
              <a:buChar char="•"/>
            </a:pPr>
            <a:r>
              <a:rPr b="0" i="0" lang="ca" sz="1387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Xats i missatgeria</a:t>
            </a:r>
            <a:endParaRPr b="0" i="0" sz="1387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9318" lvl="0" marL="169318" marR="0" rtl="0" algn="l">
              <a:lnSpc>
                <a:spcPct val="15501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87"/>
              <a:buFont typeface="IBM Plex Sans"/>
              <a:buChar char="•"/>
            </a:pPr>
            <a:r>
              <a:rPr b="0" i="0" lang="ca" sz="1387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Jocs multijugador</a:t>
            </a:r>
            <a:endParaRPr b="0" i="0" sz="1387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9318" lvl="0" marL="169318" marR="0" rtl="0" algn="l">
              <a:lnSpc>
                <a:spcPct val="15501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87"/>
              <a:buFont typeface="IBM Plex Sans"/>
              <a:buChar char="•"/>
            </a:pPr>
            <a:r>
              <a:rPr b="0" i="0" lang="ca" sz="1387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Edició col·laborativa</a:t>
            </a:r>
            <a:endParaRPr b="0" i="0" sz="1387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9318" lvl="0" marL="169318" marR="0" rtl="0" algn="l">
              <a:lnSpc>
                <a:spcPct val="15501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87"/>
              <a:buFont typeface="IBM Plex Sans"/>
              <a:buChar char="•"/>
            </a:pPr>
            <a:r>
              <a:rPr b="0" i="0" lang="ca" sz="1387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Trading i subhastes</a:t>
            </a:r>
            <a:endParaRPr b="0" i="0" sz="1387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9318" lvl="0" marL="169318" marR="0" rtl="0" algn="l">
              <a:lnSpc>
                <a:spcPct val="15501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87"/>
              <a:buFont typeface="IBM Plex Sans"/>
              <a:buChar char="•"/>
            </a:pPr>
            <a:r>
              <a:rPr b="0" i="0" lang="ca" sz="1387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Pissarres compartides</a:t>
            </a:r>
            <a:endParaRPr b="0" i="0" sz="1387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812800" y="5073749"/>
            <a:ext cx="10566400" cy="971451"/>
          </a:xfrm>
          <a:prstGeom prst="roundRect">
            <a:avLst>
              <a:gd fmla="val 10459" name="adj"/>
            </a:avLst>
          </a:prstGeom>
          <a:solidFill>
            <a:srgbClr val="1B2733"/>
          </a:solidFill>
          <a:ln>
            <a:noFill/>
          </a:ln>
        </p:spPr>
        <p:txBody>
          <a:bodyPr anchorCtr="0" anchor="t" bIns="148025" lIns="224225" spcFirstLastPara="1" rIns="0" wrap="square" tIns="173425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95"/>
              <a:buFont typeface="IBM Plex Sans"/>
              <a:buNone/>
            </a:pPr>
            <a:r>
              <a:rPr b="0" i="0" lang="ca" sz="1595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 ChatGPT o Claude t'escriuen paraula a paraula, això és </a:t>
            </a:r>
            <a:r>
              <a:rPr b="1" i="0" lang="ca" sz="1595" u="none" cap="none" strike="noStrike">
                <a:solidFill>
                  <a:srgbClr val="F59E0B"/>
                </a:solidFill>
                <a:latin typeface="IBM Plex Sans"/>
                <a:ea typeface="IBM Plex Sans"/>
                <a:cs typeface="IBM Plex Sans"/>
                <a:sym typeface="IBM Plex Sans"/>
              </a:rPr>
              <a:t>SSE</a:t>
            </a:r>
            <a:r>
              <a:rPr b="0" i="0" lang="ca" sz="1595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, no WebSockets. Només cal que parli un dels dos costats.</a:t>
            </a:r>
            <a:endParaRPr b="0" i="0" sz="1595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02B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 txBox="1"/>
          <p:nvPr>
            <p:ph type="title"/>
          </p:nvPr>
        </p:nvSpPr>
        <p:spPr>
          <a:xfrm>
            <a:off x="812800" y="812800"/>
            <a:ext cx="10883392" cy="4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8F6"/>
              </a:buClr>
              <a:buSzPts val="3100"/>
              <a:buFont typeface="IBM Plex Sans"/>
              <a:buNone/>
            </a:pPr>
            <a:r>
              <a:rPr b="1" i="0" lang="ca" sz="3100">
                <a:solidFill>
                  <a:srgbClr val="F7F8F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Conclusions i valoració</a:t>
            </a:r>
            <a:endParaRPr sz="3100"/>
          </a:p>
        </p:txBody>
      </p:sp>
      <p:sp>
        <p:nvSpPr>
          <p:cNvPr id="225" name="Google Shape;225;p14"/>
          <p:cNvSpPr/>
          <p:nvPr/>
        </p:nvSpPr>
        <p:spPr>
          <a:xfrm>
            <a:off x="812800" y="1494135"/>
            <a:ext cx="10595610" cy="333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8F6"/>
              </a:buClr>
              <a:buSzPts val="1800"/>
              <a:buFont typeface="IBM Plex Sans"/>
              <a:buNone/>
            </a:pPr>
            <a:r>
              <a:rPr b="0" i="0" lang="ca" sz="1800" u="none" cap="none" strike="noStrike">
                <a:solidFill>
                  <a:srgbClr val="F7F8F6"/>
                </a:solidFill>
                <a:latin typeface="IBM Plex Sans"/>
                <a:ea typeface="IBM Plex Sans"/>
                <a:cs typeface="IBM Plex Sans"/>
                <a:sym typeface="IBM Plex Sans"/>
              </a:rPr>
              <a:t>Si només ha de parlar el servidor, </a:t>
            </a:r>
            <a:r>
              <a:rPr b="1" i="0" lang="ca" sz="1800" u="none" cap="none" strike="noStrike">
                <a:solidFill>
                  <a:srgbClr val="F59E0B"/>
                </a:solidFill>
                <a:latin typeface="IBM Plex Sans"/>
                <a:ea typeface="IBM Plex Sans"/>
                <a:cs typeface="IBM Plex Sans"/>
                <a:sym typeface="IBM Plex Sans"/>
              </a:rPr>
              <a:t>SSE</a:t>
            </a:r>
            <a:r>
              <a:rPr b="0" i="0" lang="ca" sz="1800" u="none" cap="none" strike="noStrike">
                <a:solidFill>
                  <a:srgbClr val="F7F8F6"/>
                </a:solidFill>
                <a:latin typeface="IBM Plex Sans"/>
                <a:ea typeface="IBM Plex Sans"/>
                <a:cs typeface="IBM Plex Sans"/>
                <a:sym typeface="IBM Plex Sans"/>
              </a:rPr>
              <a:t>. Si han de parlar tots dos, </a:t>
            </a:r>
            <a:r>
              <a:rPr b="1" i="0" lang="ca" sz="1800" u="none" cap="none" strike="noStrike">
                <a:solidFill>
                  <a:srgbClr val="60A5FA"/>
                </a:solidFill>
                <a:latin typeface="IBM Plex Sans"/>
                <a:ea typeface="IBM Plex Sans"/>
                <a:cs typeface="IBM Plex Sans"/>
                <a:sym typeface="IBM Plex Sans"/>
              </a:rPr>
              <a:t>WebSockets</a:t>
            </a:r>
            <a:r>
              <a:rPr b="0" i="0" lang="ca" sz="1800" u="none" cap="none" strike="noStrike">
                <a:solidFill>
                  <a:srgbClr val="F7F8F6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812800" y="1942405"/>
            <a:ext cx="1059561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0C0"/>
              </a:buClr>
              <a:buSzPts val="1600"/>
              <a:buFont typeface="IBM Plex Sans"/>
              <a:buNone/>
            </a:pPr>
            <a:r>
              <a:rPr b="0" i="0" lang="ca" sz="1600" u="none" cap="none" strike="noStrike">
                <a:solidFill>
                  <a:srgbClr val="9FB0C0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que costa no és el codi del navegador: és que el servidor deixa de ser sense estat.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line" id="227" name="Google Shape;22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2455466"/>
            <a:ext cx="105664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4"/>
          <p:cNvSpPr/>
          <p:nvPr/>
        </p:nvSpPr>
        <p:spPr>
          <a:xfrm>
            <a:off x="812800" y="2696766"/>
            <a:ext cx="3369667" cy="2263378"/>
          </a:xfrm>
          <a:prstGeom prst="roundRect">
            <a:avLst>
              <a:gd fmla="val 4489" name="adj"/>
            </a:avLst>
          </a:prstGeom>
          <a:solidFill>
            <a:srgbClr val="1B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"/>
          <p:cNvSpPr/>
          <p:nvPr/>
        </p:nvSpPr>
        <p:spPr>
          <a:xfrm>
            <a:off x="1041400" y="2925366"/>
            <a:ext cx="299984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IBM Plex Sans"/>
              <a:buNone/>
            </a:pPr>
            <a:r>
              <a:rPr b="1" i="0" lang="ca" sz="1400" u="none" cap="none" strike="noStrike">
                <a:solidFill>
                  <a:srgbClr val="F59E0B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nostra recomanació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1041400" y="3240286"/>
            <a:ext cx="2999841" cy="126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IBM Plex Sans"/>
              <a:buNone/>
            </a:pPr>
            <a:r>
              <a:rPr b="0" i="0" lang="ca" sz="1350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Comenceu sempre per SSE. Passeu a WebSockets només quan us trobeu enviant molts fetch cap al servidor per mantenir la conversa, o quan necessiteu binari.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4411067" y="2696766"/>
            <a:ext cx="3369766" cy="2263378"/>
          </a:xfrm>
          <a:prstGeom prst="roundRect">
            <a:avLst>
              <a:gd fmla="val 4489" name="adj"/>
            </a:avLst>
          </a:prstGeom>
          <a:solidFill>
            <a:srgbClr val="1B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"/>
          <p:cNvSpPr/>
          <p:nvPr/>
        </p:nvSpPr>
        <p:spPr>
          <a:xfrm>
            <a:off x="4639667" y="2925366"/>
            <a:ext cx="299994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IBM Plex Sans"/>
              <a:buNone/>
            </a:pPr>
            <a:r>
              <a:rPr b="1" i="0" lang="ca" sz="1400" u="none" cap="none" strike="noStrike">
                <a:solidFill>
                  <a:srgbClr val="F59E0B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que ens ha sorprès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4639667" y="3240286"/>
            <a:ext cx="2999943" cy="126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IBM Plex Sans"/>
              <a:buNone/>
            </a:pPr>
            <a:r>
              <a:rPr b="0" i="0" lang="ca" sz="1350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 la tecnologia més simple de les dues sigui la que mou el cas d'ús més visible d'aquests anys: el text que els models de llenguatge escriuen paraula a paraula va amb SSE.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8009434" y="2696766"/>
            <a:ext cx="3369766" cy="2263378"/>
          </a:xfrm>
          <a:prstGeom prst="roundRect">
            <a:avLst>
              <a:gd fmla="val 4489" name="adj"/>
            </a:avLst>
          </a:prstGeom>
          <a:solidFill>
            <a:srgbClr val="1B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8238034" y="2925366"/>
            <a:ext cx="299994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IBM Plex Sans"/>
              <a:buNone/>
            </a:pPr>
            <a:r>
              <a:rPr b="1" i="0" lang="ca" sz="1400" u="none" cap="none" strike="noStrike">
                <a:solidFill>
                  <a:srgbClr val="60A5FA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nostra predicció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8238034" y="3240286"/>
            <a:ext cx="2999943" cy="1516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IBM Plex Sans"/>
              <a:buNone/>
            </a:pPr>
            <a:r>
              <a:rPr b="0" i="0" lang="ca" sz="1350" u="none" cap="none" strike="noStrike">
                <a:solidFill>
                  <a:srgbClr val="E6EDF3"/>
                </a:solidFill>
                <a:latin typeface="IBM Plex Sans"/>
                <a:ea typeface="IBM Plex Sans"/>
                <a:cs typeface="IBM Plex Sans"/>
                <a:sym typeface="IBM Plex Sans"/>
              </a:rPr>
              <a:t>WebTransport ja és a tots els navegadors i es menjarà els casos de jocs i mèdia. Però SSE sobreviurà: la seva simplicitat no té rival, i el server push d'HTTP/2 ja va demostrar que el que no és simple no s'adopta.</a:t>
            </a:r>
            <a:endParaRPr b="0" i="0" sz="135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"/>
          <p:cNvSpPr txBox="1"/>
          <p:nvPr>
            <p:ph type="title"/>
          </p:nvPr>
        </p:nvSpPr>
        <p:spPr>
          <a:xfrm>
            <a:off x="812800" y="812800"/>
            <a:ext cx="10883392" cy="507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300"/>
              <a:buFont typeface="IBM Plex Sans"/>
              <a:buNone/>
            </a:pPr>
            <a:r>
              <a:rPr b="1" i="0" lang="ca" sz="3300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Referències</a:t>
            </a:r>
            <a:endParaRPr sz="3300"/>
          </a:p>
        </p:txBody>
      </p:sp>
      <p:sp>
        <p:nvSpPr>
          <p:cNvPr id="243" name="Google Shape;243;p15"/>
          <p:cNvSpPr/>
          <p:nvPr/>
        </p:nvSpPr>
        <p:spPr>
          <a:xfrm>
            <a:off x="815975" y="1526480"/>
            <a:ext cx="5175250" cy="516830"/>
          </a:xfrm>
          <a:prstGeom prst="roundRect">
            <a:avLst>
              <a:gd fmla="val 14129" name="adj"/>
            </a:avLst>
          </a:prstGeom>
          <a:solidFill>
            <a:srgbClr val="ECEEE9"/>
          </a:solidFill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6075" lIns="172275" spcFirstLastPara="1" rIns="28650" wrap="square" tIns="121475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300"/>
              <a:buFont typeface="IBM Plex Sans"/>
              <a:buNone/>
            </a:pPr>
            <a:r>
              <a:rPr b="1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RFC 6455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</a:t>
            </a:r>
            <a:r>
              <a:rPr b="0" i="1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WebSocket Protocol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. IETF, desembre 2011.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815975" y="2151261"/>
            <a:ext cx="5175250" cy="747911"/>
          </a:xfrm>
          <a:prstGeom prst="roundRect">
            <a:avLst>
              <a:gd fmla="val 9764" name="adj"/>
            </a:avLst>
          </a:prstGeom>
          <a:solidFill>
            <a:srgbClr val="ECEEE9"/>
          </a:solidFill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6075" lIns="172275" spcFirstLastPara="1" rIns="28650" wrap="square" tIns="121475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300"/>
              <a:buFont typeface="IBM Plex Sans"/>
              <a:buNone/>
            </a:pPr>
            <a:r>
              <a:rPr b="1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RFC 8441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i </a:t>
            </a:r>
            <a:r>
              <a:rPr b="1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RFC 9220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</a:t>
            </a:r>
            <a:r>
              <a:rPr b="0" i="1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Bootstrapping WebSockets with HTTP/2 and HTTP/3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. IETF, 2018 i 2022.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815975" y="3007122"/>
            <a:ext cx="5175250" cy="516830"/>
          </a:xfrm>
          <a:prstGeom prst="roundRect">
            <a:avLst>
              <a:gd fmla="val 14129" name="adj"/>
            </a:avLst>
          </a:prstGeom>
          <a:solidFill>
            <a:srgbClr val="ECEEE9"/>
          </a:solidFill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6075" lIns="172275" spcFirstLastPara="1" rIns="28650" wrap="square" tIns="121475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300"/>
              <a:buFont typeface="IBM Plex Sans"/>
              <a:buNone/>
            </a:pPr>
            <a:r>
              <a:rPr b="1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HTML Living Standard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secció </a:t>
            </a:r>
            <a:r>
              <a:rPr b="0" i="1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Server-sent events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. WHATWG.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815975" y="3631902"/>
            <a:ext cx="5175250" cy="516830"/>
          </a:xfrm>
          <a:prstGeom prst="roundRect">
            <a:avLst>
              <a:gd fmla="val 14129" name="adj"/>
            </a:avLst>
          </a:prstGeom>
          <a:solidFill>
            <a:srgbClr val="ECEEE9"/>
          </a:solidFill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6075" lIns="172275" spcFirstLastPara="1" rIns="28650" wrap="square" tIns="121475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300"/>
              <a:buFont typeface="IBM Plex Sans"/>
              <a:buNone/>
            </a:pPr>
            <a:r>
              <a:rPr b="1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W3C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</a:t>
            </a:r>
            <a:r>
              <a:rPr b="0" i="1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Server-Sent Events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, Recommendation, febrer 2015.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6200775" y="1526480"/>
            <a:ext cx="5175250" cy="516830"/>
          </a:xfrm>
          <a:prstGeom prst="roundRect">
            <a:avLst>
              <a:gd fmla="val 14129" name="adj"/>
            </a:avLst>
          </a:prstGeom>
          <a:solidFill>
            <a:srgbClr val="ECEEE9"/>
          </a:solidFill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6075" lIns="172275" spcFirstLastPara="1" rIns="28650" wrap="square" tIns="121475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300"/>
              <a:buFont typeface="IBM Plex Sans"/>
              <a:buNone/>
            </a:pPr>
            <a:r>
              <a:rPr b="1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MDN Web Docs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</a:t>
            </a:r>
            <a:r>
              <a:rPr b="0" i="1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EventSource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i </a:t>
            </a:r>
            <a:r>
              <a:rPr b="0" i="1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WebSocket API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6200775" y="2151261"/>
            <a:ext cx="5175250" cy="747911"/>
          </a:xfrm>
          <a:prstGeom prst="roundRect">
            <a:avLst>
              <a:gd fmla="val 9764" name="adj"/>
            </a:avLst>
          </a:prstGeom>
          <a:solidFill>
            <a:srgbClr val="ECEEE9"/>
          </a:solidFill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6075" lIns="172275" spcFirstLastPara="1" rIns="28650" wrap="square" tIns="121475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300"/>
              <a:buFont typeface="IBM Plex Sans"/>
              <a:buNone/>
            </a:pPr>
            <a:r>
              <a:rPr b="1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Chrome Developers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</a:t>
            </a:r>
            <a:r>
              <a:rPr b="0" i="1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Removing HTTP/2 Server Push from Chrome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, 2022.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6200775" y="3007122"/>
            <a:ext cx="5175250" cy="516830"/>
          </a:xfrm>
          <a:prstGeom prst="roundRect">
            <a:avLst>
              <a:gd fmla="val 14129" name="adj"/>
            </a:avLst>
          </a:prstGeom>
          <a:solidFill>
            <a:srgbClr val="ECEEE9"/>
          </a:solidFill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6075" lIns="172275" spcFirstLastPara="1" rIns="28650" wrap="square" tIns="121475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300"/>
              <a:buFont typeface="IBM Plex Sans"/>
              <a:buNone/>
            </a:pPr>
            <a:r>
              <a:rPr b="1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OWASP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</a:t>
            </a:r>
            <a:r>
              <a:rPr b="0" i="1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 WebSockets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i </a:t>
            </a:r>
            <a:r>
              <a:rPr b="0" i="1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Cross-Site WebSocket Hijacking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6200775" y="3631902"/>
            <a:ext cx="5175250" cy="516830"/>
          </a:xfrm>
          <a:prstGeom prst="roundRect">
            <a:avLst>
              <a:gd fmla="val 14129" name="adj"/>
            </a:avLst>
          </a:prstGeom>
          <a:solidFill>
            <a:srgbClr val="ECEEE9"/>
          </a:solidFill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6075" lIns="172275" spcFirstLastPara="1" rIns="28650" wrap="square" tIns="121475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300"/>
              <a:buFont typeface="IBM Plex Sans"/>
              <a:buNone/>
            </a:pPr>
            <a:r>
              <a:rPr b="1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ASW</a:t>
            </a:r>
            <a:r>
              <a:rPr b="0" i="0" lang="ca" sz="1300" u="none" cap="none" strike="noStrike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tema 2 (HTTP, dia. 26) i tema 3 (arquitectures, dia. 19).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"/>
          <p:cNvSpPr txBox="1"/>
          <p:nvPr>
            <p:ph type="title"/>
          </p:nvPr>
        </p:nvSpPr>
        <p:spPr>
          <a:xfrm>
            <a:off x="812800" y="812800"/>
            <a:ext cx="10883392" cy="492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9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238"/>
              <a:buFont typeface="IBM Plex Sans"/>
              <a:buNone/>
            </a:pPr>
            <a:r>
              <a:rPr b="1" i="0" lang="ca" sz="3238">
                <a:solidFill>
                  <a:srgbClr val="15202B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Distribució de tasques</a:t>
            </a:r>
            <a:endParaRPr sz="3238"/>
          </a:p>
        </p:txBody>
      </p:sp>
      <p:cxnSp>
        <p:nvCxnSpPr>
          <p:cNvPr id="257" name="Google Shape;257;p16"/>
          <p:cNvCxnSpPr/>
          <p:nvPr/>
        </p:nvCxnSpPr>
        <p:spPr>
          <a:xfrm>
            <a:off x="11376025" y="1534021"/>
            <a:ext cx="0" cy="3554016"/>
          </a:xfrm>
          <a:prstGeom prst="straightConnector1">
            <a:avLst/>
          </a:prstGeom>
          <a:noFill/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16"/>
          <p:cNvCxnSpPr/>
          <p:nvPr/>
        </p:nvCxnSpPr>
        <p:spPr>
          <a:xfrm>
            <a:off x="812800" y="5084862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D7DB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16"/>
          <p:cNvCxnSpPr/>
          <p:nvPr/>
        </p:nvCxnSpPr>
        <p:spPr>
          <a:xfrm>
            <a:off x="812800" y="1540371"/>
            <a:ext cx="10566400" cy="0"/>
          </a:xfrm>
          <a:prstGeom prst="straightConnector1">
            <a:avLst/>
          </a:prstGeom>
          <a:noFill/>
          <a:ln cap="flat" cmpd="sng" w="12700">
            <a:solidFill>
              <a:srgbClr val="141413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16"/>
          <p:cNvCxnSpPr/>
          <p:nvPr/>
        </p:nvCxnSpPr>
        <p:spPr>
          <a:xfrm>
            <a:off x="819150" y="1534021"/>
            <a:ext cx="0" cy="3554016"/>
          </a:xfrm>
          <a:prstGeom prst="straightConnector1">
            <a:avLst/>
          </a:prstGeom>
          <a:noFill/>
          <a:ln cap="flat" cmpd="sng" w="12700">
            <a:solidFill>
              <a:srgbClr val="141413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61" name="Google Shape;261;p16"/>
          <p:cNvGraphicFramePr/>
          <p:nvPr/>
        </p:nvGraphicFramePr>
        <p:xfrm>
          <a:off x="965200" y="16483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{C67F23D1-3F80-4BEE-83EA-0B8E7BF24E51}</a:tableStyleId>
              </a:tblPr>
              <a:tblGrid>
                <a:gridCol w="2258950"/>
                <a:gridCol w="4415225"/>
                <a:gridCol w="3593775"/>
              </a:tblGrid>
              <a:tr h="36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b="1" lang="ca" sz="1308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Membre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b="1" lang="ca" sz="1308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Preparació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b="1" lang="ca" sz="1308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Exposició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E9"/>
                    </a:solidFill>
                  </a:tcPr>
                </a:tc>
              </a:tr>
              <a:tr h="59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lang="ca" sz="1308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Alex Blanco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lang="ca" sz="1308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Recerca d'evolució històrica i fonts; muntatge de les transparències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lang="ca" sz="1308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Introducció i evolució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B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lang="ca" sz="1308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Simona Duelt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lang="ca" sz="1308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Estudi de l'especificació d'SSE i proves del format i la reconnexió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lang="ca" sz="1308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Server-Sent Events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lang="ca" sz="1308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Raúl Guasch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lang="ca" sz="1308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Estudi del RFC 6455; exemples de codi i captures del handshake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lang="ca" sz="1308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WebSockets i comparativa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ca" sz="1308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Jan Santaliestra</a:t>
                      </a:r>
                      <a:endParaRPr sz="1308" u="none" cap="none" strike="noStrike">
                        <a:solidFill>
                          <a:srgbClr val="1B273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lang="ca" sz="1308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Anàlisi de punts forts i febles; recerca de seguretat (CSWSH) i d'arquitectura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lang="ca" sz="1308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Valoració i arquitectura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lang="ca" sz="1308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Marc Planas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lang="ca" sz="1308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Casos d'ús reals, conclusions i revisió final de la presentació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99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8"/>
                        <a:buFont typeface="IBM Plex Sans"/>
                        <a:buNone/>
                      </a:pPr>
                      <a:r>
                        <a:rPr lang="ca" sz="1308" u="none" cap="none" strike="noStrike">
                          <a:solidFill>
                            <a:srgbClr val="15202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Criteri i conclusions</a:t>
                      </a:r>
                      <a:endParaRPr sz="1308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8125" marB="58125" marR="58125" marL="581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ebSockets i Server-Sent Events">
  <a:themeElements>
    <a:clrScheme name="WebSockets i Server-Sent Events">
      <a:dk1>
        <a:srgbClr val="15202B"/>
      </a:dk1>
      <a:lt1>
        <a:srgbClr val="F7F8F6"/>
      </a:lt1>
      <a:dk2>
        <a:srgbClr val="4E565E"/>
      </a:dk2>
      <a:lt2>
        <a:srgbClr val="E0E2E2"/>
      </a:lt2>
      <a:accent1>
        <a:srgbClr val="B45309"/>
      </a:accent1>
      <a:accent2>
        <a:srgbClr val="2563EB"/>
      </a:accent2>
      <a:accent3>
        <a:srgbClr val="F59E0B"/>
      </a:accent3>
      <a:accent4>
        <a:srgbClr val="60A5FA"/>
      </a:accent4>
      <a:accent5>
        <a:srgbClr val="4A5568"/>
      </a:accent5>
      <a:accent6>
        <a:srgbClr val="9FB0C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bSockets i Server-Sent Events">
  <a:themeElements>
    <a:clrScheme name="WebSockets i Server-Sent Events">
      <a:dk1>
        <a:srgbClr val="15202B"/>
      </a:dk1>
      <a:lt1>
        <a:srgbClr val="F7F8F6"/>
      </a:lt1>
      <a:dk2>
        <a:srgbClr val="4E565E"/>
      </a:dk2>
      <a:lt2>
        <a:srgbClr val="E0E2E2"/>
      </a:lt2>
      <a:accent1>
        <a:srgbClr val="B45309"/>
      </a:accent1>
      <a:accent2>
        <a:srgbClr val="2563EB"/>
      </a:accent2>
      <a:accent3>
        <a:srgbClr val="F59E0B"/>
      </a:accent3>
      <a:accent4>
        <a:srgbClr val="60A5FA"/>
      </a:accent4>
      <a:accent5>
        <a:srgbClr val="4A5568"/>
      </a:accent5>
      <a:accent6>
        <a:srgbClr val="9FB0C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2026-10-13T05:42:47Z</dcterms:created>
</cp:coreProperties>
</file>