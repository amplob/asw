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obre diu el títol, es presenta l'equip sencer amb un gest cap a la diapositiva (no cal llegir els cinc noms un per un) i anuncia l'estructura en una frase: primer què són i d'on vénen, després cadascuna per separat, i al final la comparativa i quan fer servir cadascuna. Màxim 20 segons.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Aquesta és la diapositiva de "què és". Definició en una frase, i de seguida el perquè: HTTP és petició-resposta i el servidor no pot iniciar res. La cita de les transpes del tema 2 serveix per ancorar-ho a l'assignatura. Acabar amb els exemples quotidians perquè tothom vegi que això ho fan servir cada dia sense saber-ho. El diagrama de la dreta es llegeix sol: assenyalar la fletxa grisa i dir "aquesta direcció no existeix".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Element obligatori de la rúbrica: l'evolució. El fil narratiu són tres etapes. Primera, els pedaços: polling i long polling, que simulaven el push amb peticions del client. Segona, els dos estàndards: fixeu-vos que SSE és anterior en concepció però va trigar més a tenir recomanació formal, mentre que WebSockets va néixer més tard i es va estandarditzar abans, el 2011. Tercera, l'actualitat: el server push d'HTTP/2 va fracassar i WebTransport és el candidat a succeir. Les dues capses de baix són el pont cap a la diapositiva de prediccions del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Insistir en la idea clau: no hi ha cap protocol nou. És una petició GET normal i corrent on el servidor, en comptes de respondre i tancar, deixa la resposta oberta i hi va escrivint. Per això passa per qualsevol proxy, qualsevol firewall i qualsevol infraestructura HTTP que ja tinguis. El codi del client són quatre línies.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Aquesta és la diapositiva on es veu que SSE és trivialment simple: el protocol sencer són quatre noms de camp i una línia en blanc com a separador. Si no poses event, al client arriba com a onmessage. Es pot generar a mà des de qualsevol llenguatge, no cal cap llibreria. Fer notar el camp id, que enllaça amb la diapositiva següent.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Aquest és l'argument de venda més fort d'SSE i el que la gent no sap. Amb WebSockets la reconnexió te l'has d'escriure tu, amb el seu backoff, i és una font d'errors coneguda. Aquí ve de sèrie i a més amb represa: el servidor rep Last-Event-ID i et pot enviar el que t'has perdut. El parany de les 6 connexions és real: si obres un SSE a cada pestanya, a la setena pestanya el navegador es penja. Val la pena dir-ho perquè és el típic error que es descobreix en producció.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detall que agrada explicar: WebSockets no obre res de nou. Aprofita una petició HTTP normal i demana un canvi de protocol sobre la mateixa connexió TCP. Per això funciona al port 443 i travessa la majoria de firewalls. El Sec-WebSocket-Key no és seguretat, és només una comprovació que l'altre extrem entén el protocol i no és un proxy despistat. Si algú pregunta: la resposta 101 es calcula fent SHA-1 de la clau amb una constant fixa del RFC.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 important i el que més es confon: WebSockets no és "HTTP bidireccional". Un cop fet el handshake, HTTP desapareix. No hi ha peticions ni respostes, no hi ha codis d'estat, no hi ha correlació entre el que envies i el que reps. Si vols saber quina resposta correspon a quina pregunta, t'ho has de muntar tu posant identificadors als missatges. Aquesta llibertat és la seva força i també el seu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Aquesta és LA diapositiva de la xerrada. Si només se'n recorden d'una, que sigui aquesta. No llegir-la sencera: assenyalar les tres files que de debò decideixen. Sentit, perquè si només necessites un sentit no cal pagar per dos. Reconnexió, perquè és feina que t'estalvies. I complexitat, que és la conseqüència de tot plegat. Les altres quatre són matisos.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llegir les vuit línies. Dir-ne dues de cada: d'SSE, la simplicitat i que hereta tota la infraestructura HTTP, que és el que la gent infravalora. De WebSockets, la bidireccionalitat simultània i que els frames no porten capçaleres, cosa que importa quan envies milers de missatges petits en un joc. La resta es llegeix sola i és per a quan repassin la presentació després.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Element obligatori de la rúbrica: perspectiva equilibrada. La banda fosca és el punt que més impressiona i val la pena dir-lo a poc a poc: la Same-Origin Policy protegeix fetch i XHR, però el handshake de WebSocket se n'escapa, o sigui que és l'equivalent del CSRF. Si pregunten com es defensa: validar Origin al servidor, i millor encara passar un token al primer missatge en comptes de confiar en la cookie. L'última banda és el pont cap a la diapositiva d'arquitectura.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Aquesta diapositiva és la que connecta la xerrada amb l'assignatura, i probablement la que més valorarà el professor. La idea forta: tota l'escalabilitat d'HTTP ve de ser sense estat, i aquí la trenquem a posta. Recordar el patró de servidors replicats del tema 3 i les dues opcions per mantenir l'estat de sessió. Amb una connexió oberta ni tan sols pots migrar: si cau el node, cau la connexió. Per això el client sempre ha de saber reconnectar, i per això SSE regala aquesta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frase del final és la que es recorda. Molta gent dóna per fet que tot el que és "en temps real" són WebSockets, i resulta que el cas d'ús més visible d'aquests anys, el streaming de tokens d'un model de llenguatge, va amb SSE. El motiu és exactament el de la columna de l'esquerra: un cop has enviat la pregunta, només parla el servidor. Si algú pregunta per què no WebSockets: perquè pagaries complexitat i reconnexió manual per un canal que no faràs servir.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Element obligatori de la rúbrica: conclusions més valoració personal, recomanacions i prediccions. Les tres capses són opinió de l'equip i s'han de dir com a tal: "la nostra recomanació és...", "a nosaltres ens ha sorprès que...", "nosaltres creiem que...". Important: feu-les vostres, no les recitis. Si l'equip no està d'acord amb alguna, canvieu-la, però que hi hagi les tres coses: recomanació, valoració i predicció.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llegir-les. Una frase: "aquestes són les fonts; les especificacions primàries són el RFC 6455 i el HTML Living Standard, i la resta són documentació i fonts secundàries". Dos segons i passar.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Element obligatori de la rúbrica: l'última transparència ha d'explicar com s'han distribuït les tasques. Deixar-la a la pantalla mentre es responen les preguntes. Dir-la en una frase: "ens hem repartit la feina així, i la recerca i la revisió les hem fet entre tots". ATENCIÓ: la taula ha de dir la veritat del que heu fet realment, no el que diu aquesta plantilla.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8F6"/>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23974"/>
          </a:xfrm>
          <a:prstGeom prst="rect">
            <a:avLst/>
          </a:prstGeom>
          <a:noFill/>
          <a:ln/>
        </p:spPr>
        <p:txBody>
          <a:bodyPr wrap="square" lIns="0" tIns="0" rIns="0" bIns="0" rtlCol="0" anchor="t"/>
          <a:lstStyle>
            <a:lvl1pPr algn="l" indent="0" marL="0">
              <a:lnSpc>
                <a:spcPct val="115000"/>
              </a:lnSpc>
              <a:buNone/>
              <a:defRPr lang="en-US" sz="3589" dirty="0">
                <a:solidFill>
                  <a:srgbClr val="15202B"/>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589" dirty="0"/>
          </a:p>
        </p:txBody>
      </p:sp>
      <p:sp>
        <p:nvSpPr>
          <p:cNvPr id="3" name="Text Placeholder 2"/>
          <p:cNvSpPr/>
          <p:nvPr>
            <p:ph idx="101" type="body"/>
          </p:nvPr>
        </p:nvSpPr>
        <p:spPr>
          <a:xfrm>
            <a:off x="812800" y="1641574"/>
            <a:ext cx="10566400" cy="4403626"/>
          </a:xfrm>
          <a:prstGeom prst="rect">
            <a:avLst/>
          </a:prstGeom>
          <a:noFill/>
          <a:ln/>
        </p:spPr>
        <p:txBody>
          <a:bodyPr wrap="square" lIns="0" tIns="0" rIns="0" bIns="0" rtlCol="0" anchor="t"/>
          <a:lstStyle>
            <a:lvl1pPr algn="l" indent="0" marL="0">
              <a:lnSpc>
                <a:spcPct val="140000"/>
              </a:lnSpc>
              <a:buNone/>
              <a:defRPr lang="en-US" sz="1600" dirty="0">
                <a:solidFill>
                  <a:srgbClr val="15202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8F6"/>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23974"/>
          </a:xfrm>
          <a:prstGeom prst="rect">
            <a:avLst/>
          </a:prstGeom>
          <a:noFill/>
          <a:ln/>
        </p:spPr>
        <p:txBody>
          <a:bodyPr wrap="square" lIns="0" tIns="0" rIns="0" bIns="0" rtlCol="0" anchor="t"/>
          <a:lstStyle>
            <a:lvl1pPr algn="l" indent="0" marL="0">
              <a:lnSpc>
                <a:spcPct val="115000"/>
              </a:lnSpc>
              <a:buNone/>
              <a:defRPr lang="en-US" sz="3589" dirty="0">
                <a:solidFill>
                  <a:srgbClr val="15202B"/>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589" dirty="0"/>
          </a:p>
        </p:txBody>
      </p:sp>
      <p:sp>
        <p:nvSpPr>
          <p:cNvPr id="3" name="Text Placeholder 2"/>
          <p:cNvSpPr/>
          <p:nvPr>
            <p:ph idx="101" type="body"/>
          </p:nvPr>
        </p:nvSpPr>
        <p:spPr>
          <a:xfrm>
            <a:off x="812800" y="1641574"/>
            <a:ext cx="10566400" cy="4403626"/>
          </a:xfrm>
          <a:prstGeom prst="rect">
            <a:avLst/>
          </a:prstGeom>
          <a:noFill/>
          <a:ln/>
        </p:spPr>
        <p:txBody>
          <a:bodyPr wrap="square" lIns="0" tIns="0" rIns="0" bIns="0" rtlCol="0" anchor="t"/>
          <a:lstStyle>
            <a:lvl1pPr algn="l" indent="0" marL="0">
              <a:lnSpc>
                <a:spcPct val="140000"/>
              </a:lnSpc>
              <a:buNone/>
              <a:defRPr lang="en-US" sz="1600" dirty="0">
                <a:solidFill>
                  <a:srgbClr val="15202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02B"/>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10" kern="0" dirty="0">
                <a:solidFill>
                  <a:srgbClr val="F59E0B"/>
                </a:solidFill>
                <a:latin typeface="JetBrains Mono" pitchFamily="49" charset="0"/>
                <a:ea typeface="JetBrains Mono" pitchFamily="49" charset="-122"/>
                <a:cs typeface="JetBrains Mono" pitchFamily="49" charset="-120"/>
              </a:rPr>
              <a:t>ASW · PRESENTACIÓ 1</a:t>
            </a:r>
            <a:endParaRPr lang="en-US" sz="1400" dirty="0"/>
          </a:p>
        </p:txBody>
      </p:sp>
      <p:sp>
        <p:nvSpPr>
          <p:cNvPr id="3" name="Text 1"/>
          <p:cNvSpPr/>
          <p:nvPr>
            <p:ph type="title"/>
          </p:nvPr>
        </p:nvSpPr>
        <p:spPr>
          <a:xfrm>
            <a:off x="812800" y="2022475"/>
            <a:ext cx="10883392" cy="1492250"/>
          </a:xfrm>
          <a:prstGeom prst="rect">
            <a:avLst/>
          </a:prstGeom>
          <a:noFill/>
          <a:ln/>
        </p:spPr>
        <p:txBody>
          <a:bodyPr wrap="square" lIns="0" tIns="0" rIns="0" bIns="0" rtlCol="0" anchor="t">
            <a:normAutofit/>
          </a:bodyPr>
          <a:lstStyle/>
          <a:p>
            <a:pPr algn="l" indent="0" marL="0">
              <a:lnSpc>
                <a:spcPts val="5775"/>
              </a:lnSpc>
              <a:buNone/>
            </a:pPr>
            <a:r>
              <a:rPr lang="en-US" sz="5500" b="1" i="0" dirty="0">
                <a:solidFill>
                  <a:srgbClr val="F7F8F6"/>
                </a:solidFill>
                <a:latin typeface="IBM Plex Sans" pitchFamily="34" charset="0"/>
                <a:ea typeface="IBM Plex Sans" pitchFamily="34" charset="-122"/>
                <a:cs typeface="IBM Plex Sans" pitchFamily="34" charset="-120"/>
              </a:rPr>
              <a:t>WebSockets i</a:t>
            </a:r>
            <a:endParaRPr lang="en-US" sz="5500" dirty="0"/>
          </a:p>
          <a:p>
            <a:pPr algn="l" indent="0" marL="0">
              <a:lnSpc>
                <a:spcPts val="5775"/>
              </a:lnSpc>
              <a:buNone/>
            </a:pPr>
            <a:r>
              <a:rPr lang="en-US" sz="5500" b="1" i="0" dirty="0">
                <a:solidFill>
                  <a:srgbClr val="F7F8F6"/>
                </a:solidFill>
                <a:latin typeface="IBM Plex Sans" pitchFamily="34" charset="0"/>
                <a:ea typeface="IBM Plex Sans" pitchFamily="34" charset="-122"/>
                <a:cs typeface="IBM Plex Sans" pitchFamily="34" charset="-120"/>
              </a:rPr>
              <a:t>Server-Sent Events</a:t>
            </a:r>
            <a:endParaRPr lang="en-US" sz="5500" dirty="0"/>
          </a:p>
        </p:txBody>
      </p:sp>
      <p:sp>
        <p:nvSpPr>
          <p:cNvPr id="4" name="Text 2"/>
          <p:cNvSpPr/>
          <p:nvPr/>
        </p:nvSpPr>
        <p:spPr>
          <a:xfrm>
            <a:off x="812800" y="3717925"/>
            <a:ext cx="8502650" cy="398760"/>
          </a:xfrm>
          <a:prstGeom prst="rect">
            <a:avLst/>
          </a:prstGeom>
          <a:noFill/>
          <a:ln/>
        </p:spPr>
        <p:txBody>
          <a:bodyPr wrap="square" lIns="0" tIns="0" rIns="0" bIns="0" rtlCol="0" anchor="t">
            <a:normAutofit/>
          </a:bodyPr>
          <a:lstStyle/>
          <a:p>
            <a:pPr algn="l" indent="0" marL="0">
              <a:lnSpc>
                <a:spcPts val="2940"/>
              </a:lnSpc>
              <a:buNone/>
            </a:pPr>
            <a:r>
              <a:rPr lang="en-US" sz="2100" dirty="0">
                <a:solidFill>
                  <a:srgbClr val="9FB0C0"/>
                </a:solidFill>
                <a:latin typeface="IBM Plex Sans" pitchFamily="34" charset="0"/>
                <a:ea typeface="IBM Plex Sans" pitchFamily="34" charset="-122"/>
                <a:cs typeface="IBM Plex Sans" pitchFamily="34" charset="-120"/>
              </a:rPr>
              <a:t>Com aconseguim que el servidor parli primer</a:t>
            </a:r>
            <a:endParaRPr lang="en-US" sz="2100" dirty="0"/>
          </a:p>
        </p:txBody>
      </p:sp>
      <p:pic>
        <p:nvPicPr>
          <p:cNvPr id="5" name="Image 0" descr="line">    </p:cNvPr>
          <p:cNvPicPr>
            <a:picLocks noChangeAspect="1"/>
          </p:cNvPicPr>
          <p:nvPr/>
        </p:nvPicPr>
        <p:blipFill>
          <a:blip r:embed="rId1"/>
          <a:srcRect l="0" r="0" t="0" b="0"/>
          <a:stretch/>
        </p:blipFill>
        <p:spPr>
          <a:xfrm>
            <a:off x="812800" y="5052120"/>
            <a:ext cx="10566400" cy="12700"/>
          </a:xfrm>
          <a:prstGeom prst="rect">
            <a:avLst/>
          </a:prstGeom>
        </p:spPr>
      </p:pic>
      <p:sp>
        <p:nvSpPr>
          <p:cNvPr id="6" name="Text 3"/>
          <p:cNvSpPr/>
          <p:nvPr/>
        </p:nvSpPr>
        <p:spPr>
          <a:xfrm>
            <a:off x="812800" y="5153720"/>
            <a:ext cx="10883392"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F7F8F6"/>
                </a:solidFill>
                <a:latin typeface="IBM Plex Sans" pitchFamily="34" charset="0"/>
                <a:ea typeface="IBM Plex Sans" pitchFamily="34" charset="-122"/>
                <a:cs typeface="IBM Plex Sans" pitchFamily="34" charset="-120"/>
              </a:rPr>
              <a:t>[Nom i cognoms 1] · [Nom i cognoms 2] · [Nom i cognoms 3]</a:t>
            </a:r>
            <a:endParaRPr lang="en-US" sz="1500" dirty="0"/>
          </a:p>
          <a:p>
            <a:pPr algn="l" indent="0" marL="0">
              <a:lnSpc>
                <a:spcPts val="2250"/>
              </a:lnSpc>
              <a:buNone/>
            </a:pPr>
            <a:r>
              <a:rPr lang="en-US" sz="1500" dirty="0">
                <a:solidFill>
                  <a:srgbClr val="F7F8F6"/>
                </a:solidFill>
                <a:latin typeface="IBM Plex Sans" pitchFamily="34" charset="0"/>
                <a:ea typeface="IBM Plex Sans" pitchFamily="34" charset="-122"/>
                <a:cs typeface="IBM Plex Sans" pitchFamily="34" charset="-120"/>
              </a:rPr>
              <a:t>[Nom i cognoms 4] · [Nom i cognoms 5]</a:t>
            </a:r>
            <a:endParaRPr lang="en-US" sz="1500" dirty="0"/>
          </a:p>
        </p:txBody>
      </p:sp>
      <p:sp>
        <p:nvSpPr>
          <p:cNvPr id="7" name="Text 4"/>
          <p:cNvSpPr/>
          <p:nvPr/>
        </p:nvSpPr>
        <p:spPr>
          <a:xfrm>
            <a:off x="812800" y="581412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9FB0C0"/>
                </a:solidFill>
                <a:latin typeface="IBM Plex Sans" pitchFamily="34" charset="0"/>
                <a:ea typeface="IBM Plex Sans" pitchFamily="34" charset="-122"/>
                <a:cs typeface="IBM Plex Sans" pitchFamily="34" charset="-120"/>
              </a:rPr>
              <a:t>Grau en Enginyeria Informàtica · FIB · UPC · [data]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07305"/>
          </a:xfrm>
          <a:prstGeom prst="rect">
            <a:avLst/>
          </a:prstGeom>
          <a:noFill/>
          <a:ln/>
        </p:spPr>
        <p:txBody>
          <a:bodyPr wrap="square" lIns="0" tIns="0" rIns="0" bIns="0" rtlCol="0" anchor="t">
            <a:normAutofit/>
          </a:bodyPr>
          <a:lstStyle/>
          <a:p>
            <a:pPr algn="l" indent="0" marL="0">
              <a:lnSpc>
                <a:spcPts val="3795"/>
              </a:lnSpc>
              <a:buNone/>
            </a:pPr>
            <a:r>
              <a:rPr lang="en-US" sz="3300" b="1" i="0" dirty="0">
                <a:solidFill>
                  <a:srgbClr val="15202B"/>
                </a:solidFill>
                <a:latin typeface="IBM Plex Sans" pitchFamily="34" charset="0"/>
                <a:ea typeface="IBM Plex Sans" pitchFamily="34" charset="-122"/>
                <a:cs typeface="IBM Plex Sans" pitchFamily="34" charset="-120"/>
              </a:rPr>
              <a:t>Què són, i per què calen</a:t>
            </a:r>
            <a:endParaRPr lang="en-US" sz="3300" dirty="0"/>
          </a:p>
        </p:txBody>
      </p:sp>
      <p:sp>
        <p:nvSpPr>
          <p:cNvPr id="3" name="Text 1"/>
          <p:cNvSpPr/>
          <p:nvPr/>
        </p:nvSpPr>
        <p:spPr>
          <a:xfrm>
            <a:off x="812800" y="1574105"/>
            <a:ext cx="5598668" cy="964505"/>
          </a:xfrm>
          <a:prstGeom prst="rect">
            <a:avLst/>
          </a:prstGeom>
          <a:noFill/>
          <a:ln/>
        </p:spPr>
        <p:txBody>
          <a:bodyPr wrap="square" lIns="0" tIns="0" rIns="0" bIns="0" rtlCol="0" anchor="t">
            <a:normAutofit/>
          </a:bodyPr>
          <a:lstStyle/>
          <a:p>
            <a:pPr algn="l" indent="0" marL="0">
              <a:lnSpc>
                <a:spcPts val="2465"/>
              </a:lnSpc>
              <a:buNone/>
            </a:pPr>
            <a:r>
              <a:rPr lang="en-US" sz="1700" dirty="0">
                <a:solidFill>
                  <a:srgbClr val="15202B"/>
                </a:solidFill>
                <a:latin typeface="IBM Plex Sans" pitchFamily="34" charset="0"/>
                <a:ea typeface="IBM Plex Sans" pitchFamily="34" charset="-122"/>
                <a:cs typeface="IBM Plex Sans" pitchFamily="34" charset="-120"/>
              </a:rPr>
              <a:t>Dues tecnologies estàndard del navegador que permeten al </a:t>
            </a:r>
            <a:r>
              <a:rPr lang="en-US" sz="1700" b="1" dirty="0">
                <a:solidFill>
                  <a:srgbClr val="15202B"/>
                </a:solidFill>
                <a:latin typeface="IBM Plex Sans" pitchFamily="34" charset="0"/>
                <a:ea typeface="IBM Plex Sans" pitchFamily="34" charset="-122"/>
                <a:cs typeface="IBM Plex Sans" pitchFamily="34" charset="-120"/>
              </a:rPr>
              <a:t>servidor enviar dades al client sense que aquest les hagi demanat</a:t>
            </a:r>
            <a:r>
              <a:rPr lang="en-US" sz="1700" dirty="0">
                <a:solidFill>
                  <a:srgbClr val="15202B"/>
                </a:solidFill>
                <a:latin typeface="IBM Plex Sans" pitchFamily="34" charset="0"/>
                <a:ea typeface="IBM Plex Sans" pitchFamily="34" charset="-122"/>
                <a:cs typeface="IBM Plex Sans" pitchFamily="34" charset="-120"/>
              </a:rPr>
              <a:t>.</a:t>
            </a:r>
            <a:endParaRPr lang="en-US" sz="1700" dirty="0"/>
          </a:p>
        </p:txBody>
      </p:sp>
      <p:sp>
        <p:nvSpPr>
          <p:cNvPr id="4" name="Text 2"/>
          <p:cNvSpPr/>
          <p:nvPr/>
        </p:nvSpPr>
        <p:spPr>
          <a:xfrm>
            <a:off x="812800" y="2691011"/>
            <a:ext cx="5435600" cy="1101229"/>
          </a:xfrm>
          <a:prstGeom prst="roundRect">
            <a:avLst>
              <a:gd name="adj" fmla="val 4613"/>
            </a:avLst>
          </a:prstGeom>
          <a:solidFill>
            <a:srgbClr val="ECEEE9"/>
          </a:solidFill>
          <a:ln/>
        </p:spPr>
        <p:txBody>
          <a:bodyPr wrap="square" lIns="251821" tIns="162921" rIns="65512" bIns="137521" rtlCol="0" anchor="t">
            <a:normAutofit/>
          </a:bodyPr>
          <a:lstStyle/>
          <a:p>
            <a:pPr algn="l" indent="0" marL="0">
              <a:lnSpc>
                <a:spcPts val="1958"/>
              </a:lnSpc>
              <a:buNone/>
            </a:pPr>
            <a:r>
              <a:rPr lang="en-US" sz="1350" i="1" dirty="0">
                <a:solidFill>
                  <a:srgbClr val="4A5568"/>
                </a:solidFill>
                <a:latin typeface="IBM Plex Sans" pitchFamily="34" charset="0"/>
                <a:ea typeface="IBM Plex Sans" pitchFamily="34" charset="-122"/>
                <a:cs typeface="IBM Plex Sans" pitchFamily="34" charset="-120"/>
              </a:rPr>
              <a:t>«HTTP is one-way: clients make requests to servers, no vice versa.»</a:t>
            </a:r>
            <a:endParaRPr lang="en-US" sz="1350" dirty="0"/>
          </a:p>
          <a:p>
            <a:pPr algn="l" indent="0" marL="0">
              <a:lnSpc>
                <a:spcPts val="1958"/>
              </a:lnSpc>
              <a:buNone/>
            </a:pPr>
            <a:r>
              <a:rPr lang="en-US" sz="1350" i="1" dirty="0">
                <a:solidFill>
                  <a:srgbClr val="4A5568"/>
                </a:solidFill>
                <a:latin typeface="IBM Plex Sans" pitchFamily="34" charset="0"/>
                <a:ea typeface="IBM Plex Sans" pitchFamily="34" charset="-122"/>
                <a:cs typeface="IBM Plex Sans" pitchFamily="34" charset="-120"/>
              </a:rPr>
              <a:t>ASW, tema 2, diapositiva 26</a:t>
            </a:r>
            <a:endParaRPr lang="en-US" sz="1350" dirty="0"/>
          </a:p>
        </p:txBody>
      </p:sp>
      <p:sp>
        <p:nvSpPr>
          <p:cNvPr id="5" name="Shape 3"/>
          <p:cNvSpPr/>
          <p:nvPr/>
        </p:nvSpPr>
        <p:spPr>
          <a:xfrm>
            <a:off x="812800" y="2691011"/>
            <a:ext cx="5435600" cy="1101229"/>
          </a:xfrm>
          <a:custGeom>
            <a:avLst/>
            <a:gdLst/>
            <a:ahLst/>
            <a:cxnLst/>
            <a:rect l="l" t="t" r="r" b="b"/>
            <a:pathLst>
              <a:path w="5435600" h="1101229">
                <a:moveTo>
                  <a:pt x="50800" y="1101229"/>
                </a:moveTo>
                <a:lnTo>
                  <a:pt x="50800" y="1101229"/>
                </a:lnTo>
                <a:arcTo hR="50800" wR="50800" stAng="5400000" swAng="5400000"/>
                <a:lnTo>
                  <a:pt x="0" y="50800"/>
                </a:lnTo>
                <a:arcTo hR="50800" wR="50800" stAng="10800000" swAng="5400000"/>
                <a:lnTo>
                  <a:pt x="50800" y="0"/>
                </a:lnTo>
                <a:arcTo hR="50800" wR="12700" stAng="16200000" swAng="-5400000"/>
                <a:lnTo>
                  <a:pt x="38100" y="1050429"/>
                </a:lnTo>
                <a:arcTo hR="50800" wR="12700" stAng="10800000" swAng="-5400000"/>
                <a:close/>
              </a:path>
            </a:pathLst>
          </a:custGeom>
          <a:solidFill>
            <a:srgbClr val="15202B"/>
          </a:solidFill>
          <a:ln/>
        </p:spPr>
      </p:sp>
      <p:sp>
        <p:nvSpPr>
          <p:cNvPr id="6" name="Text 4"/>
          <p:cNvSpPr/>
          <p:nvPr/>
        </p:nvSpPr>
        <p:spPr>
          <a:xfrm>
            <a:off x="812800" y="3970040"/>
            <a:ext cx="5598668" cy="854075"/>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4A5568"/>
                </a:solidFill>
                <a:latin typeface="IBM Plex Sans" pitchFamily="34" charset="0"/>
                <a:ea typeface="IBM Plex Sans" pitchFamily="34" charset="-122"/>
                <a:cs typeface="IBM Plex Sans" pitchFamily="34" charset="-120"/>
              </a:rPr>
              <a:t>Sense elles, mig Web modern no existiria: xats, notificacions, marcadors, dashboards en viu, i el text que un model de llenguatge et va escrivint paraula a paraula.</a:t>
            </a:r>
            <a:endParaRPr lang="en-US" sz="1500" dirty="0"/>
          </a:p>
        </p:txBody>
      </p:sp>
      <p:sp>
        <p:nvSpPr>
          <p:cNvPr id="7" name="Shape 5"/>
          <p:cNvSpPr/>
          <p:nvPr/>
        </p:nvSpPr>
        <p:spPr>
          <a:xfrm>
            <a:off x="6556375" y="1577280"/>
            <a:ext cx="4819650" cy="2972891"/>
          </a:xfrm>
          <a:prstGeom prst="roundRect">
            <a:avLst>
              <a:gd name="adj" fmla="val 3311"/>
            </a:avLst>
          </a:prstGeom>
          <a:solidFill>
            <a:srgbClr val="ECEEE9"/>
          </a:solidFill>
          <a:ln w="6350">
            <a:solidFill>
              <a:srgbClr val="D7DBD4"/>
            </a:solidFill>
            <a:prstDash val="solid"/>
          </a:ln>
        </p:spPr>
      </p:sp>
      <p:sp>
        <p:nvSpPr>
          <p:cNvPr id="8" name="Text 6"/>
          <p:cNvSpPr/>
          <p:nvPr/>
        </p:nvSpPr>
        <p:spPr>
          <a:xfrm>
            <a:off x="6838950" y="1987451"/>
            <a:ext cx="1320800" cy="265410"/>
          </a:xfrm>
          <a:prstGeom prst="rect">
            <a:avLst/>
          </a:prstGeom>
          <a:noFill/>
          <a:ln/>
        </p:spPr>
        <p:txBody>
          <a:bodyPr wrap="square" lIns="0" tIns="0" rIns="0" bIns="0" rtlCol="0" anchor="t">
            <a:normAutofit/>
          </a:bodyPr>
          <a:lstStyle/>
          <a:p>
            <a:pPr algn="l" indent="0" marL="0">
              <a:lnSpc>
                <a:spcPts val="1890"/>
              </a:lnSpc>
              <a:buNone/>
            </a:pPr>
            <a:r>
              <a:rPr lang="en-US" sz="1350" b="1" dirty="0">
                <a:solidFill>
                  <a:srgbClr val="15202B"/>
                </a:solidFill>
                <a:latin typeface="IBM Plex Sans" pitchFamily="34" charset="0"/>
                <a:ea typeface="IBM Plex Sans" pitchFamily="34" charset="-122"/>
                <a:cs typeface="IBM Plex Sans" pitchFamily="34" charset="-120"/>
              </a:rPr>
              <a:t>Navegador</a:t>
            </a:r>
            <a:endParaRPr lang="en-US" sz="1350" dirty="0"/>
          </a:p>
        </p:txBody>
      </p:sp>
      <p:pic>
        <p:nvPicPr>
          <p:cNvPr id="9" name="Image 0" descr="arrow-right">    </p:cNvPr>
          <p:cNvPicPr>
            <a:picLocks noChangeAspect="1"/>
          </p:cNvPicPr>
          <p:nvPr/>
        </p:nvPicPr>
        <p:blipFill>
          <a:blip r:embed="rId1"/>
          <a:srcRect l="0" r="0" t="0" b="0"/>
          <a:stretch/>
        </p:blipFill>
        <p:spPr>
          <a:xfrm>
            <a:off x="8235950" y="1859855"/>
            <a:ext cx="1079500" cy="495300"/>
          </a:xfrm>
          <a:prstGeom prst="rect">
            <a:avLst/>
          </a:prstGeom>
        </p:spPr>
      </p:pic>
      <p:sp>
        <p:nvSpPr>
          <p:cNvPr id="10" name="Text 7"/>
          <p:cNvSpPr/>
          <p:nvPr/>
        </p:nvSpPr>
        <p:spPr>
          <a:xfrm>
            <a:off x="9442450" y="1987451"/>
            <a:ext cx="1320800" cy="265410"/>
          </a:xfrm>
          <a:prstGeom prst="rect">
            <a:avLst/>
          </a:prstGeom>
          <a:noFill/>
          <a:ln/>
        </p:spPr>
        <p:txBody>
          <a:bodyPr wrap="square" lIns="0" tIns="0" rIns="0" bIns="0" rtlCol="0" anchor="t">
            <a:normAutofit/>
          </a:bodyPr>
          <a:lstStyle/>
          <a:p>
            <a:pPr algn="l" indent="0" marL="0">
              <a:lnSpc>
                <a:spcPts val="1890"/>
              </a:lnSpc>
              <a:buNone/>
            </a:pPr>
            <a:r>
              <a:rPr lang="en-US" sz="1350" b="1" dirty="0">
                <a:solidFill>
                  <a:srgbClr val="15202B"/>
                </a:solidFill>
                <a:latin typeface="IBM Plex Sans" pitchFamily="34" charset="0"/>
                <a:ea typeface="IBM Plex Sans" pitchFamily="34" charset="-122"/>
                <a:cs typeface="IBM Plex Sans" pitchFamily="34" charset="-120"/>
              </a:rPr>
              <a:t>Servidor</a:t>
            </a:r>
            <a:endParaRPr lang="en-US" sz="1350" dirty="0"/>
          </a:p>
        </p:txBody>
      </p:sp>
      <p:sp>
        <p:nvSpPr>
          <p:cNvPr id="11" name="Text 8"/>
          <p:cNvSpPr/>
          <p:nvPr/>
        </p:nvSpPr>
        <p:spPr>
          <a:xfrm>
            <a:off x="6838950" y="2532955"/>
            <a:ext cx="4382135"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HTTP: el client pregunta, i sempre comença ell.</a:t>
            </a:r>
            <a:endParaRPr lang="en-US" sz="1300" dirty="0"/>
          </a:p>
        </p:txBody>
      </p:sp>
      <p:pic>
        <p:nvPicPr>
          <p:cNvPr id="12" name="Image 1" descr="line">    </p:cNvPr>
          <p:cNvPicPr>
            <a:picLocks noChangeAspect="1"/>
          </p:cNvPicPr>
          <p:nvPr/>
        </p:nvPicPr>
        <p:blipFill>
          <a:blip r:embed="rId2"/>
          <a:srcRect l="0" r="0" t="0" b="0"/>
          <a:stretch/>
        </p:blipFill>
        <p:spPr>
          <a:xfrm>
            <a:off x="6838950" y="2941836"/>
            <a:ext cx="4254500" cy="12700"/>
          </a:xfrm>
          <a:prstGeom prst="rect">
            <a:avLst/>
          </a:prstGeom>
        </p:spPr>
      </p:pic>
      <p:sp>
        <p:nvSpPr>
          <p:cNvPr id="13" name="Text 9"/>
          <p:cNvSpPr/>
          <p:nvPr/>
        </p:nvSpPr>
        <p:spPr>
          <a:xfrm>
            <a:off x="6838950" y="3259931"/>
            <a:ext cx="1320800" cy="265410"/>
          </a:xfrm>
          <a:prstGeom prst="rect">
            <a:avLst/>
          </a:prstGeom>
          <a:noFill/>
          <a:ln/>
        </p:spPr>
        <p:txBody>
          <a:bodyPr wrap="square" lIns="0" tIns="0" rIns="0" bIns="0" rtlCol="0" anchor="t">
            <a:normAutofit/>
          </a:bodyPr>
          <a:lstStyle/>
          <a:p>
            <a:pPr algn="l" indent="0" marL="0">
              <a:lnSpc>
                <a:spcPts val="1890"/>
              </a:lnSpc>
              <a:buNone/>
            </a:pPr>
            <a:r>
              <a:rPr lang="en-US" sz="1350" b="1" dirty="0">
                <a:solidFill>
                  <a:srgbClr val="15202B">
                    <a:alpha val="50000"/>
                  </a:srgbClr>
                </a:solidFill>
                <a:latin typeface="IBM Plex Sans" pitchFamily="34" charset="0"/>
                <a:ea typeface="IBM Plex Sans" pitchFamily="34" charset="-122"/>
                <a:cs typeface="IBM Plex Sans" pitchFamily="34" charset="-120"/>
              </a:rPr>
              <a:t>Navegador</a:t>
            </a:r>
            <a:endParaRPr lang="en-US" sz="1350" dirty="0"/>
          </a:p>
        </p:txBody>
      </p:sp>
      <p:pic>
        <p:nvPicPr>
          <p:cNvPr id="14" name="Image 2" descr="arrow-left">    </p:cNvPr>
          <p:cNvPicPr>
            <a:picLocks noChangeAspect="1"/>
          </p:cNvPicPr>
          <p:nvPr/>
        </p:nvPicPr>
        <p:blipFill>
          <a:blip r:embed="rId3"/>
          <a:srcRect l="0" r="0" t="0" b="0"/>
          <a:stretch/>
        </p:blipFill>
        <p:spPr>
          <a:xfrm>
            <a:off x="8235950" y="3132336"/>
            <a:ext cx="1079500" cy="495300"/>
          </a:xfrm>
          <a:prstGeom prst="rect">
            <a:avLst/>
          </a:prstGeom>
        </p:spPr>
      </p:pic>
      <p:sp>
        <p:nvSpPr>
          <p:cNvPr id="15" name="Text 10"/>
          <p:cNvSpPr/>
          <p:nvPr/>
        </p:nvSpPr>
        <p:spPr>
          <a:xfrm>
            <a:off x="9442450" y="3259931"/>
            <a:ext cx="1320800" cy="265410"/>
          </a:xfrm>
          <a:prstGeom prst="rect">
            <a:avLst/>
          </a:prstGeom>
          <a:noFill/>
          <a:ln/>
        </p:spPr>
        <p:txBody>
          <a:bodyPr wrap="square" lIns="0" tIns="0" rIns="0" bIns="0" rtlCol="0" anchor="t">
            <a:normAutofit/>
          </a:bodyPr>
          <a:lstStyle/>
          <a:p>
            <a:pPr algn="l" indent="0" marL="0">
              <a:lnSpc>
                <a:spcPts val="1890"/>
              </a:lnSpc>
              <a:buNone/>
            </a:pPr>
            <a:r>
              <a:rPr lang="en-US" sz="1350" b="1" dirty="0">
                <a:solidFill>
                  <a:srgbClr val="15202B">
                    <a:alpha val="50000"/>
                  </a:srgbClr>
                </a:solidFill>
                <a:latin typeface="IBM Plex Sans" pitchFamily="34" charset="0"/>
                <a:ea typeface="IBM Plex Sans" pitchFamily="34" charset="-122"/>
                <a:cs typeface="IBM Plex Sans" pitchFamily="34" charset="-120"/>
              </a:rPr>
              <a:t>Servidor</a:t>
            </a:r>
            <a:endParaRPr lang="en-US" sz="1350" dirty="0"/>
          </a:p>
        </p:txBody>
      </p:sp>
      <p:sp>
        <p:nvSpPr>
          <p:cNvPr id="16" name="Text 11"/>
          <p:cNvSpPr/>
          <p:nvPr/>
        </p:nvSpPr>
        <p:spPr>
          <a:xfrm>
            <a:off x="6838950" y="3805436"/>
            <a:ext cx="4382135"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45309"/>
                </a:solidFill>
                <a:latin typeface="IBM Plex Sans" pitchFamily="34" charset="0"/>
                <a:ea typeface="IBM Plex Sans" pitchFamily="34" charset="-122"/>
                <a:cs typeface="IBM Plex Sans" pitchFamily="34" charset="-120"/>
              </a:rPr>
              <a:t>Això no existeix a HTTP.</a:t>
            </a:r>
            <a:r>
              <a:rPr lang="en-US" sz="1300" dirty="0">
                <a:solidFill>
                  <a:srgbClr val="B45309"/>
                </a:solidFill>
                <a:latin typeface="IBM Plex Sans" pitchFamily="34" charset="0"/>
                <a:ea typeface="IBM Plex Sans" pitchFamily="34" charset="-122"/>
                <a:cs typeface="IBM Plex Sans" pitchFamily="34" charset="-120"/>
              </a:rPr>
              <a:t> És el buit que omplen SSE i WebSockets.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85378"/>
          </a:xfrm>
          <a:prstGeom prst="rect">
            <a:avLst/>
          </a:prstGeom>
          <a:noFill/>
          <a:ln/>
        </p:spPr>
        <p:txBody>
          <a:bodyPr wrap="square" lIns="0" tIns="0" rIns="0" bIns="0" rtlCol="0" anchor="t">
            <a:normAutofit/>
          </a:bodyPr>
          <a:lstStyle/>
          <a:p>
            <a:pPr algn="l" indent="0" marL="0">
              <a:lnSpc>
                <a:spcPts val="3617"/>
              </a:lnSpc>
              <a:buNone/>
            </a:pPr>
            <a:r>
              <a:rPr lang="en-US" sz="3145" b="1" i="0" dirty="0">
                <a:solidFill>
                  <a:srgbClr val="15202B"/>
                </a:solidFill>
                <a:latin typeface="IBM Plex Sans" pitchFamily="34" charset="0"/>
                <a:ea typeface="IBM Plex Sans" pitchFamily="34" charset="-122"/>
                <a:cs typeface="IBM Plex Sans" pitchFamily="34" charset="-120"/>
              </a:rPr>
              <a:t>Com hi hem arribat</a:t>
            </a:r>
            <a:endParaRPr lang="en-US" sz="3145" dirty="0"/>
          </a:p>
        </p:txBody>
      </p:sp>
      <p:sp>
        <p:nvSpPr>
          <p:cNvPr id="3" name="Shape 1"/>
          <p:cNvSpPr/>
          <p:nvPr/>
        </p:nvSpPr>
        <p:spPr>
          <a:xfrm>
            <a:off x="812800" y="1501378"/>
            <a:ext cx="10566400" cy="779859"/>
          </a:xfrm>
          <a:prstGeom prst="roundRect">
            <a:avLst>
              <a:gd name="adj" fmla="val 9771"/>
            </a:avLst>
          </a:prstGeom>
          <a:solidFill>
            <a:srgbClr val="ECEEE9"/>
          </a:solidFill>
          <a:ln/>
        </p:spPr>
      </p:sp>
      <p:sp>
        <p:nvSpPr>
          <p:cNvPr id="4" name="Text 2"/>
          <p:cNvSpPr/>
          <p:nvPr/>
        </p:nvSpPr>
        <p:spPr>
          <a:xfrm>
            <a:off x="1016000" y="1653778"/>
            <a:ext cx="10464800" cy="500459"/>
          </a:xfrm>
          <a:prstGeom prst="rect">
            <a:avLst/>
          </a:prstGeom>
          <a:noFill/>
          <a:ln/>
        </p:spPr>
        <p:txBody>
          <a:bodyPr wrap="square" lIns="0" tIns="0" rIns="0" bIns="0" rtlCol="0" anchor="t">
            <a:normAutofit/>
          </a:bodyPr>
          <a:lstStyle/>
          <a:p>
            <a:pPr algn="l" indent="0" marL="0">
              <a:lnSpc>
                <a:spcPts val="1886"/>
              </a:lnSpc>
              <a:buNone/>
            </a:pPr>
            <a:r>
              <a:rPr lang="en-US" sz="1347" b="1" dirty="0">
                <a:solidFill>
                  <a:srgbClr val="15202B"/>
                </a:solidFill>
                <a:latin typeface="IBM Plex Sans" pitchFamily="34" charset="0"/>
                <a:ea typeface="IBM Plex Sans" pitchFamily="34" charset="-122"/>
                <a:cs typeface="IBM Plex Sans" pitchFamily="34" charset="-120"/>
              </a:rPr>
              <a:t>Abans de tot:</a:t>
            </a:r>
            <a:r>
              <a:rPr lang="en-US" sz="1347" dirty="0">
                <a:solidFill>
                  <a:srgbClr val="4A5568"/>
                </a:solidFill>
                <a:latin typeface="IBM Plex Sans" pitchFamily="34" charset="0"/>
                <a:ea typeface="IBM Plex Sans" pitchFamily="34" charset="-122"/>
                <a:cs typeface="IBM Plex Sans" pitchFamily="34" charset="-120"/>
              </a:rPr>
              <a:t> anys 2000, l'època dels pedaços — </a:t>
            </a:r>
            <a:r>
              <a:rPr lang="en-US" sz="1347" i="1" dirty="0">
                <a:solidFill>
                  <a:srgbClr val="4A5568"/>
                </a:solidFill>
                <a:latin typeface="IBM Plex Sans" pitchFamily="34" charset="0"/>
                <a:ea typeface="IBM Plex Sans" pitchFamily="34" charset="-122"/>
                <a:cs typeface="IBM Plex Sans" pitchFamily="34" charset="-120"/>
              </a:rPr>
              <a:t>polling</a:t>
            </a:r>
            <a:r>
              <a:rPr lang="en-US" sz="1347" dirty="0">
                <a:solidFill>
                  <a:srgbClr val="4A5568"/>
                </a:solidFill>
                <a:latin typeface="IBM Plex Sans" pitchFamily="34" charset="0"/>
                <a:ea typeface="IBM Plex Sans" pitchFamily="34" charset="-122"/>
                <a:cs typeface="IBM Plex Sans" pitchFamily="34" charset="-120"/>
              </a:rPr>
              <a:t> (preguntar cada N segons) i </a:t>
            </a:r>
            <a:r>
              <a:rPr lang="en-US" sz="1347" i="1" dirty="0">
                <a:solidFill>
                  <a:srgbClr val="4A5568"/>
                </a:solidFill>
                <a:latin typeface="IBM Plex Sans" pitchFamily="34" charset="0"/>
                <a:ea typeface="IBM Plex Sans" pitchFamily="34" charset="-122"/>
                <a:cs typeface="IBM Plex Sans" pitchFamily="34" charset="-120"/>
              </a:rPr>
              <a:t>long polling</a:t>
            </a:r>
            <a:r>
              <a:rPr lang="en-US" sz="1347" dirty="0">
                <a:solidFill>
                  <a:srgbClr val="4A5568"/>
                </a:solidFill>
                <a:latin typeface="IBM Plex Sans" pitchFamily="34" charset="0"/>
                <a:ea typeface="IBM Plex Sans" pitchFamily="34" charset="-122"/>
                <a:cs typeface="IBM Plex Sans" pitchFamily="34" charset="-120"/>
              </a:rPr>
              <a:t> o Comet (el servidor reté la petició fins que té novetats).</a:t>
            </a:r>
            <a:endParaRPr lang="en-US" sz="1347" dirty="0"/>
          </a:p>
        </p:txBody>
      </p:sp>
      <p:sp>
        <p:nvSpPr>
          <p:cNvPr id="5" name="Shape 3"/>
          <p:cNvSpPr/>
          <p:nvPr/>
        </p:nvSpPr>
        <p:spPr>
          <a:xfrm>
            <a:off x="812800" y="2509838"/>
            <a:ext cx="5181600" cy="2574727"/>
          </a:xfrm>
          <a:prstGeom prst="roundRect">
            <a:avLst>
              <a:gd name="adj" fmla="val 3946"/>
            </a:avLst>
          </a:prstGeom>
          <a:solidFill>
            <a:srgbClr val="ECEEE9"/>
          </a:solidFill>
          <a:ln/>
        </p:spPr>
      </p:sp>
      <p:sp>
        <p:nvSpPr>
          <p:cNvPr id="6" name="Shape 4"/>
          <p:cNvSpPr/>
          <p:nvPr/>
        </p:nvSpPr>
        <p:spPr>
          <a:xfrm>
            <a:off x="812800" y="2509838"/>
            <a:ext cx="5181600" cy="2574727"/>
          </a:xfrm>
          <a:custGeom>
            <a:avLst/>
            <a:gdLst/>
            <a:ahLst/>
            <a:cxnLst/>
            <a:rect l="l" t="t" r="r" b="b"/>
            <a:pathLst>
              <a:path w="5181600" h="2574727">
                <a:moveTo>
                  <a:pt x="0" y="101600"/>
                </a:moveTo>
                <a:lnTo>
                  <a:pt x="0" y="101600"/>
                </a:lnTo>
                <a:arcTo hR="101600" wR="101600" stAng="10800000" swAng="5400000"/>
                <a:lnTo>
                  <a:pt x="5080000" y="0"/>
                </a:lnTo>
                <a:arcTo hR="101600" wR="101600" stAng="16200000" swAng="5400000"/>
                <a:lnTo>
                  <a:pt x="5181600" y="101600"/>
                </a:lnTo>
                <a:arcTo hR="50800" wR="101600" stAng="0" swAng="-5400000"/>
                <a:lnTo>
                  <a:pt x="101600" y="50800"/>
                </a:lnTo>
                <a:arcTo hR="50800" wR="101600" stAng="16200000" swAng="-5400000"/>
                <a:close/>
              </a:path>
            </a:pathLst>
          </a:custGeom>
          <a:solidFill>
            <a:srgbClr val="D97706"/>
          </a:solidFill>
          <a:ln/>
        </p:spPr>
      </p:sp>
      <p:sp>
        <p:nvSpPr>
          <p:cNvPr id="7" name="Text 5"/>
          <p:cNvSpPr/>
          <p:nvPr/>
        </p:nvSpPr>
        <p:spPr>
          <a:xfrm>
            <a:off x="1066800" y="2814638"/>
            <a:ext cx="481380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309"/>
                </a:solidFill>
                <a:latin typeface="IBM Plex Sans" pitchFamily="34" charset="0"/>
                <a:ea typeface="IBM Plex Sans" pitchFamily="34" charset="-122"/>
                <a:cs typeface="IBM Plex Sans" pitchFamily="34" charset="-120"/>
              </a:rPr>
              <a:t>Server-Sent Events</a:t>
            </a:r>
            <a:endParaRPr lang="en-US" sz="1600" dirty="0"/>
          </a:p>
        </p:txBody>
      </p:sp>
      <p:sp>
        <p:nvSpPr>
          <p:cNvPr id="8" name="Text 6"/>
          <p:cNvSpPr/>
          <p:nvPr/>
        </p:nvSpPr>
        <p:spPr>
          <a:xfrm>
            <a:off x="1066800" y="3185418"/>
            <a:ext cx="1003300"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45309"/>
                </a:solidFill>
                <a:latin typeface="JetBrains Mono" pitchFamily="49" charset="0"/>
                <a:ea typeface="JetBrains Mono" pitchFamily="49" charset="-122"/>
                <a:cs typeface="JetBrains Mono" pitchFamily="49" charset="-120"/>
              </a:rPr>
              <a:t>2004-06</a:t>
            </a:r>
            <a:endParaRPr lang="en-US" sz="1300" dirty="0"/>
          </a:p>
        </p:txBody>
      </p:sp>
      <p:sp>
        <p:nvSpPr>
          <p:cNvPr id="9" name="Text 7"/>
          <p:cNvSpPr/>
          <p:nvPr/>
        </p:nvSpPr>
        <p:spPr>
          <a:xfrm>
            <a:off x="2146300" y="3185418"/>
            <a:ext cx="3701923"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Ian Hickson l'especifica al WHATWG. Opera 9 el prova.</a:t>
            </a:r>
            <a:endParaRPr lang="en-US" sz="1300" dirty="0"/>
          </a:p>
        </p:txBody>
      </p:sp>
      <p:sp>
        <p:nvSpPr>
          <p:cNvPr id="10" name="Text 8"/>
          <p:cNvSpPr/>
          <p:nvPr/>
        </p:nvSpPr>
        <p:spPr>
          <a:xfrm>
            <a:off x="1066800" y="3774579"/>
            <a:ext cx="10033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45309"/>
                </a:solidFill>
                <a:latin typeface="JetBrains Mono" pitchFamily="49" charset="0"/>
                <a:ea typeface="JetBrains Mono" pitchFamily="49" charset="-122"/>
                <a:cs typeface="JetBrains Mono" pitchFamily="49" charset="-120"/>
              </a:rPr>
              <a:t>2010-11</a:t>
            </a:r>
            <a:endParaRPr lang="en-US" sz="1300" dirty="0"/>
          </a:p>
        </p:txBody>
      </p:sp>
      <p:sp>
        <p:nvSpPr>
          <p:cNvPr id="11" name="Text 9"/>
          <p:cNvSpPr/>
          <p:nvPr/>
        </p:nvSpPr>
        <p:spPr>
          <a:xfrm>
            <a:off x="2146300" y="3774579"/>
            <a:ext cx="345293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Chrome, Safari i Firefox l'implementen.</a:t>
            </a:r>
            <a:endParaRPr lang="en-US" sz="1300" dirty="0"/>
          </a:p>
        </p:txBody>
      </p:sp>
      <p:sp>
        <p:nvSpPr>
          <p:cNvPr id="12" name="Text 10"/>
          <p:cNvSpPr/>
          <p:nvPr/>
        </p:nvSpPr>
        <p:spPr>
          <a:xfrm>
            <a:off x="1066800" y="4132659"/>
            <a:ext cx="1003300"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45309"/>
                </a:solidFill>
                <a:latin typeface="JetBrains Mono" pitchFamily="49" charset="0"/>
                <a:ea typeface="JetBrains Mono" pitchFamily="49" charset="-122"/>
                <a:cs typeface="JetBrains Mono" pitchFamily="49" charset="-120"/>
              </a:rPr>
              <a:t>2015</a:t>
            </a:r>
            <a:endParaRPr lang="en-US" sz="1300" dirty="0"/>
          </a:p>
        </p:txBody>
      </p:sp>
      <p:sp>
        <p:nvSpPr>
          <p:cNvPr id="13" name="Text 11"/>
          <p:cNvSpPr/>
          <p:nvPr/>
        </p:nvSpPr>
        <p:spPr>
          <a:xfrm>
            <a:off x="2146300" y="4132659"/>
            <a:ext cx="3701923"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Recomanació del W3C. Avui viu al HTML Living Standard.</a:t>
            </a:r>
            <a:endParaRPr lang="en-US" sz="1300" dirty="0"/>
          </a:p>
        </p:txBody>
      </p:sp>
      <p:sp>
        <p:nvSpPr>
          <p:cNvPr id="14" name="Shape 12"/>
          <p:cNvSpPr/>
          <p:nvPr/>
        </p:nvSpPr>
        <p:spPr>
          <a:xfrm>
            <a:off x="6197600" y="2509838"/>
            <a:ext cx="5181600" cy="2574727"/>
          </a:xfrm>
          <a:prstGeom prst="roundRect">
            <a:avLst>
              <a:gd name="adj" fmla="val 3946"/>
            </a:avLst>
          </a:prstGeom>
          <a:solidFill>
            <a:srgbClr val="ECEEE9"/>
          </a:solidFill>
          <a:ln/>
        </p:spPr>
      </p:sp>
      <p:sp>
        <p:nvSpPr>
          <p:cNvPr id="15" name="Shape 13"/>
          <p:cNvSpPr/>
          <p:nvPr/>
        </p:nvSpPr>
        <p:spPr>
          <a:xfrm>
            <a:off x="6197600" y="2509838"/>
            <a:ext cx="5181600" cy="2574727"/>
          </a:xfrm>
          <a:custGeom>
            <a:avLst/>
            <a:gdLst/>
            <a:ahLst/>
            <a:cxnLst/>
            <a:rect l="l" t="t" r="r" b="b"/>
            <a:pathLst>
              <a:path w="5181600" h="2574727">
                <a:moveTo>
                  <a:pt x="0" y="101600"/>
                </a:moveTo>
                <a:lnTo>
                  <a:pt x="0" y="101600"/>
                </a:lnTo>
                <a:arcTo hR="101600" wR="101600" stAng="10800000" swAng="5400000"/>
                <a:lnTo>
                  <a:pt x="5080000" y="0"/>
                </a:lnTo>
                <a:arcTo hR="101600" wR="101600" stAng="16200000" swAng="5400000"/>
                <a:lnTo>
                  <a:pt x="5181600" y="101600"/>
                </a:lnTo>
                <a:arcTo hR="50800" wR="101600" stAng="0" swAng="-5400000"/>
                <a:lnTo>
                  <a:pt x="101600" y="50800"/>
                </a:lnTo>
                <a:arcTo hR="50800" wR="101600" stAng="16200000" swAng="-5400000"/>
                <a:close/>
              </a:path>
            </a:pathLst>
          </a:custGeom>
          <a:solidFill>
            <a:srgbClr val="2563EB"/>
          </a:solidFill>
          <a:ln/>
        </p:spPr>
      </p:sp>
      <p:sp>
        <p:nvSpPr>
          <p:cNvPr id="16" name="Text 14"/>
          <p:cNvSpPr/>
          <p:nvPr/>
        </p:nvSpPr>
        <p:spPr>
          <a:xfrm>
            <a:off x="6451600" y="2814638"/>
            <a:ext cx="4813808" cy="250825"/>
          </a:xfrm>
          <a:prstGeom prst="rect">
            <a:avLst/>
          </a:prstGeom>
          <a:noFill/>
          <a:ln/>
        </p:spPr>
        <p:txBody>
          <a:bodyPr wrap="square" lIns="0" tIns="0" rIns="0" bIns="0" rtlCol="0" anchor="t">
            <a:normAutofit/>
          </a:bodyPr>
          <a:lstStyle/>
          <a:p>
            <a:pPr algn="l" indent="0" marL="0">
              <a:lnSpc>
                <a:spcPts val="1824"/>
              </a:lnSpc>
              <a:buNone/>
            </a:pPr>
            <a:r>
              <a:rPr lang="en-US" sz="1520" b="1" dirty="0">
                <a:solidFill>
                  <a:srgbClr val="2563EB"/>
                </a:solidFill>
                <a:latin typeface="IBM Plex Sans" pitchFamily="34" charset="0"/>
                <a:ea typeface="IBM Plex Sans" pitchFamily="34" charset="-122"/>
                <a:cs typeface="IBM Plex Sans" pitchFamily="34" charset="-120"/>
              </a:rPr>
              <a:t>WebSockets</a:t>
            </a:r>
            <a:endParaRPr lang="en-US" sz="1520" dirty="0"/>
          </a:p>
        </p:txBody>
      </p:sp>
      <p:sp>
        <p:nvSpPr>
          <p:cNvPr id="17" name="Text 15"/>
          <p:cNvSpPr/>
          <p:nvPr/>
        </p:nvSpPr>
        <p:spPr>
          <a:xfrm>
            <a:off x="6451600" y="3167063"/>
            <a:ext cx="1003300" cy="23911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JetBrains Mono" pitchFamily="49" charset="0"/>
                <a:ea typeface="JetBrains Mono" pitchFamily="49" charset="-122"/>
                <a:cs typeface="JetBrains Mono" pitchFamily="49" charset="-120"/>
              </a:rPr>
              <a:t>2008</a:t>
            </a:r>
            <a:endParaRPr lang="en-US" sz="1300" dirty="0"/>
          </a:p>
        </p:txBody>
      </p:sp>
      <p:sp>
        <p:nvSpPr>
          <p:cNvPr id="18" name="Text 16"/>
          <p:cNvSpPr/>
          <p:nvPr/>
        </p:nvSpPr>
        <p:spPr>
          <a:xfrm>
            <a:off x="7531100" y="3167063"/>
            <a:ext cx="2644973" cy="23911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Carter i Hickson li posen nom.</a:t>
            </a:r>
            <a:endParaRPr lang="en-US" sz="1300" dirty="0"/>
          </a:p>
        </p:txBody>
      </p:sp>
      <p:sp>
        <p:nvSpPr>
          <p:cNvPr id="19" name="Text 17"/>
          <p:cNvSpPr/>
          <p:nvPr/>
        </p:nvSpPr>
        <p:spPr>
          <a:xfrm>
            <a:off x="6451600" y="3507780"/>
            <a:ext cx="1003300" cy="45293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JetBrains Mono" pitchFamily="49" charset="0"/>
                <a:ea typeface="JetBrains Mono" pitchFamily="49" charset="-122"/>
                <a:cs typeface="JetBrains Mono" pitchFamily="49" charset="-120"/>
              </a:rPr>
              <a:t>2010</a:t>
            </a:r>
            <a:endParaRPr lang="en-US" sz="1300" dirty="0"/>
          </a:p>
        </p:txBody>
      </p:sp>
      <p:sp>
        <p:nvSpPr>
          <p:cNvPr id="20" name="Text 18"/>
          <p:cNvSpPr/>
          <p:nvPr/>
        </p:nvSpPr>
        <p:spPr>
          <a:xfrm>
            <a:off x="7531100" y="3507780"/>
            <a:ext cx="3701923" cy="45293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Passa a l'IETF. Esborranys incompatibles entre navegadors.</a:t>
            </a:r>
            <a:endParaRPr lang="en-US" sz="1300" dirty="0"/>
          </a:p>
        </p:txBody>
      </p:sp>
      <p:sp>
        <p:nvSpPr>
          <p:cNvPr id="21" name="Text 19"/>
          <p:cNvSpPr/>
          <p:nvPr/>
        </p:nvSpPr>
        <p:spPr>
          <a:xfrm>
            <a:off x="6451600" y="4062313"/>
            <a:ext cx="1003300" cy="23911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JetBrains Mono" pitchFamily="49" charset="0"/>
                <a:ea typeface="JetBrains Mono" pitchFamily="49" charset="-122"/>
                <a:cs typeface="JetBrains Mono" pitchFamily="49" charset="-120"/>
              </a:rPr>
              <a:t>2011</a:t>
            </a:r>
            <a:endParaRPr lang="en-US" sz="1300" dirty="0"/>
          </a:p>
        </p:txBody>
      </p:sp>
      <p:sp>
        <p:nvSpPr>
          <p:cNvPr id="22" name="Text 20"/>
          <p:cNvSpPr/>
          <p:nvPr/>
        </p:nvSpPr>
        <p:spPr>
          <a:xfrm>
            <a:off x="7531100" y="4062313"/>
            <a:ext cx="3745944" cy="23911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02B"/>
                </a:solidFill>
                <a:latin typeface="IBM Plex Sans" pitchFamily="34" charset="0"/>
                <a:ea typeface="IBM Plex Sans" pitchFamily="34" charset="-122"/>
                <a:cs typeface="IBM Plex Sans" pitchFamily="34" charset="-120"/>
              </a:rPr>
              <a:t>RFC 6455</a:t>
            </a:r>
            <a:r>
              <a:rPr lang="en-US" sz="1300" dirty="0">
                <a:solidFill>
                  <a:srgbClr val="4A5568"/>
                </a:solidFill>
                <a:latin typeface="IBM Plex Sans" pitchFamily="34" charset="0"/>
                <a:ea typeface="IBM Plex Sans" pitchFamily="34" charset="-122"/>
                <a:cs typeface="IBM Plex Sans" pitchFamily="34" charset="-120"/>
              </a:rPr>
              <a:t>, versió 13: l'estàndard definitiu.</a:t>
            </a:r>
            <a:endParaRPr lang="en-US" sz="1300" dirty="0"/>
          </a:p>
        </p:txBody>
      </p:sp>
      <p:sp>
        <p:nvSpPr>
          <p:cNvPr id="23" name="Text 21"/>
          <p:cNvSpPr/>
          <p:nvPr/>
        </p:nvSpPr>
        <p:spPr>
          <a:xfrm>
            <a:off x="6451600" y="4403030"/>
            <a:ext cx="1003300" cy="45293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JetBrains Mono" pitchFamily="49" charset="0"/>
                <a:ea typeface="JetBrains Mono" pitchFamily="49" charset="-122"/>
                <a:cs typeface="JetBrains Mono" pitchFamily="49" charset="-120"/>
              </a:rPr>
              <a:t>2018-22</a:t>
            </a:r>
            <a:endParaRPr lang="en-US" sz="1300" dirty="0"/>
          </a:p>
        </p:txBody>
      </p:sp>
      <p:sp>
        <p:nvSpPr>
          <p:cNvPr id="24" name="Text 22"/>
          <p:cNvSpPr/>
          <p:nvPr/>
        </p:nvSpPr>
        <p:spPr>
          <a:xfrm>
            <a:off x="7531100" y="4403030"/>
            <a:ext cx="3701923" cy="45293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RFC 8441 i 9220: també sobre HTTP/2 i HTTP/3.</a:t>
            </a:r>
            <a:endParaRPr lang="en-US" sz="1300" dirty="0"/>
          </a:p>
        </p:txBody>
      </p:sp>
      <p:sp>
        <p:nvSpPr>
          <p:cNvPr id="25" name="Text 23"/>
          <p:cNvSpPr/>
          <p:nvPr/>
        </p:nvSpPr>
        <p:spPr>
          <a:xfrm>
            <a:off x="812800" y="5313164"/>
            <a:ext cx="5181600" cy="732036"/>
          </a:xfrm>
          <a:prstGeom prst="roundRect">
            <a:avLst>
              <a:gd name="adj" fmla="val 10409"/>
            </a:avLst>
          </a:prstGeom>
          <a:solidFill>
            <a:srgbClr val="1B2733"/>
          </a:solidFill>
          <a:ln/>
        </p:spPr>
        <p:txBody>
          <a:bodyPr wrap="square" lIns="180882" tIns="130082" rIns="37626" bIns="104682" rtlCol="0" anchor="t">
            <a:normAutofit/>
          </a:bodyPr>
          <a:lstStyle/>
          <a:p>
            <a:pPr algn="l" indent="0" marL="0">
              <a:lnSpc>
                <a:spcPts val="1684"/>
              </a:lnSpc>
              <a:buNone/>
            </a:pPr>
            <a:r>
              <a:rPr lang="en-US" sz="1203" b="1" dirty="0">
                <a:solidFill>
                  <a:srgbClr val="F59E0B"/>
                </a:solidFill>
                <a:latin typeface="IBM Plex Sans" pitchFamily="34" charset="0"/>
                <a:ea typeface="IBM Plex Sans" pitchFamily="34" charset="-122"/>
                <a:cs typeface="IBM Plex Sans" pitchFamily="34" charset="-120"/>
              </a:rPr>
              <a:t>2022</a:t>
            </a:r>
            <a:r>
              <a:rPr lang="en-US" sz="1203" dirty="0">
                <a:solidFill>
                  <a:srgbClr val="E6EDF3"/>
                </a:solidFill>
                <a:latin typeface="IBM Plex Sans" pitchFamily="34" charset="0"/>
                <a:ea typeface="IBM Plex Sans" pitchFamily="34" charset="-122"/>
                <a:cs typeface="IBM Plex Sans" pitchFamily="34" charset="-120"/>
              </a:rPr>
              <a:t> · Chrome desactiva el </a:t>
            </a:r>
            <a:r>
              <a:rPr lang="en-US" sz="1203" i="1" dirty="0">
                <a:solidFill>
                  <a:srgbClr val="E6EDF3"/>
                </a:solidFill>
                <a:latin typeface="IBM Plex Sans" pitchFamily="34" charset="0"/>
                <a:ea typeface="IBM Plex Sans" pitchFamily="34" charset="-122"/>
                <a:cs typeface="IBM Plex Sans" pitchFamily="34" charset="-120"/>
              </a:rPr>
              <a:t>server push</a:t>
            </a:r>
            <a:r>
              <a:rPr lang="en-US" sz="1203" dirty="0">
                <a:solidFill>
                  <a:srgbClr val="E6EDF3"/>
                </a:solidFill>
                <a:latin typeface="IBM Plex Sans" pitchFamily="34" charset="0"/>
                <a:ea typeface="IBM Plex Sans" pitchFamily="34" charset="-122"/>
                <a:cs typeface="IBM Plex Sans" pitchFamily="34" charset="-120"/>
              </a:rPr>
              <a:t> d'HTTP/2: menys de l'1,3% d'ús i cap guany clar.</a:t>
            </a:r>
            <a:endParaRPr lang="en-US" sz="1203" dirty="0"/>
          </a:p>
        </p:txBody>
      </p:sp>
      <p:sp>
        <p:nvSpPr>
          <p:cNvPr id="26" name="Text 24"/>
          <p:cNvSpPr/>
          <p:nvPr/>
        </p:nvSpPr>
        <p:spPr>
          <a:xfrm>
            <a:off x="6197600" y="5313164"/>
            <a:ext cx="5181600" cy="732036"/>
          </a:xfrm>
          <a:prstGeom prst="roundRect">
            <a:avLst>
              <a:gd name="adj" fmla="val 10409"/>
            </a:avLst>
          </a:prstGeom>
          <a:solidFill>
            <a:srgbClr val="1B2733"/>
          </a:solidFill>
          <a:ln/>
        </p:spPr>
        <p:txBody>
          <a:bodyPr wrap="square" lIns="180882" tIns="130082" rIns="37626" bIns="130082" rtlCol="0" anchor="t">
            <a:normAutofit/>
          </a:bodyPr>
          <a:lstStyle/>
          <a:p>
            <a:pPr algn="l" indent="0" marL="0">
              <a:lnSpc>
                <a:spcPts val="1820"/>
              </a:lnSpc>
              <a:buNone/>
            </a:pPr>
            <a:r>
              <a:rPr lang="en-US" sz="1300" b="1" dirty="0">
                <a:solidFill>
                  <a:srgbClr val="60A5FA"/>
                </a:solidFill>
                <a:latin typeface="IBM Plex Sans" pitchFamily="34" charset="0"/>
                <a:ea typeface="IBM Plex Sans" pitchFamily="34" charset="-122"/>
                <a:cs typeface="IBM Plex Sans" pitchFamily="34" charset="-120"/>
              </a:rPr>
              <a:t>2026</a:t>
            </a:r>
            <a:r>
              <a:rPr lang="en-US" sz="1300" dirty="0">
                <a:solidFill>
                  <a:srgbClr val="E6EDF3"/>
                </a:solidFill>
                <a:latin typeface="IBM Plex Sans" pitchFamily="34" charset="0"/>
                <a:ea typeface="IBM Plex Sans" pitchFamily="34" charset="-122"/>
                <a:cs typeface="IBM Plex Sans" pitchFamily="34" charset="-120"/>
              </a:rPr>
              <a:t> · WebTransport arriba a tots els navegadors principals.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05" kern="0" dirty="0">
                <a:solidFill>
                  <a:srgbClr val="B45309"/>
                </a:solidFill>
                <a:latin typeface="JetBrains Mono" pitchFamily="49" charset="0"/>
                <a:ea typeface="JetBrains Mono" pitchFamily="49" charset="-122"/>
                <a:cs typeface="JetBrains Mono" pitchFamily="49" charset="-120"/>
              </a:rPr>
              <a:t>PRIMERA OPCIÓ</a:t>
            </a:r>
            <a:endParaRPr lang="en-US" sz="1300" dirty="0"/>
          </a:p>
        </p:txBody>
      </p:sp>
      <p:sp>
        <p:nvSpPr>
          <p:cNvPr id="3" name="Text 1"/>
          <p:cNvSpPr/>
          <p:nvPr>
            <p:ph type="title"/>
          </p:nvPr>
        </p:nvSpPr>
        <p:spPr>
          <a:xfrm>
            <a:off x="812800" y="1145480"/>
            <a:ext cx="10883392" cy="55116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5202B"/>
                </a:solidFill>
                <a:latin typeface="IBM Plex Sans" pitchFamily="34" charset="0"/>
                <a:ea typeface="IBM Plex Sans" pitchFamily="34" charset="-122"/>
                <a:cs typeface="IBM Plex Sans" pitchFamily="34" charset="-120"/>
              </a:rPr>
              <a:t>Server-Sent Events</a:t>
            </a:r>
            <a:endParaRPr lang="en-US" sz="3600" dirty="0"/>
          </a:p>
        </p:txBody>
      </p:sp>
      <p:sp>
        <p:nvSpPr>
          <p:cNvPr id="4" name="Text 2"/>
          <p:cNvSpPr/>
          <p:nvPr/>
        </p:nvSpPr>
        <p:spPr>
          <a:xfrm>
            <a:off x="812800" y="1976041"/>
            <a:ext cx="5598668" cy="32762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5202B"/>
                </a:solidFill>
                <a:latin typeface="IBM Plex Sans" pitchFamily="34" charset="0"/>
                <a:ea typeface="IBM Plex Sans" pitchFamily="34" charset="-122"/>
                <a:cs typeface="IBM Plex Sans" pitchFamily="34" charset="-120"/>
              </a:rPr>
              <a:t>Un sol canal, de servidor a client.</a:t>
            </a:r>
            <a:endParaRPr lang="en-US" sz="1700" dirty="0"/>
          </a:p>
        </p:txBody>
      </p:sp>
      <p:sp>
        <p:nvSpPr>
          <p:cNvPr id="5" name="Text 3"/>
          <p:cNvSpPr/>
          <p:nvPr/>
        </p:nvSpPr>
        <p:spPr>
          <a:xfrm>
            <a:off x="883920" y="2456061"/>
            <a:ext cx="5519928" cy="173990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4A5568"/>
                </a:solidFill>
                <a:latin typeface="IBM Plex Sans" pitchFamily="34" charset="0"/>
                <a:ea typeface="IBM Plex Sans" pitchFamily="34" charset="-122"/>
                <a:cs typeface="IBM Plex Sans" pitchFamily="34" charset="-120"/>
              </a:rPr>
              <a:t>Sobre HTTP de tota la vida: és una resposta que no s'acaba mai</a:t>
            </a:r>
            <a:endParaRPr lang="en-US" sz="1500" dirty="0"/>
          </a:p>
          <a:p>
            <a:pPr algn="l" marL="182880" indent="-182880">
              <a:lnSpc>
                <a:spcPts val="2250"/>
              </a:lnSpc>
              <a:buSzPct val="100000"/>
              <a:buChar char="•"/>
            </a:pPr>
            <a:r>
              <a:rPr lang="en-US" sz="1500" dirty="0">
                <a:solidFill>
                  <a:srgbClr val="4A5568"/>
                </a:solidFill>
                <a:latin typeface="IBM Plex Sans" pitchFamily="34" charset="0"/>
                <a:ea typeface="IBM Plex Sans" pitchFamily="34" charset="-122"/>
                <a:cs typeface="IBM Plex Sans" pitchFamily="34" charset="-120"/>
              </a:rPr>
              <a:t>El servidor va escrivint esdeveniments al cos de la resposta</a:t>
            </a:r>
            <a:endParaRPr lang="en-US" sz="1500" dirty="0"/>
          </a:p>
          <a:p>
            <a:pPr algn="l" marL="182880" indent="-182880">
              <a:lnSpc>
                <a:spcPts val="2250"/>
              </a:lnSpc>
              <a:buSzPct val="100000"/>
              <a:buChar char="•"/>
            </a:pPr>
            <a:r>
              <a:rPr lang="en-US" sz="1500" dirty="0">
                <a:solidFill>
                  <a:srgbClr val="B45309"/>
                </a:solidFill>
                <a:latin typeface="IBM Plex Sans" pitchFamily="34" charset="0"/>
                <a:ea typeface="IBM Plex Sans" pitchFamily="34" charset="-122"/>
                <a:cs typeface="IBM Plex Sans" pitchFamily="34" charset="-120"/>
              </a:rPr>
              <a:t>Content-Type: text/event-stream</a:t>
            </a:r>
            <a:endParaRPr lang="en-US" sz="1500" dirty="0"/>
          </a:p>
          <a:p>
            <a:pPr algn="l" marL="182880" indent="-182880">
              <a:lnSpc>
                <a:spcPts val="2250"/>
              </a:lnSpc>
              <a:buSzPct val="100000"/>
              <a:buChar char="•"/>
            </a:pPr>
            <a:r>
              <a:rPr lang="en-US" sz="1500" dirty="0">
                <a:solidFill>
                  <a:srgbClr val="4A5568"/>
                </a:solidFill>
                <a:latin typeface="IBM Plex Sans" pitchFamily="34" charset="0"/>
                <a:ea typeface="IBM Plex Sans" pitchFamily="34" charset="-122"/>
                <a:cs typeface="IBM Plex Sans" pitchFamily="34" charset="-120"/>
              </a:rPr>
              <a:t>Només text UTF-8, res de binari</a:t>
            </a:r>
            <a:endParaRPr lang="en-US" sz="1500" dirty="0"/>
          </a:p>
          <a:p>
            <a:pPr algn="l" marL="182880" indent="-182880">
              <a:lnSpc>
                <a:spcPts val="2250"/>
              </a:lnSpc>
              <a:buSzPct val="100000"/>
              <a:buChar char="•"/>
            </a:pPr>
            <a:r>
              <a:rPr lang="en-US" sz="1500" dirty="0">
                <a:solidFill>
                  <a:srgbClr val="4A5568"/>
                </a:solidFill>
                <a:latin typeface="IBM Plex Sans" pitchFamily="34" charset="0"/>
                <a:ea typeface="IBM Plex Sans" pitchFamily="34" charset="-122"/>
                <a:cs typeface="IBM Plex Sans" pitchFamily="34" charset="-120"/>
              </a:rPr>
              <a:t>Al navegador hi ha una API dedicada: EventSource</a:t>
            </a:r>
            <a:endParaRPr lang="en-US" sz="1500" dirty="0"/>
          </a:p>
        </p:txBody>
      </p:sp>
      <p:sp>
        <p:nvSpPr>
          <p:cNvPr id="6" name="Text 4"/>
          <p:cNvSpPr/>
          <p:nvPr/>
        </p:nvSpPr>
        <p:spPr>
          <a:xfrm>
            <a:off x="6553200" y="1976041"/>
            <a:ext cx="4826000" cy="3033316"/>
          </a:xfrm>
          <a:prstGeom prst="roundRect">
            <a:avLst>
              <a:gd name="adj" fmla="val 3349"/>
            </a:avLst>
          </a:prstGeom>
          <a:solidFill>
            <a:srgbClr val="1B2733"/>
          </a:solidFill>
          <a:ln/>
        </p:spPr>
        <p:txBody>
          <a:bodyPr wrap="none" lIns="224242" tIns="224242" rIns="94702" bIns="198842" rtlCol="0" anchor="t">
            <a:normAutofit/>
          </a:bodyPr>
          <a:lstStyle/>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const es = new EventSource("/avisos");</a:t>
            </a:r>
            <a:endParaRPr lang="en-US" sz="1300" dirty="0"/>
          </a:p>
          <a:p>
            <a:pPr algn="l" indent="0" marL="0">
              <a:lnSpc>
                <a:spcPts val="2210"/>
              </a:lnSpc>
              <a:buNone/>
            </a:pP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es.onmessage = e =&gt; {</a:t>
            </a: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  console.log(e.data);</a:t>
            </a: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a:t>
            </a:r>
            <a:endParaRPr lang="en-US" sz="1300" dirty="0"/>
          </a:p>
          <a:p>
            <a:pPr algn="l" indent="0" marL="0">
              <a:lnSpc>
                <a:spcPts val="2210"/>
              </a:lnSpc>
              <a:buNone/>
            </a:pP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es.addEventListener("vot", e =&gt; {</a:t>
            </a: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  pinta(JSON.parse(e.data));</a:t>
            </a: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5116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5202B"/>
                </a:solidFill>
                <a:latin typeface="IBM Plex Sans" pitchFamily="34" charset="0"/>
                <a:ea typeface="IBM Plex Sans" pitchFamily="34" charset="-122"/>
                <a:cs typeface="IBM Plex Sans" pitchFamily="34" charset="-120"/>
              </a:rPr>
              <a:t>El format del cable</a:t>
            </a:r>
            <a:endParaRPr lang="en-US" sz="3600" dirty="0"/>
          </a:p>
        </p:txBody>
      </p:sp>
      <p:sp>
        <p:nvSpPr>
          <p:cNvPr id="3" name="Text 1"/>
          <p:cNvSpPr/>
          <p:nvPr/>
        </p:nvSpPr>
        <p:spPr>
          <a:xfrm>
            <a:off x="812800" y="1643360"/>
            <a:ext cx="5715000" cy="3594497"/>
          </a:xfrm>
          <a:prstGeom prst="roundRect">
            <a:avLst>
              <a:gd name="adj" fmla="val 2827"/>
            </a:avLst>
          </a:prstGeom>
          <a:solidFill>
            <a:srgbClr val="1B2733"/>
          </a:solidFill>
          <a:ln/>
        </p:spPr>
        <p:txBody>
          <a:bodyPr wrap="none" lIns="224242" tIns="224242" rIns="68032" bIns="198842" rtlCol="0" anchor="t">
            <a:normAutofit/>
          </a:bodyPr>
          <a:lstStyle/>
          <a:p>
            <a:pPr algn="l" indent="0" marL="0">
              <a:lnSpc>
                <a:spcPts val="2210"/>
              </a:lnSpc>
              <a:buNone/>
            </a:pPr>
            <a:r>
              <a:rPr lang="en-US" sz="1300" dirty="0">
                <a:solidFill>
                  <a:srgbClr val="9FB0C0"/>
                </a:solidFill>
                <a:latin typeface="JetBrains Mono" pitchFamily="49" charset="0"/>
                <a:ea typeface="JetBrains Mono" pitchFamily="49" charset="-122"/>
                <a:cs typeface="JetBrains Mono" pitchFamily="49" charset="-120"/>
              </a:rPr>
              <a:t>HTTP/1.1 200 OK</a:t>
            </a:r>
            <a:endParaRPr lang="en-US" sz="1300" dirty="0"/>
          </a:p>
          <a:p>
            <a:pPr algn="l" indent="0" marL="0">
              <a:lnSpc>
                <a:spcPts val="2210"/>
              </a:lnSpc>
              <a:buNone/>
            </a:pPr>
            <a:r>
              <a:rPr lang="en-US" sz="1300" dirty="0">
                <a:solidFill>
                  <a:srgbClr val="9FB0C0"/>
                </a:solidFill>
                <a:latin typeface="JetBrains Mono" pitchFamily="49" charset="0"/>
                <a:ea typeface="JetBrains Mono" pitchFamily="49" charset="-122"/>
                <a:cs typeface="JetBrains Mono" pitchFamily="49" charset="-120"/>
              </a:rPr>
              <a:t>Content-Type: text/event-stream</a:t>
            </a:r>
            <a:endParaRPr lang="en-US" sz="1300" dirty="0"/>
          </a:p>
          <a:p>
            <a:pPr algn="l" indent="0" marL="0">
              <a:lnSpc>
                <a:spcPts val="2210"/>
              </a:lnSpc>
              <a:buNone/>
            </a:pPr>
            <a:r>
              <a:rPr lang="en-US" sz="1300" dirty="0">
                <a:solidFill>
                  <a:srgbClr val="9FB0C0"/>
                </a:solidFill>
                <a:latin typeface="JetBrains Mono" pitchFamily="49" charset="0"/>
                <a:ea typeface="JetBrains Mono" pitchFamily="49" charset="-122"/>
                <a:cs typeface="JetBrains Mono" pitchFamily="49" charset="-120"/>
              </a:rPr>
              <a:t>Cache-Control: no-cache</a:t>
            </a:r>
            <a:endParaRPr lang="en-US" sz="1300" dirty="0"/>
          </a:p>
          <a:p>
            <a:pPr algn="l" indent="0" marL="0">
              <a:lnSpc>
                <a:spcPts val="2210"/>
              </a:lnSpc>
              <a:buNone/>
            </a:pPr>
            <a:endParaRPr lang="en-US" sz="1300" dirty="0"/>
          </a:p>
          <a:p>
            <a:pPr algn="l" indent="0" marL="0">
              <a:lnSpc>
                <a:spcPts val="2210"/>
              </a:lnSpc>
              <a:buNone/>
            </a:pPr>
            <a:r>
              <a:rPr lang="en-US" sz="1300" dirty="0">
                <a:solidFill>
                  <a:srgbClr val="F59E0B"/>
                </a:solidFill>
                <a:latin typeface="JetBrains Mono" pitchFamily="49" charset="0"/>
                <a:ea typeface="JetBrains Mono" pitchFamily="49" charset="-122"/>
                <a:cs typeface="JetBrains Mono" pitchFamily="49" charset="-120"/>
              </a:rPr>
              <a:t>event:</a:t>
            </a:r>
            <a:r>
              <a:rPr lang="en-US" sz="1300" dirty="0">
                <a:solidFill>
                  <a:srgbClr val="E6EDF3"/>
                </a:solidFill>
                <a:latin typeface="JetBrains Mono" pitchFamily="49" charset="0"/>
                <a:ea typeface="JetBrains Mono" pitchFamily="49" charset="-122"/>
                <a:cs typeface="JetBrains Mono" pitchFamily="49" charset="-120"/>
              </a:rPr>
              <a:t> vot</a:t>
            </a:r>
            <a:endParaRPr lang="en-US" sz="1300" dirty="0"/>
          </a:p>
          <a:p>
            <a:pPr algn="l" indent="0" marL="0">
              <a:lnSpc>
                <a:spcPts val="2210"/>
              </a:lnSpc>
              <a:buNone/>
            </a:pPr>
            <a:r>
              <a:rPr lang="en-US" sz="1300" dirty="0">
                <a:solidFill>
                  <a:srgbClr val="F59E0B"/>
                </a:solidFill>
                <a:latin typeface="JetBrains Mono" pitchFamily="49" charset="0"/>
                <a:ea typeface="JetBrains Mono" pitchFamily="49" charset="-122"/>
                <a:cs typeface="JetBrains Mono" pitchFamily="49" charset="-120"/>
              </a:rPr>
              <a:t>data:</a:t>
            </a:r>
            <a:r>
              <a:rPr lang="en-US" sz="1300" dirty="0">
                <a:solidFill>
                  <a:srgbClr val="E6EDF3"/>
                </a:solidFill>
                <a:latin typeface="JetBrains Mono" pitchFamily="49" charset="0"/>
                <a:ea typeface="JetBrains Mono" pitchFamily="49" charset="-122"/>
                <a:cs typeface="JetBrains Mono" pitchFamily="49" charset="-120"/>
              </a:rPr>
              <a:t> {"id":27,"vots":42}</a:t>
            </a:r>
            <a:endParaRPr lang="en-US" sz="1300" dirty="0"/>
          </a:p>
          <a:p>
            <a:pPr algn="l" indent="0" marL="0">
              <a:lnSpc>
                <a:spcPts val="2210"/>
              </a:lnSpc>
              <a:buNone/>
            </a:pPr>
            <a:r>
              <a:rPr lang="en-US" sz="1300" dirty="0">
                <a:solidFill>
                  <a:srgbClr val="F59E0B"/>
                </a:solidFill>
                <a:latin typeface="JetBrains Mono" pitchFamily="49" charset="0"/>
                <a:ea typeface="JetBrains Mono" pitchFamily="49" charset="-122"/>
                <a:cs typeface="JetBrains Mono" pitchFamily="49" charset="-120"/>
              </a:rPr>
              <a:t>id:</a:t>
            </a:r>
            <a:r>
              <a:rPr lang="en-US" sz="1300" dirty="0">
                <a:solidFill>
                  <a:srgbClr val="E6EDF3"/>
                </a:solidFill>
                <a:latin typeface="JetBrains Mono" pitchFamily="49" charset="0"/>
                <a:ea typeface="JetBrains Mono" pitchFamily="49" charset="-122"/>
                <a:cs typeface="JetBrains Mono" pitchFamily="49" charset="-120"/>
              </a:rPr>
              <a:t> 1043</a:t>
            </a:r>
            <a:endParaRPr lang="en-US" sz="1300" dirty="0"/>
          </a:p>
          <a:p>
            <a:pPr algn="l" indent="0" marL="0">
              <a:lnSpc>
                <a:spcPts val="2210"/>
              </a:lnSpc>
              <a:buNone/>
            </a:pPr>
            <a:endParaRPr lang="en-US" sz="1300" dirty="0"/>
          </a:p>
          <a:p>
            <a:pPr algn="l" indent="0" marL="0">
              <a:lnSpc>
                <a:spcPts val="2210"/>
              </a:lnSpc>
              <a:buNone/>
            </a:pPr>
            <a:r>
              <a:rPr lang="en-US" sz="1300" dirty="0">
                <a:solidFill>
                  <a:srgbClr val="F59E0B"/>
                </a:solidFill>
                <a:latin typeface="JetBrains Mono" pitchFamily="49" charset="0"/>
                <a:ea typeface="JetBrains Mono" pitchFamily="49" charset="-122"/>
                <a:cs typeface="JetBrains Mono" pitchFamily="49" charset="-120"/>
              </a:rPr>
              <a:t>data:</a:t>
            </a:r>
            <a:r>
              <a:rPr lang="en-US" sz="1300" dirty="0">
                <a:solidFill>
                  <a:srgbClr val="E6EDF3"/>
                </a:solidFill>
                <a:latin typeface="JetBrains Mono" pitchFamily="49" charset="0"/>
                <a:ea typeface="JetBrains Mono" pitchFamily="49" charset="-122"/>
                <a:cs typeface="JetBrains Mono" pitchFamily="49" charset="-120"/>
              </a:rPr>
              <a:t> sense nom d'esdeveniment</a:t>
            </a:r>
            <a:endParaRPr lang="en-US" sz="1300" dirty="0"/>
          </a:p>
          <a:p>
            <a:pPr algn="l" indent="0" marL="0">
              <a:lnSpc>
                <a:spcPts val="2210"/>
              </a:lnSpc>
              <a:buNone/>
            </a:pPr>
            <a:endParaRPr lang="en-US" sz="1300" dirty="0"/>
          </a:p>
          <a:p>
            <a:pPr algn="l" indent="0" marL="0">
              <a:lnSpc>
                <a:spcPts val="2210"/>
              </a:lnSpc>
              <a:buNone/>
            </a:pPr>
            <a:r>
              <a:rPr lang="en-US" sz="1300" dirty="0">
                <a:solidFill>
                  <a:srgbClr val="F59E0B"/>
                </a:solidFill>
                <a:latin typeface="JetBrains Mono" pitchFamily="49" charset="0"/>
                <a:ea typeface="JetBrains Mono" pitchFamily="49" charset="-122"/>
                <a:cs typeface="JetBrains Mono" pitchFamily="49" charset="-120"/>
              </a:rPr>
              <a:t>retry:</a:t>
            </a:r>
            <a:r>
              <a:rPr lang="en-US" sz="1300" dirty="0">
                <a:solidFill>
                  <a:srgbClr val="E6EDF3"/>
                </a:solidFill>
                <a:latin typeface="JetBrains Mono" pitchFamily="49" charset="0"/>
                <a:ea typeface="JetBrains Mono" pitchFamily="49" charset="-122"/>
                <a:cs typeface="JetBrains Mono" pitchFamily="49" charset="-120"/>
              </a:rPr>
              <a:t> 5000</a:t>
            </a:r>
            <a:endParaRPr lang="en-US" sz="1300" dirty="0"/>
          </a:p>
        </p:txBody>
      </p:sp>
      <p:sp>
        <p:nvSpPr>
          <p:cNvPr id="4" name="Text 2"/>
          <p:cNvSpPr/>
          <p:nvPr/>
        </p:nvSpPr>
        <p:spPr>
          <a:xfrm>
            <a:off x="6832600" y="1643360"/>
            <a:ext cx="4682998"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02B"/>
                </a:solidFill>
                <a:latin typeface="IBM Plex Sans" pitchFamily="34" charset="0"/>
                <a:ea typeface="IBM Plex Sans" pitchFamily="34" charset="-122"/>
                <a:cs typeface="IBM Plex Sans" pitchFamily="34" charset="-120"/>
              </a:rPr>
              <a:t>Una línia en blanc</a:t>
            </a:r>
            <a:r>
              <a:rPr lang="en-US" sz="1500" dirty="0">
                <a:solidFill>
                  <a:srgbClr val="4A5568"/>
                </a:solidFill>
                <a:latin typeface="IBM Plex Sans" pitchFamily="34" charset="0"/>
                <a:ea typeface="IBM Plex Sans" pitchFamily="34" charset="-122"/>
                <a:cs typeface="IBM Plex Sans" pitchFamily="34" charset="-120"/>
              </a:rPr>
              <a:t> tanca cada esdeveniment. Res més.</a:t>
            </a:r>
            <a:endParaRPr lang="en-US" sz="1500" dirty="0"/>
          </a:p>
        </p:txBody>
      </p:sp>
      <p:sp>
        <p:nvSpPr>
          <p:cNvPr id="5" name="Shape 3"/>
          <p:cNvSpPr/>
          <p:nvPr/>
        </p:nvSpPr>
        <p:spPr>
          <a:xfrm>
            <a:off x="11376025" y="2329160"/>
            <a:ext cx="0" cy="2152055"/>
          </a:xfrm>
          <a:prstGeom prst="line">
            <a:avLst/>
          </a:prstGeom>
          <a:noFill/>
          <a:ln w="6350">
            <a:solidFill>
              <a:srgbClr val="D7DBD4"/>
            </a:solidFill>
            <a:prstDash val="solid"/>
          </a:ln>
        </p:spPr>
      </p:sp>
      <p:sp>
        <p:nvSpPr>
          <p:cNvPr id="6" name="Shape 4"/>
          <p:cNvSpPr/>
          <p:nvPr/>
        </p:nvSpPr>
        <p:spPr>
          <a:xfrm>
            <a:off x="6832600" y="4478040"/>
            <a:ext cx="4546600" cy="0"/>
          </a:xfrm>
          <a:prstGeom prst="line">
            <a:avLst/>
          </a:prstGeom>
          <a:noFill/>
          <a:ln w="6350">
            <a:solidFill>
              <a:srgbClr val="D7DBD4"/>
            </a:solidFill>
            <a:prstDash val="solid"/>
          </a:ln>
        </p:spPr>
      </p:sp>
      <p:sp>
        <p:nvSpPr>
          <p:cNvPr id="7" name="Shape 5"/>
          <p:cNvSpPr/>
          <p:nvPr/>
        </p:nvSpPr>
        <p:spPr>
          <a:xfrm>
            <a:off x="6832600" y="2335510"/>
            <a:ext cx="4546600" cy="0"/>
          </a:xfrm>
          <a:prstGeom prst="line">
            <a:avLst/>
          </a:prstGeom>
          <a:noFill/>
          <a:ln w="12700">
            <a:solidFill>
              <a:srgbClr val="141413">
                <a:alpha val="22000"/>
              </a:srgbClr>
            </a:solidFill>
            <a:prstDash val="solid"/>
          </a:ln>
        </p:spPr>
      </p:sp>
      <p:sp>
        <p:nvSpPr>
          <p:cNvPr id="8" name="Shape 6"/>
          <p:cNvSpPr/>
          <p:nvPr/>
        </p:nvSpPr>
        <p:spPr>
          <a:xfrm>
            <a:off x="6838950" y="2329160"/>
            <a:ext cx="0" cy="2152055"/>
          </a:xfrm>
          <a:prstGeom prst="line">
            <a:avLst/>
          </a:prstGeom>
          <a:noFill/>
          <a:ln w="12700">
            <a:solidFill>
              <a:srgbClr val="141413">
                <a:alpha val="22000"/>
              </a:srgbClr>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972300" y="2443460"/>
          <a:ext cx="4273550" cy="1929805"/>
        </p:xfrm>
        <a:graphic>
          <a:graphicData uri="http://schemas.openxmlformats.org/drawingml/2006/table">
            <a:tbl>
              <a:tblPr/>
              <a:tblGrid>
                <a:gridCol w="1282065"/>
                <a:gridCol w="2991485"/>
              </a:tblGrid>
              <a:tr h="385961">
                <a:tc>
                  <a:txBody>
                    <a:bodyPr/>
                    <a:lstStyle/>
                    <a:p>
                      <a:pPr indent="0" marL="0">
                        <a:lnSpc>
                          <a:spcPts val="1960"/>
                        </a:lnSpc>
                        <a:buNone/>
                      </a:pPr>
                      <a:r>
                        <a:rPr lang="en-US" sz="1400" b="1" dirty="0">
                          <a:solidFill>
                            <a:srgbClr val="15202B"/>
                          </a:solidFill>
                          <a:latin typeface="IBM Plex Sans" pitchFamily="34" charset="0"/>
                          <a:ea typeface="IBM Plex Sans" pitchFamily="34" charset="-122"/>
                          <a:cs typeface="IBM Plex Sans" pitchFamily="34" charset="-120"/>
                        </a:rPr>
                        <a:t>Camp</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BCBEBA"/>
                      </a:solidFill>
                      <a:prstDash val="solid"/>
                      <a:round/>
                      <a:headEnd type="none" w="med" len="med"/>
                      <a:tailEnd type="none" w="med" len="med"/>
                    </a:lnR>
                    <a:lnT w="0" cap="flat" cmpd="sng" algn="ctr">
                      <a:noFill/>
                    </a:lnT>
                    <a:lnB w="12700" cap="flat" cmpd="sng" algn="ctr">
                      <a:solidFill>
                        <a:srgbClr val="BCBEBA"/>
                      </a:solidFill>
                      <a:prstDash val="solid"/>
                      <a:round/>
                      <a:headEnd type="none" w="med" len="med"/>
                      <a:tailEnd type="none" w="med" len="med"/>
                    </a:lnB>
                    <a:solidFill>
                      <a:srgbClr val="ECEEE9"/>
                    </a:solidFill>
                  </a:tcPr>
                </a:tc>
                <a:tc>
                  <a:txBody>
                    <a:bodyPr/>
                    <a:lstStyle/>
                    <a:p>
                      <a:pPr indent="0" marL="0">
                        <a:lnSpc>
                          <a:spcPts val="1960"/>
                        </a:lnSpc>
                        <a:buNone/>
                      </a:pPr>
                      <a:r>
                        <a:rPr lang="en-US" sz="1400" b="1" dirty="0">
                          <a:solidFill>
                            <a:srgbClr val="15202B"/>
                          </a:solidFill>
                          <a:latin typeface="IBM Plex Sans" pitchFamily="34" charset="0"/>
                          <a:ea typeface="IBM Plex Sans" pitchFamily="34" charset="-122"/>
                          <a:cs typeface="IBM Plex Sans" pitchFamily="34" charset="-120"/>
                        </a:rPr>
                        <a:t>Per a què serveix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CBEBA"/>
                      </a:solidFill>
                      <a:prstDash val="solid"/>
                      <a:round/>
                      <a:headEnd type="none" w="med" len="med"/>
                      <a:tailEnd type="none" w="med" len="med"/>
                    </a:lnL>
                    <a:lnR w="12700" cap="flat" cmpd="sng" algn="ctr">
                      <a:solidFill>
                        <a:srgbClr val="BCBEBA"/>
                      </a:solidFill>
                      <a:prstDash val="solid"/>
                      <a:round/>
                      <a:headEnd type="none" w="med" len="med"/>
                      <a:tailEnd type="none" w="med" len="med"/>
                    </a:lnR>
                    <a:lnT w="0" cap="flat" cmpd="sng" algn="ctr">
                      <a:noFill/>
                    </a:lnT>
                    <a:lnB w="12700" cap="flat" cmpd="sng" algn="ctr">
                      <a:solidFill>
                        <a:srgbClr val="BCBEBA"/>
                      </a:solidFill>
                      <a:prstDash val="solid"/>
                      <a:round/>
                      <a:headEnd type="none" w="med" len="med"/>
                      <a:tailEnd type="none" w="med" len="med"/>
                    </a:lnB>
                    <a:solidFill>
                      <a:srgbClr val="ECEEE9"/>
                    </a:solidFill>
                  </a:tcPr>
                </a:tc>
              </a:tr>
              <a:tr h="385961">
                <a:tc>
                  <a:txBody>
                    <a:bodyPr/>
                    <a:lstStyle/>
                    <a:p>
                      <a:pPr indent="0" marL="0">
                        <a:lnSpc>
                          <a:spcPts val="1960"/>
                        </a:lnSpc>
                        <a:buNone/>
                      </a:pPr>
                      <a:r>
                        <a:rPr lang="en-US" sz="1400" dirty="0">
                          <a:solidFill>
                            <a:srgbClr val="15202B"/>
                          </a:solidFill>
                          <a:latin typeface="IBM Plex Sans" pitchFamily="34" charset="0"/>
                          <a:ea typeface="IBM Plex Sans" pitchFamily="34" charset="-122"/>
                          <a:cs typeface="IBM Plex Sans" pitchFamily="34" charset="-120"/>
                        </a:rPr>
                        <a:t>event</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BCBEBA"/>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960"/>
                        </a:lnSpc>
                        <a:buNone/>
                      </a:pPr>
                      <a:r>
                        <a:rPr lang="en-US" sz="1400" dirty="0">
                          <a:solidFill>
                            <a:srgbClr val="15202B"/>
                          </a:solidFill>
                          <a:latin typeface="IBM Plex Sans" pitchFamily="34" charset="0"/>
                          <a:ea typeface="IBM Plex Sans" pitchFamily="34" charset="-122"/>
                          <a:cs typeface="IBM Plex Sans" pitchFamily="34" charset="-120"/>
                        </a:rPr>
                        <a:t>Nom, per escoltar-lo a part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BCBEBA"/>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385961">
                <a:tc>
                  <a:txBody>
                    <a:bodyPr/>
                    <a:lstStyle/>
                    <a:p>
                      <a:pPr indent="0" marL="0">
                        <a:lnSpc>
                          <a:spcPts val="1960"/>
                        </a:lnSpc>
                        <a:buNone/>
                      </a:pPr>
                      <a:r>
                        <a:rPr lang="en-US" sz="1400" dirty="0">
                          <a:solidFill>
                            <a:srgbClr val="15202B"/>
                          </a:solidFill>
                          <a:latin typeface="IBM Plex Sans" pitchFamily="34" charset="0"/>
                          <a:ea typeface="IBM Plex Sans" pitchFamily="34" charset="-122"/>
                          <a:cs typeface="IBM Plex Sans" pitchFamily="34" charset="-120"/>
                        </a:rPr>
                        <a:t>data</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960"/>
                        </a:lnSpc>
                        <a:buNone/>
                      </a:pPr>
                      <a:r>
                        <a:rPr lang="en-US" sz="1400" dirty="0">
                          <a:solidFill>
                            <a:srgbClr val="15202B"/>
                          </a:solidFill>
                          <a:latin typeface="IBM Plex Sans" pitchFamily="34" charset="0"/>
                          <a:ea typeface="IBM Plex Sans" pitchFamily="34" charset="-122"/>
                          <a:cs typeface="IBM Plex Sans" pitchFamily="34" charset="-120"/>
                        </a:rPr>
                        <a:t>El contingut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385961">
                <a:tc>
                  <a:txBody>
                    <a:bodyPr/>
                    <a:lstStyle/>
                    <a:p>
                      <a:pPr indent="0" marL="0">
                        <a:lnSpc>
                          <a:spcPts val="1960"/>
                        </a:lnSpc>
                        <a:buNone/>
                      </a:pPr>
                      <a:r>
                        <a:rPr lang="en-US" sz="1400" dirty="0">
                          <a:solidFill>
                            <a:srgbClr val="15202B"/>
                          </a:solidFill>
                          <a:latin typeface="IBM Plex Sans" pitchFamily="34" charset="0"/>
                          <a:ea typeface="IBM Plex Sans" pitchFamily="34" charset="-122"/>
                          <a:cs typeface="IBM Plex Sans" pitchFamily="34" charset="-120"/>
                        </a:rPr>
                        <a:t>id</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960"/>
                        </a:lnSpc>
                        <a:buNone/>
                      </a:pPr>
                      <a:r>
                        <a:rPr lang="en-US" sz="1400" dirty="0">
                          <a:solidFill>
                            <a:srgbClr val="15202B"/>
                          </a:solidFill>
                          <a:latin typeface="IBM Plex Sans" pitchFamily="34" charset="0"/>
                          <a:ea typeface="IBM Plex Sans" pitchFamily="34" charset="-122"/>
                          <a:cs typeface="IBM Plex Sans" pitchFamily="34" charset="-120"/>
                        </a:rPr>
                        <a:t>Marca per reprendre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385961">
                <a:tc>
                  <a:txBody>
                    <a:bodyPr/>
                    <a:lstStyle/>
                    <a:p>
                      <a:pPr indent="0" marL="0">
                        <a:lnSpc>
                          <a:spcPts val="1960"/>
                        </a:lnSpc>
                        <a:buNone/>
                      </a:pPr>
                      <a:r>
                        <a:rPr lang="en-US" sz="1400" dirty="0">
                          <a:solidFill>
                            <a:srgbClr val="15202B"/>
                          </a:solidFill>
                          <a:latin typeface="IBM Plex Sans" pitchFamily="34" charset="0"/>
                          <a:ea typeface="IBM Plex Sans" pitchFamily="34" charset="-122"/>
                          <a:cs typeface="IBM Plex Sans" pitchFamily="34" charset="-120"/>
                        </a:rPr>
                        <a:t>retry</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960"/>
                        </a:lnSpc>
                        <a:buNone/>
                      </a:pPr>
                      <a:r>
                        <a:rPr lang="en-US" sz="1400" dirty="0">
                          <a:solidFill>
                            <a:srgbClr val="15202B"/>
                          </a:solidFill>
                          <a:latin typeface="IBM Plex Sans" pitchFamily="34" charset="0"/>
                          <a:ea typeface="IBM Plex Sans" pitchFamily="34" charset="-122"/>
                          <a:cs typeface="IBM Plex Sans" pitchFamily="34" charset="-120"/>
                        </a:rPr>
                        <a:t>Espera abans de reconnectar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5116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5202B"/>
                </a:solidFill>
                <a:latin typeface="IBM Plex Sans" pitchFamily="34" charset="0"/>
                <a:ea typeface="IBM Plex Sans" pitchFamily="34" charset="-122"/>
                <a:cs typeface="IBM Plex Sans" pitchFamily="34" charset="-120"/>
              </a:rPr>
              <a:t>La reconnexió ve de regal</a:t>
            </a:r>
            <a:endParaRPr lang="en-US" sz="3600" dirty="0"/>
          </a:p>
        </p:txBody>
      </p:sp>
      <p:sp>
        <p:nvSpPr>
          <p:cNvPr id="3" name="Shape 1"/>
          <p:cNvSpPr/>
          <p:nvPr/>
        </p:nvSpPr>
        <p:spPr>
          <a:xfrm>
            <a:off x="815975" y="1646535"/>
            <a:ext cx="3380284" cy="1393130"/>
          </a:xfrm>
          <a:prstGeom prst="roundRect">
            <a:avLst>
              <a:gd name="adj" fmla="val 7065"/>
            </a:avLst>
          </a:prstGeom>
          <a:solidFill>
            <a:srgbClr val="ECEEE9"/>
          </a:solidFill>
          <a:ln w="6350">
            <a:solidFill>
              <a:srgbClr val="D7DBD4"/>
            </a:solidFill>
            <a:prstDash val="solid"/>
          </a:ln>
        </p:spPr>
      </p:sp>
      <p:sp>
        <p:nvSpPr>
          <p:cNvPr id="4" name="Text 2"/>
          <p:cNvSpPr/>
          <p:nvPr/>
        </p:nvSpPr>
        <p:spPr>
          <a:xfrm>
            <a:off x="1073150" y="1903710"/>
            <a:ext cx="29519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309"/>
                </a:solidFill>
                <a:latin typeface="IBM Plex Sans" pitchFamily="34" charset="0"/>
                <a:ea typeface="IBM Plex Sans" pitchFamily="34" charset="-122"/>
                <a:cs typeface="IBM Plex Sans" pitchFamily="34" charset="-120"/>
              </a:rPr>
              <a:t>1 · Cau la connexió</a:t>
            </a:r>
            <a:endParaRPr lang="en-US" sz="1600" dirty="0"/>
          </a:p>
        </p:txBody>
      </p:sp>
      <p:sp>
        <p:nvSpPr>
          <p:cNvPr id="5" name="Text 3"/>
          <p:cNvSpPr/>
          <p:nvPr/>
        </p:nvSpPr>
        <p:spPr>
          <a:xfrm>
            <a:off x="1073150" y="2249091"/>
            <a:ext cx="2951912"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568"/>
                </a:solidFill>
                <a:latin typeface="IBM Plex Sans" pitchFamily="34" charset="0"/>
                <a:ea typeface="IBM Plex Sans" pitchFamily="34" charset="-122"/>
                <a:cs typeface="IBM Plex Sans" pitchFamily="34" charset="-120"/>
              </a:rPr>
              <a:t>Wi-Fi, túnel, proxy que talla per inactivitat. Passa constantment.</a:t>
            </a:r>
            <a:endParaRPr lang="en-US" sz="1400" dirty="0"/>
          </a:p>
        </p:txBody>
      </p:sp>
      <p:sp>
        <p:nvSpPr>
          <p:cNvPr id="6" name="Shape 4"/>
          <p:cNvSpPr/>
          <p:nvPr/>
        </p:nvSpPr>
        <p:spPr>
          <a:xfrm>
            <a:off x="4405809" y="1646535"/>
            <a:ext cx="3380383" cy="1393130"/>
          </a:xfrm>
          <a:prstGeom prst="roundRect">
            <a:avLst>
              <a:gd name="adj" fmla="val 7065"/>
            </a:avLst>
          </a:prstGeom>
          <a:solidFill>
            <a:srgbClr val="ECEEE9"/>
          </a:solidFill>
          <a:ln w="6350">
            <a:solidFill>
              <a:srgbClr val="D7DBD4"/>
            </a:solidFill>
            <a:prstDash val="solid"/>
          </a:ln>
        </p:spPr>
      </p:sp>
      <p:sp>
        <p:nvSpPr>
          <p:cNvPr id="7" name="Text 5"/>
          <p:cNvSpPr/>
          <p:nvPr/>
        </p:nvSpPr>
        <p:spPr>
          <a:xfrm>
            <a:off x="4662984" y="1903710"/>
            <a:ext cx="295201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309"/>
                </a:solidFill>
                <a:latin typeface="IBM Plex Sans" pitchFamily="34" charset="0"/>
                <a:ea typeface="IBM Plex Sans" pitchFamily="34" charset="-122"/>
                <a:cs typeface="IBM Plex Sans" pitchFamily="34" charset="-120"/>
              </a:rPr>
              <a:t>2 · El navegador torna sol</a:t>
            </a:r>
            <a:endParaRPr lang="en-US" sz="1600" dirty="0"/>
          </a:p>
        </p:txBody>
      </p:sp>
      <p:sp>
        <p:nvSpPr>
          <p:cNvPr id="8" name="Text 6"/>
          <p:cNvSpPr/>
          <p:nvPr/>
        </p:nvSpPr>
        <p:spPr>
          <a:xfrm>
            <a:off x="4662984" y="2249091"/>
            <a:ext cx="2952014"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568"/>
                </a:solidFill>
                <a:latin typeface="IBM Plex Sans" pitchFamily="34" charset="0"/>
                <a:ea typeface="IBM Plex Sans" pitchFamily="34" charset="-122"/>
                <a:cs typeface="IBM Plex Sans" pitchFamily="34" charset="-120"/>
              </a:rPr>
              <a:t>No has d'escriure ni una línia. El temps d'espera el fixa retry.</a:t>
            </a:r>
            <a:endParaRPr lang="en-US" sz="1400" dirty="0"/>
          </a:p>
        </p:txBody>
      </p:sp>
      <p:sp>
        <p:nvSpPr>
          <p:cNvPr id="9" name="Shape 7"/>
          <p:cNvSpPr/>
          <p:nvPr/>
        </p:nvSpPr>
        <p:spPr>
          <a:xfrm>
            <a:off x="7995741" y="1646535"/>
            <a:ext cx="3380284" cy="1393130"/>
          </a:xfrm>
          <a:prstGeom prst="roundRect">
            <a:avLst>
              <a:gd name="adj" fmla="val 7065"/>
            </a:avLst>
          </a:prstGeom>
          <a:solidFill>
            <a:srgbClr val="ECEEE9"/>
          </a:solidFill>
          <a:ln w="6350">
            <a:solidFill>
              <a:srgbClr val="D7DBD4"/>
            </a:solidFill>
            <a:prstDash val="solid"/>
          </a:ln>
        </p:spPr>
      </p:sp>
      <p:sp>
        <p:nvSpPr>
          <p:cNvPr id="10" name="Text 8"/>
          <p:cNvSpPr/>
          <p:nvPr/>
        </p:nvSpPr>
        <p:spPr>
          <a:xfrm>
            <a:off x="8252916" y="1903710"/>
            <a:ext cx="29519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309"/>
                </a:solidFill>
                <a:latin typeface="IBM Plex Sans" pitchFamily="34" charset="0"/>
                <a:ea typeface="IBM Plex Sans" pitchFamily="34" charset="-122"/>
                <a:cs typeface="IBM Plex Sans" pitchFamily="34" charset="-120"/>
              </a:rPr>
              <a:t>3 · Reprèn on era</a:t>
            </a:r>
            <a:endParaRPr lang="en-US" sz="1600" dirty="0"/>
          </a:p>
        </p:txBody>
      </p:sp>
      <p:sp>
        <p:nvSpPr>
          <p:cNvPr id="11" name="Text 9"/>
          <p:cNvSpPr/>
          <p:nvPr/>
        </p:nvSpPr>
        <p:spPr>
          <a:xfrm>
            <a:off x="8252916" y="2249091"/>
            <a:ext cx="2951912"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568"/>
                </a:solidFill>
                <a:latin typeface="IBM Plex Sans" pitchFamily="34" charset="0"/>
                <a:ea typeface="IBM Plex Sans" pitchFamily="34" charset="-122"/>
                <a:cs typeface="IBM Plex Sans" pitchFamily="34" charset="-120"/>
              </a:rPr>
              <a:t>Envia la capçalera Last-Event-ID amb l'últim id que va rebre.</a:t>
            </a:r>
            <a:endParaRPr lang="en-US" sz="1400" dirty="0"/>
          </a:p>
        </p:txBody>
      </p:sp>
      <p:sp>
        <p:nvSpPr>
          <p:cNvPr id="12" name="Text 10"/>
          <p:cNvSpPr/>
          <p:nvPr/>
        </p:nvSpPr>
        <p:spPr>
          <a:xfrm>
            <a:off x="812800" y="3347641"/>
            <a:ext cx="10566400" cy="954881"/>
          </a:xfrm>
          <a:prstGeom prst="roundRect">
            <a:avLst>
              <a:gd name="adj" fmla="val 10640"/>
            </a:avLst>
          </a:prstGeom>
          <a:solidFill>
            <a:srgbClr val="1B2733"/>
          </a:solidFill>
          <a:ln/>
        </p:spPr>
        <p:txBody>
          <a:bodyPr wrap="none" lIns="224242" tIns="198842" rIns="0" bIns="173442" rtlCol="0" anchor="t">
            <a:normAutofit/>
          </a:bodyPr>
          <a:lstStyle/>
          <a:p>
            <a:pPr algn="l" indent="0" marL="0">
              <a:lnSpc>
                <a:spcPts val="1960"/>
              </a:lnSpc>
              <a:buNone/>
            </a:pPr>
            <a:r>
              <a:rPr lang="en-US" sz="1400" dirty="0">
                <a:solidFill>
                  <a:srgbClr val="E6EDF3"/>
                </a:solidFill>
                <a:latin typeface="JetBrains Mono" pitchFamily="49" charset="0"/>
                <a:ea typeface="JetBrains Mono" pitchFamily="49" charset="-122"/>
                <a:cs typeface="JetBrains Mono" pitchFamily="49" charset="-120"/>
              </a:rPr>
              <a:t>GET /avisos HTTP/1.1</a:t>
            </a:r>
            <a:endParaRPr lang="en-US" sz="1400" dirty="0"/>
          </a:p>
          <a:p>
            <a:pPr algn="l" indent="0" marL="0">
              <a:lnSpc>
                <a:spcPts val="1960"/>
              </a:lnSpc>
              <a:buNone/>
            </a:pPr>
            <a:r>
              <a:rPr lang="en-US" sz="1400" dirty="0">
                <a:solidFill>
                  <a:srgbClr val="F59E0B"/>
                </a:solidFill>
                <a:latin typeface="JetBrains Mono" pitchFamily="49" charset="0"/>
                <a:ea typeface="JetBrains Mono" pitchFamily="49" charset="-122"/>
                <a:cs typeface="JetBrains Mono" pitchFamily="49" charset="-120"/>
              </a:rPr>
              <a:t>Last-Event-ID: 1043</a:t>
            </a:r>
            <a:r>
              <a:rPr lang="en-US" sz="1400" dirty="0">
                <a:solidFill>
                  <a:srgbClr val="E6EDF3"/>
                </a:solidFill>
                <a:latin typeface="JetBrains Mono" pitchFamily="49" charset="0"/>
                <a:ea typeface="JetBrains Mono" pitchFamily="49" charset="-122"/>
                <a:cs typeface="JetBrains Mono" pitchFamily="49" charset="-120"/>
              </a:rPr>
              <a:t>   </a:t>
            </a:r>
            <a:r>
              <a:rPr lang="en-US" sz="1400" dirty="0">
                <a:solidFill>
                  <a:srgbClr val="9FB0C0"/>
                </a:solidFill>
                <a:latin typeface="JetBrains Mono" pitchFamily="49" charset="0"/>
                <a:ea typeface="JetBrains Mono" pitchFamily="49" charset="-122"/>
                <a:cs typeface="JetBrains Mono" pitchFamily="49" charset="-120"/>
              </a:rPr>
              <a:t>// el servidor sap per on continuar</a:t>
            </a:r>
            <a:endParaRPr lang="en-US" sz="1400" dirty="0"/>
          </a:p>
        </p:txBody>
      </p:sp>
      <p:sp>
        <p:nvSpPr>
          <p:cNvPr id="13" name="Text 11"/>
          <p:cNvSpPr/>
          <p:nvPr/>
        </p:nvSpPr>
        <p:spPr>
          <a:xfrm>
            <a:off x="812800" y="4607322"/>
            <a:ext cx="10566400" cy="853281"/>
          </a:xfrm>
          <a:prstGeom prst="roundRect">
            <a:avLst>
              <a:gd name="adj" fmla="val 5953"/>
            </a:avLst>
          </a:prstGeom>
          <a:solidFill>
            <a:srgbClr val="ECEEE9"/>
          </a:solidFill>
          <a:ln/>
        </p:spPr>
        <p:txBody>
          <a:bodyPr wrap="square" lIns="277221" tIns="162921" rIns="0" bIns="137521" rtlCol="0" anchor="t">
            <a:normAutofit/>
          </a:bodyPr>
          <a:lstStyle/>
          <a:p>
            <a:pPr algn="l" indent="0" marL="0">
              <a:lnSpc>
                <a:spcPts val="1960"/>
              </a:lnSpc>
              <a:buNone/>
            </a:pPr>
            <a:r>
              <a:rPr lang="en-US" sz="1400" b="1" dirty="0">
                <a:solidFill>
                  <a:srgbClr val="15202B"/>
                </a:solidFill>
                <a:latin typeface="IBM Plex Sans" pitchFamily="34" charset="0"/>
                <a:ea typeface="IBM Plex Sans" pitchFamily="34" charset="-122"/>
                <a:cs typeface="IBM Plex Sans" pitchFamily="34" charset="-120"/>
              </a:rPr>
              <a:t>Un parany:</a:t>
            </a:r>
            <a:r>
              <a:rPr lang="en-US" sz="1400" dirty="0">
                <a:solidFill>
                  <a:srgbClr val="4A5568"/>
                </a:solidFill>
                <a:latin typeface="IBM Plex Sans" pitchFamily="34" charset="0"/>
                <a:ea typeface="IBM Plex Sans" pitchFamily="34" charset="-122"/>
                <a:cs typeface="IBM Plex Sans" pitchFamily="34" charset="-120"/>
              </a:rPr>
              <a:t> amb HTTP/1.1 el navegador només obre unes 6 connexions per domini, i un SSE n'ocupa una de fixa. Amb HTTP/2 el multiplexatge ho resol.</a:t>
            </a:r>
            <a:endParaRPr lang="en-US" sz="1400" dirty="0"/>
          </a:p>
        </p:txBody>
      </p:sp>
      <p:sp>
        <p:nvSpPr>
          <p:cNvPr id="14" name="Shape 12"/>
          <p:cNvSpPr/>
          <p:nvPr/>
        </p:nvSpPr>
        <p:spPr>
          <a:xfrm>
            <a:off x="812800" y="4607322"/>
            <a:ext cx="10566400" cy="853281"/>
          </a:xfrm>
          <a:custGeom>
            <a:avLst/>
            <a:gdLst/>
            <a:ahLst/>
            <a:cxnLst/>
            <a:rect l="l" t="t" r="r" b="b"/>
            <a:pathLst>
              <a:path w="10566400" h="853281">
                <a:moveTo>
                  <a:pt x="50800" y="853281"/>
                </a:moveTo>
                <a:lnTo>
                  <a:pt x="50800" y="853281"/>
                </a:lnTo>
                <a:arcTo hR="50800" wR="50800" stAng="5400000" swAng="5400000"/>
                <a:lnTo>
                  <a:pt x="0" y="50800"/>
                </a:lnTo>
                <a:arcTo hR="50800" wR="50800" stAng="10800000" swAng="5400000"/>
                <a:lnTo>
                  <a:pt x="50800" y="0"/>
                </a:lnTo>
                <a:arcTo hR="50800" wR="12700" stAng="16200000" swAng="-5400000"/>
                <a:lnTo>
                  <a:pt x="38100" y="802481"/>
                </a:lnTo>
                <a:arcTo hR="50800" wR="12700" stAng="10800000" swAng="-5400000"/>
                <a:close/>
              </a:path>
            </a:pathLst>
          </a:custGeom>
          <a:solidFill>
            <a:srgbClr val="B45309"/>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05" kern="0" dirty="0">
                <a:solidFill>
                  <a:srgbClr val="2563EB"/>
                </a:solidFill>
                <a:latin typeface="JetBrains Mono" pitchFamily="49" charset="0"/>
                <a:ea typeface="JetBrains Mono" pitchFamily="49" charset="-122"/>
                <a:cs typeface="JetBrains Mono" pitchFamily="49" charset="-120"/>
              </a:rPr>
              <a:t>SEGONA OPCIÓ</a:t>
            </a:r>
            <a:endParaRPr lang="en-US" sz="1300" dirty="0"/>
          </a:p>
        </p:txBody>
      </p:sp>
      <p:sp>
        <p:nvSpPr>
          <p:cNvPr id="3" name="Text 1"/>
          <p:cNvSpPr/>
          <p:nvPr>
            <p:ph type="title"/>
          </p:nvPr>
        </p:nvSpPr>
        <p:spPr>
          <a:xfrm>
            <a:off x="812800" y="1145480"/>
            <a:ext cx="10883392" cy="55116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5202B"/>
                </a:solidFill>
                <a:latin typeface="IBM Plex Sans" pitchFamily="34" charset="0"/>
                <a:ea typeface="IBM Plex Sans" pitchFamily="34" charset="-122"/>
                <a:cs typeface="IBM Plex Sans" pitchFamily="34" charset="-120"/>
              </a:rPr>
              <a:t>WebSockets comença parlant HTTP</a:t>
            </a:r>
            <a:endParaRPr lang="en-US" sz="3600" dirty="0"/>
          </a:p>
        </p:txBody>
      </p:sp>
      <p:sp>
        <p:nvSpPr>
          <p:cNvPr id="4" name="Text 2"/>
          <p:cNvSpPr/>
          <p:nvPr/>
        </p:nvSpPr>
        <p:spPr>
          <a:xfrm>
            <a:off x="812800" y="1925241"/>
            <a:ext cx="531088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4A5568"/>
                </a:solidFill>
                <a:latin typeface="IBM Plex Sans" pitchFamily="34" charset="0"/>
                <a:ea typeface="IBM Plex Sans" pitchFamily="34" charset="-122"/>
                <a:cs typeface="IBM Plex Sans" pitchFamily="34" charset="-120"/>
              </a:rPr>
              <a:t>El client demana canviar de protocol</a:t>
            </a:r>
            <a:endParaRPr lang="en-US" sz="1500" dirty="0"/>
          </a:p>
        </p:txBody>
      </p:sp>
      <p:sp>
        <p:nvSpPr>
          <p:cNvPr id="5" name="Text 3"/>
          <p:cNvSpPr/>
          <p:nvPr/>
        </p:nvSpPr>
        <p:spPr>
          <a:xfrm>
            <a:off x="812800" y="2255441"/>
            <a:ext cx="5156200" cy="2076450"/>
          </a:xfrm>
          <a:prstGeom prst="roundRect">
            <a:avLst>
              <a:gd name="adj" fmla="val 4893"/>
            </a:avLst>
          </a:prstGeom>
          <a:solidFill>
            <a:srgbClr val="1B2733"/>
          </a:solidFill>
          <a:ln/>
        </p:spPr>
        <p:txBody>
          <a:bodyPr wrap="none" lIns="198842" tIns="198842" rIns="57872" bIns="173442" rtlCol="0" anchor="t">
            <a:normAutofit/>
          </a:bodyPr>
          <a:lstStyle/>
          <a:p>
            <a:pPr algn="l" indent="0" marL="0">
              <a:lnSpc>
                <a:spcPts val="2125"/>
              </a:lnSpc>
              <a:buNone/>
            </a:pPr>
            <a:r>
              <a:rPr lang="en-US" sz="1250" dirty="0">
                <a:solidFill>
                  <a:srgbClr val="E6EDF3"/>
                </a:solidFill>
                <a:latin typeface="JetBrains Mono" pitchFamily="49" charset="0"/>
                <a:ea typeface="JetBrains Mono" pitchFamily="49" charset="-122"/>
                <a:cs typeface="JetBrains Mono" pitchFamily="49" charset="-120"/>
              </a:rPr>
              <a:t>GET /xat HTTP/1.1</a:t>
            </a:r>
            <a:endParaRPr lang="en-US" sz="1250" dirty="0"/>
          </a:p>
          <a:p>
            <a:pPr algn="l" indent="0" marL="0">
              <a:lnSpc>
                <a:spcPts val="2125"/>
              </a:lnSpc>
              <a:buNone/>
            </a:pPr>
            <a:r>
              <a:rPr lang="en-US" sz="1250" dirty="0">
                <a:solidFill>
                  <a:srgbClr val="E6EDF3"/>
                </a:solidFill>
                <a:latin typeface="JetBrains Mono" pitchFamily="49" charset="0"/>
                <a:ea typeface="JetBrains Mono" pitchFamily="49" charset="-122"/>
                <a:cs typeface="JetBrains Mono" pitchFamily="49" charset="-120"/>
              </a:rPr>
              <a:t>Host: example.com</a:t>
            </a:r>
            <a:endParaRPr lang="en-US" sz="1250" dirty="0"/>
          </a:p>
          <a:p>
            <a:pPr algn="l" indent="0" marL="0">
              <a:lnSpc>
                <a:spcPts val="2125"/>
              </a:lnSpc>
              <a:buNone/>
            </a:pPr>
            <a:r>
              <a:rPr lang="en-US" sz="1250" dirty="0">
                <a:solidFill>
                  <a:srgbClr val="60A5FA"/>
                </a:solidFill>
                <a:latin typeface="JetBrains Mono" pitchFamily="49" charset="0"/>
                <a:ea typeface="JetBrains Mono" pitchFamily="49" charset="-122"/>
                <a:cs typeface="JetBrains Mono" pitchFamily="49" charset="-120"/>
              </a:rPr>
              <a:t>Upgrade: websocket</a:t>
            </a:r>
            <a:endParaRPr lang="en-US" sz="1250" dirty="0"/>
          </a:p>
          <a:p>
            <a:pPr algn="l" indent="0" marL="0">
              <a:lnSpc>
                <a:spcPts val="2125"/>
              </a:lnSpc>
              <a:buNone/>
            </a:pPr>
            <a:r>
              <a:rPr lang="en-US" sz="1250" dirty="0">
                <a:solidFill>
                  <a:srgbClr val="60A5FA"/>
                </a:solidFill>
                <a:latin typeface="JetBrains Mono" pitchFamily="49" charset="0"/>
                <a:ea typeface="JetBrains Mono" pitchFamily="49" charset="-122"/>
                <a:cs typeface="JetBrains Mono" pitchFamily="49" charset="-120"/>
              </a:rPr>
              <a:t>Connection: Upgrade</a:t>
            </a:r>
            <a:endParaRPr lang="en-US" sz="1250" dirty="0"/>
          </a:p>
          <a:p>
            <a:pPr algn="l" indent="0" marL="0">
              <a:lnSpc>
                <a:spcPts val="2125"/>
              </a:lnSpc>
              <a:buNone/>
            </a:pPr>
            <a:r>
              <a:rPr lang="en-US" sz="1250" dirty="0">
                <a:solidFill>
                  <a:srgbClr val="E6EDF3"/>
                </a:solidFill>
                <a:latin typeface="JetBrains Mono" pitchFamily="49" charset="0"/>
                <a:ea typeface="JetBrains Mono" pitchFamily="49" charset="-122"/>
                <a:cs typeface="JetBrains Mono" pitchFamily="49" charset="-120"/>
              </a:rPr>
              <a:t>Sec-WebSocket-Key: dGhlIHNhbXBsZQ==</a:t>
            </a:r>
            <a:endParaRPr lang="en-US" sz="1250" dirty="0"/>
          </a:p>
          <a:p>
            <a:pPr algn="l" indent="0" marL="0">
              <a:lnSpc>
                <a:spcPts val="2125"/>
              </a:lnSpc>
              <a:buNone/>
            </a:pPr>
            <a:r>
              <a:rPr lang="en-US" sz="1250" dirty="0">
                <a:solidFill>
                  <a:srgbClr val="E6EDF3"/>
                </a:solidFill>
                <a:latin typeface="JetBrains Mono" pitchFamily="49" charset="0"/>
                <a:ea typeface="JetBrains Mono" pitchFamily="49" charset="-122"/>
                <a:cs typeface="JetBrains Mono" pitchFamily="49" charset="-120"/>
              </a:rPr>
              <a:t>Sec-WebSocket-Version: 13</a:t>
            </a:r>
            <a:endParaRPr lang="en-US" sz="1250" dirty="0"/>
          </a:p>
        </p:txBody>
      </p:sp>
      <p:sp>
        <p:nvSpPr>
          <p:cNvPr id="6" name="Text 4"/>
          <p:cNvSpPr/>
          <p:nvPr/>
        </p:nvSpPr>
        <p:spPr>
          <a:xfrm>
            <a:off x="6223000" y="1925241"/>
            <a:ext cx="531088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4A5568"/>
                </a:solidFill>
                <a:latin typeface="IBM Plex Sans" pitchFamily="34" charset="0"/>
                <a:ea typeface="IBM Plex Sans" pitchFamily="34" charset="-122"/>
                <a:cs typeface="IBM Plex Sans" pitchFamily="34" charset="-120"/>
              </a:rPr>
              <a:t>El servidor accepta</a:t>
            </a:r>
            <a:endParaRPr lang="en-US" sz="1500" dirty="0"/>
          </a:p>
        </p:txBody>
      </p:sp>
      <p:sp>
        <p:nvSpPr>
          <p:cNvPr id="7" name="Text 5"/>
          <p:cNvSpPr/>
          <p:nvPr/>
        </p:nvSpPr>
        <p:spPr>
          <a:xfrm>
            <a:off x="6223000" y="2255441"/>
            <a:ext cx="5156200" cy="2076450"/>
          </a:xfrm>
          <a:prstGeom prst="roundRect">
            <a:avLst>
              <a:gd name="adj" fmla="val 4893"/>
            </a:avLst>
          </a:prstGeom>
          <a:solidFill>
            <a:srgbClr val="1B2733"/>
          </a:solidFill>
          <a:ln/>
        </p:spPr>
        <p:txBody>
          <a:bodyPr wrap="none" lIns="198842" tIns="198842" rIns="57872" bIns="173442" rtlCol="0" anchor="t">
            <a:normAutofit/>
          </a:bodyPr>
          <a:lstStyle/>
          <a:p>
            <a:pPr algn="l" indent="0" marL="0">
              <a:lnSpc>
                <a:spcPts val="2125"/>
              </a:lnSpc>
              <a:buNone/>
            </a:pPr>
            <a:r>
              <a:rPr lang="en-US" sz="1250" dirty="0">
                <a:solidFill>
                  <a:srgbClr val="60A5FA"/>
                </a:solidFill>
                <a:latin typeface="JetBrains Mono" pitchFamily="49" charset="0"/>
                <a:ea typeface="JetBrains Mono" pitchFamily="49" charset="-122"/>
                <a:cs typeface="JetBrains Mono" pitchFamily="49" charset="-120"/>
              </a:rPr>
              <a:t>HTTP/1.1 101 Switching Protocols</a:t>
            </a:r>
            <a:endParaRPr lang="en-US" sz="1250" dirty="0"/>
          </a:p>
          <a:p>
            <a:pPr algn="l" indent="0" marL="0">
              <a:lnSpc>
                <a:spcPts val="2125"/>
              </a:lnSpc>
              <a:buNone/>
            </a:pPr>
            <a:r>
              <a:rPr lang="en-US" sz="1250" dirty="0">
                <a:solidFill>
                  <a:srgbClr val="E6EDF3"/>
                </a:solidFill>
                <a:latin typeface="JetBrains Mono" pitchFamily="49" charset="0"/>
                <a:ea typeface="JetBrains Mono" pitchFamily="49" charset="-122"/>
                <a:cs typeface="JetBrains Mono" pitchFamily="49" charset="-120"/>
              </a:rPr>
              <a:t>Upgrade: websocket</a:t>
            </a:r>
            <a:endParaRPr lang="en-US" sz="1250" dirty="0"/>
          </a:p>
          <a:p>
            <a:pPr algn="l" indent="0" marL="0">
              <a:lnSpc>
                <a:spcPts val="2125"/>
              </a:lnSpc>
              <a:buNone/>
            </a:pPr>
            <a:r>
              <a:rPr lang="en-US" sz="1250" dirty="0">
                <a:solidFill>
                  <a:srgbClr val="E6EDF3"/>
                </a:solidFill>
                <a:latin typeface="JetBrains Mono" pitchFamily="49" charset="0"/>
                <a:ea typeface="JetBrains Mono" pitchFamily="49" charset="-122"/>
                <a:cs typeface="JetBrains Mono" pitchFamily="49" charset="-120"/>
              </a:rPr>
              <a:t>Connection: Upgrade</a:t>
            </a:r>
            <a:endParaRPr lang="en-US" sz="1250" dirty="0"/>
          </a:p>
          <a:p>
            <a:pPr algn="l" indent="0" marL="0">
              <a:lnSpc>
                <a:spcPts val="2125"/>
              </a:lnSpc>
              <a:buNone/>
            </a:pPr>
            <a:r>
              <a:rPr lang="en-US" sz="1250" dirty="0">
                <a:solidFill>
                  <a:srgbClr val="E6EDF3"/>
                </a:solidFill>
                <a:latin typeface="JetBrains Mono" pitchFamily="49" charset="0"/>
                <a:ea typeface="JetBrains Mono" pitchFamily="49" charset="-122"/>
                <a:cs typeface="JetBrains Mono" pitchFamily="49" charset="-120"/>
              </a:rPr>
              <a:t>Sec-WebSocket-Accept: s3pPLMBi...</a:t>
            </a:r>
            <a:endParaRPr lang="en-US" sz="1250" dirty="0"/>
          </a:p>
          <a:p>
            <a:pPr algn="l" indent="0" marL="0">
              <a:lnSpc>
                <a:spcPts val="2125"/>
              </a:lnSpc>
              <a:buNone/>
            </a:pPr>
            <a:endParaRPr lang="en-US" sz="1250" dirty="0"/>
          </a:p>
          <a:p>
            <a:pPr algn="l" indent="0" marL="0">
              <a:lnSpc>
                <a:spcPts val="2125"/>
              </a:lnSpc>
              <a:buNone/>
            </a:pPr>
            <a:r>
              <a:rPr lang="en-US" sz="1250" dirty="0">
                <a:solidFill>
                  <a:srgbClr val="9FB0C0"/>
                </a:solidFill>
                <a:latin typeface="JetBrains Mono" pitchFamily="49" charset="0"/>
                <a:ea typeface="JetBrains Mono" pitchFamily="49" charset="-122"/>
                <a:cs typeface="JetBrains Mono" pitchFamily="49" charset="-120"/>
              </a:rPr>
              <a:t>// d'aquí endavant, ja no hi ha HTTP</a:t>
            </a:r>
            <a:endParaRPr lang="en-US" sz="1250" dirty="0"/>
          </a:p>
        </p:txBody>
      </p:sp>
      <p:sp>
        <p:nvSpPr>
          <p:cNvPr id="8" name="Text 6"/>
          <p:cNvSpPr/>
          <p:nvPr/>
        </p:nvSpPr>
        <p:spPr>
          <a:xfrm>
            <a:off x="812800" y="4585891"/>
            <a:ext cx="10566400" cy="889000"/>
          </a:xfrm>
          <a:prstGeom prst="roundRect">
            <a:avLst>
              <a:gd name="adj" fmla="val 5714"/>
            </a:avLst>
          </a:prstGeom>
          <a:solidFill>
            <a:srgbClr val="ECEEE9"/>
          </a:solidFill>
          <a:ln/>
        </p:spPr>
        <p:txBody>
          <a:bodyPr wrap="square" lIns="277221" tIns="162921" rIns="0" bIns="137521"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El codi </a:t>
            </a:r>
            <a:r>
              <a:rPr lang="en-US" sz="1500" b="1" dirty="0">
                <a:solidFill>
                  <a:srgbClr val="15202B"/>
                </a:solidFill>
                <a:latin typeface="IBM Plex Sans" pitchFamily="34" charset="0"/>
                <a:ea typeface="IBM Plex Sans" pitchFamily="34" charset="-122"/>
                <a:cs typeface="IBM Plex Sans" pitchFamily="34" charset="-120"/>
              </a:rPr>
              <a:t>101</a:t>
            </a:r>
            <a:r>
              <a:rPr lang="en-US" sz="1500" dirty="0">
                <a:solidFill>
                  <a:srgbClr val="4A5568"/>
                </a:solidFill>
                <a:latin typeface="IBM Plex Sans" pitchFamily="34" charset="0"/>
                <a:ea typeface="IBM Plex Sans" pitchFamily="34" charset="-122"/>
                <a:cs typeface="IBM Plex Sans" pitchFamily="34" charset="-120"/>
              </a:rPr>
              <a:t> és la frontera: la connexió TCP ja estava oberta i es queda oberta, però a partir d'aquí hi viatja un altre protocol.</a:t>
            </a:r>
            <a:endParaRPr lang="en-US" sz="1500" dirty="0"/>
          </a:p>
        </p:txBody>
      </p:sp>
      <p:sp>
        <p:nvSpPr>
          <p:cNvPr id="9" name="Shape 7"/>
          <p:cNvSpPr/>
          <p:nvPr/>
        </p:nvSpPr>
        <p:spPr>
          <a:xfrm>
            <a:off x="812800" y="4585891"/>
            <a:ext cx="10566400" cy="889000"/>
          </a:xfrm>
          <a:custGeom>
            <a:avLst/>
            <a:gdLst/>
            <a:ahLst/>
            <a:cxnLst/>
            <a:rect l="l" t="t" r="r" b="b"/>
            <a:pathLst>
              <a:path w="10566400" h="889000">
                <a:moveTo>
                  <a:pt x="50800" y="889000"/>
                </a:moveTo>
                <a:lnTo>
                  <a:pt x="50800" y="889000"/>
                </a:lnTo>
                <a:arcTo hR="50800" wR="50800" stAng="5400000" swAng="5400000"/>
                <a:lnTo>
                  <a:pt x="0" y="50800"/>
                </a:lnTo>
                <a:arcTo hR="50800" wR="50800" stAng="10800000" swAng="5400000"/>
                <a:lnTo>
                  <a:pt x="50800" y="0"/>
                </a:lnTo>
                <a:arcTo hR="50800" wR="12700" stAng="16200000" swAng="-5400000"/>
                <a:lnTo>
                  <a:pt x="38100" y="838200"/>
                </a:lnTo>
                <a:arcTo hR="50800" wR="12700" stAng="10800000" swAng="-5400000"/>
                <a:close/>
              </a:path>
            </a:pathLst>
          </a:custGeom>
          <a:solidFill>
            <a:srgbClr val="2563EB"/>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5116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5202B"/>
                </a:solidFill>
                <a:latin typeface="IBM Plex Sans" pitchFamily="34" charset="0"/>
                <a:ea typeface="IBM Plex Sans" pitchFamily="34" charset="-122"/>
                <a:cs typeface="IBM Plex Sans" pitchFamily="34" charset="-120"/>
              </a:rPr>
              <a:t>Després del 101 ja no és HTTP</a:t>
            </a:r>
            <a:endParaRPr lang="en-US" sz="3600" dirty="0"/>
          </a:p>
        </p:txBody>
      </p:sp>
      <p:sp>
        <p:nvSpPr>
          <p:cNvPr id="3" name="Text 1"/>
          <p:cNvSpPr/>
          <p:nvPr/>
        </p:nvSpPr>
        <p:spPr>
          <a:xfrm>
            <a:off x="883920" y="1643360"/>
            <a:ext cx="5650738" cy="202565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4A5568"/>
                </a:solidFill>
                <a:latin typeface="IBM Plex Sans" pitchFamily="34" charset="0"/>
                <a:ea typeface="IBM Plex Sans" pitchFamily="34" charset="-122"/>
                <a:cs typeface="IBM Plex Sans" pitchFamily="34" charset="-120"/>
              </a:rPr>
              <a:t>La mateixa connexió TCP transporta ara </a:t>
            </a:r>
            <a:r>
              <a:rPr lang="en-US" sz="1500" b="1" dirty="0">
                <a:solidFill>
                  <a:srgbClr val="15202B"/>
                </a:solidFill>
                <a:latin typeface="IBM Plex Sans" pitchFamily="34" charset="0"/>
                <a:ea typeface="IBM Plex Sans" pitchFamily="34" charset="-122"/>
                <a:cs typeface="IBM Plex Sans" pitchFamily="34" charset="-120"/>
              </a:rPr>
              <a:t>frames</a:t>
            </a:r>
            <a:r>
              <a:rPr lang="en-US" sz="1500" dirty="0">
                <a:solidFill>
                  <a:srgbClr val="4A5568"/>
                </a:solidFill>
                <a:latin typeface="IBM Plex Sans" pitchFamily="34" charset="0"/>
                <a:ea typeface="IBM Plex Sans" pitchFamily="34" charset="-122"/>
                <a:cs typeface="IBM Plex Sans" pitchFamily="34" charset="-120"/>
              </a:rPr>
              <a:t> binaris</a:t>
            </a:r>
            <a:endParaRPr lang="en-US" sz="1500" dirty="0"/>
          </a:p>
          <a:p>
            <a:pPr algn="l" marL="182880" indent="-182880">
              <a:lnSpc>
                <a:spcPts val="2250"/>
              </a:lnSpc>
              <a:buSzPct val="100000"/>
              <a:buChar char="•"/>
            </a:pPr>
            <a:r>
              <a:rPr lang="en-US" sz="1500" b="1" dirty="0">
                <a:solidFill>
                  <a:srgbClr val="15202B"/>
                </a:solidFill>
                <a:latin typeface="IBM Plex Sans" pitchFamily="34" charset="0"/>
                <a:ea typeface="IBM Plex Sans" pitchFamily="34" charset="-122"/>
                <a:cs typeface="IBM Plex Sans" pitchFamily="34" charset="-120"/>
              </a:rPr>
              <a:t>Full duplex:</a:t>
            </a:r>
            <a:r>
              <a:rPr lang="en-US" sz="1500" dirty="0">
                <a:solidFill>
                  <a:srgbClr val="4A5568"/>
                </a:solidFill>
                <a:latin typeface="IBM Plex Sans" pitchFamily="34" charset="0"/>
                <a:ea typeface="IBM Plex Sans" pitchFamily="34" charset="-122"/>
                <a:cs typeface="IBM Plex Sans" pitchFamily="34" charset="-120"/>
              </a:rPr>
              <a:t> els dos extrems envien quan volen, alhora</a:t>
            </a:r>
            <a:endParaRPr lang="en-US" sz="1500" dirty="0"/>
          </a:p>
          <a:p>
            <a:pPr algn="l" marL="182880" indent="-182880">
              <a:lnSpc>
                <a:spcPts val="2250"/>
              </a:lnSpc>
              <a:buSzPct val="100000"/>
              <a:buChar char="•"/>
            </a:pPr>
            <a:r>
              <a:rPr lang="en-US" sz="1500" dirty="0">
                <a:solidFill>
                  <a:srgbClr val="4A5568"/>
                </a:solidFill>
                <a:latin typeface="IBM Plex Sans" pitchFamily="34" charset="0"/>
                <a:ea typeface="IBM Plex Sans" pitchFamily="34" charset="-122"/>
                <a:cs typeface="IBM Plex Sans" pitchFamily="34" charset="-120"/>
              </a:rPr>
              <a:t>Text </a:t>
            </a:r>
            <a:r>
              <a:rPr lang="en-US" sz="1500" b="1" dirty="0">
                <a:solidFill>
                  <a:srgbClr val="15202B"/>
                </a:solidFill>
                <a:latin typeface="IBM Plex Sans" pitchFamily="34" charset="0"/>
                <a:ea typeface="IBM Plex Sans" pitchFamily="34" charset="-122"/>
                <a:cs typeface="IBM Plex Sans" pitchFamily="34" charset="-120"/>
              </a:rPr>
              <a:t>i</a:t>
            </a:r>
            <a:r>
              <a:rPr lang="en-US" sz="1500" dirty="0">
                <a:solidFill>
                  <a:srgbClr val="4A5568"/>
                </a:solidFill>
                <a:latin typeface="IBM Plex Sans" pitchFamily="34" charset="0"/>
                <a:ea typeface="IBM Plex Sans" pitchFamily="34" charset="-122"/>
                <a:cs typeface="IBM Plex Sans" pitchFamily="34" charset="-120"/>
              </a:rPr>
              <a:t> binari: imatges, àudio, protocols propis</a:t>
            </a:r>
            <a:endParaRPr lang="en-US" sz="1500" dirty="0"/>
          </a:p>
          <a:p>
            <a:pPr algn="l" marL="182880" indent="-182880">
              <a:lnSpc>
                <a:spcPts val="2250"/>
              </a:lnSpc>
              <a:buSzPct val="100000"/>
              <a:buChar char="•"/>
            </a:pPr>
            <a:r>
              <a:rPr lang="en-US" sz="1500" dirty="0">
                <a:solidFill>
                  <a:srgbClr val="4A5568"/>
                </a:solidFill>
                <a:latin typeface="IBM Plex Sans" pitchFamily="34" charset="0"/>
                <a:ea typeface="IBM Plex Sans" pitchFamily="34" charset="-122"/>
                <a:cs typeface="IBM Plex Sans" pitchFamily="34" charset="-120"/>
              </a:rPr>
              <a:t>Ni URLs, ni mètodes, ni codis d'estat: </a:t>
            </a:r>
            <a:r>
              <a:rPr lang="en-US" sz="1500" dirty="0">
                <a:solidFill>
                  <a:srgbClr val="2563EB"/>
                </a:solidFill>
                <a:latin typeface="IBM Plex Sans" pitchFamily="34" charset="0"/>
                <a:ea typeface="IBM Plex Sans" pitchFamily="34" charset="-122"/>
                <a:cs typeface="IBM Plex Sans" pitchFamily="34" charset="-120"/>
              </a:rPr>
              <a:t>el protocol de missatges te'l dissenyes tu</a:t>
            </a:r>
            <a:endParaRPr lang="en-US" sz="1500" dirty="0"/>
          </a:p>
          <a:p>
            <a:pPr algn="l" marL="182880" indent="-182880">
              <a:lnSpc>
                <a:spcPts val="2250"/>
              </a:lnSpc>
              <a:buSzPct val="100000"/>
              <a:buChar char="•"/>
            </a:pPr>
            <a:r>
              <a:rPr lang="en-US" sz="1500" dirty="0">
                <a:solidFill>
                  <a:srgbClr val="4A5568"/>
                </a:solidFill>
                <a:latin typeface="IBM Plex Sans" pitchFamily="34" charset="0"/>
                <a:ea typeface="IBM Plex Sans" pitchFamily="34" charset="-122"/>
                <a:cs typeface="IBM Plex Sans" pitchFamily="34" charset="-120"/>
              </a:rPr>
              <a:t>Frames de ping i pong per mantenir viva la connexió</a:t>
            </a:r>
            <a:endParaRPr lang="en-US" sz="1500" dirty="0"/>
          </a:p>
          <a:p>
            <a:pPr algn="l" marL="182880" indent="-182880">
              <a:lnSpc>
                <a:spcPts val="2250"/>
              </a:lnSpc>
              <a:buSzPct val="100000"/>
              <a:buChar char="•"/>
            </a:pPr>
            <a:r>
              <a:rPr lang="en-US" sz="1500" dirty="0">
                <a:solidFill>
                  <a:srgbClr val="2563EB"/>
                </a:solidFill>
                <a:latin typeface="IBM Plex Sans" pitchFamily="34" charset="0"/>
                <a:ea typeface="IBM Plex Sans" pitchFamily="34" charset="-122"/>
                <a:cs typeface="IBM Plex Sans" pitchFamily="34" charset="-120"/>
              </a:rPr>
              <a:t>ws://</a:t>
            </a:r>
            <a:r>
              <a:rPr lang="en-US" sz="1500" dirty="0">
                <a:solidFill>
                  <a:srgbClr val="4A5568"/>
                </a:solidFill>
                <a:latin typeface="IBM Plex Sans" pitchFamily="34" charset="0"/>
                <a:ea typeface="IBM Plex Sans" pitchFamily="34" charset="-122"/>
                <a:cs typeface="IBM Plex Sans" pitchFamily="34" charset="-120"/>
              </a:rPr>
              <a:t> i </a:t>
            </a:r>
            <a:r>
              <a:rPr lang="en-US" sz="1500" dirty="0">
                <a:solidFill>
                  <a:srgbClr val="2563EB"/>
                </a:solidFill>
                <a:latin typeface="IBM Plex Sans" pitchFamily="34" charset="0"/>
                <a:ea typeface="IBM Plex Sans" pitchFamily="34" charset="-122"/>
                <a:cs typeface="IBM Plex Sans" pitchFamily="34" charset="-120"/>
              </a:rPr>
              <a:t>wss://</a:t>
            </a:r>
            <a:r>
              <a:rPr lang="en-US" sz="1500" dirty="0">
                <a:solidFill>
                  <a:srgbClr val="4A5568"/>
                </a:solidFill>
                <a:latin typeface="IBM Plex Sans" pitchFamily="34" charset="0"/>
                <a:ea typeface="IBM Plex Sans" pitchFamily="34" charset="-122"/>
                <a:cs typeface="IBM Plex Sans" pitchFamily="34" charset="-120"/>
              </a:rPr>
              <a:t>, que és el mateix sobre TLS</a:t>
            </a:r>
            <a:endParaRPr lang="en-US" sz="1500" dirty="0"/>
          </a:p>
        </p:txBody>
      </p:sp>
      <p:sp>
        <p:nvSpPr>
          <p:cNvPr id="4" name="Text 2"/>
          <p:cNvSpPr/>
          <p:nvPr/>
        </p:nvSpPr>
        <p:spPr>
          <a:xfrm>
            <a:off x="6680200" y="1643360"/>
            <a:ext cx="4699000" cy="4155678"/>
          </a:xfrm>
          <a:prstGeom prst="roundRect">
            <a:avLst>
              <a:gd name="adj" fmla="val 2445"/>
            </a:avLst>
          </a:prstGeom>
          <a:solidFill>
            <a:srgbClr val="1B2733"/>
          </a:solidFill>
          <a:ln/>
        </p:spPr>
        <p:txBody>
          <a:bodyPr wrap="none" lIns="224242" tIns="224242" rIns="98512" bIns="198842" rtlCol="0" anchor="t">
            <a:normAutofit/>
          </a:bodyPr>
          <a:lstStyle/>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const ws = new WebSocket(</a:t>
            </a: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  "wss://example.com/xat"</a:t>
            </a: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a:t>
            </a:r>
            <a:endParaRPr lang="en-US" sz="1300" dirty="0"/>
          </a:p>
          <a:p>
            <a:pPr algn="l" indent="0" marL="0">
              <a:lnSpc>
                <a:spcPts val="2210"/>
              </a:lnSpc>
              <a:buNone/>
            </a:pP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ws.onopen = () =&gt; {</a:t>
            </a: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  ws.send(JSON.stringify(</a:t>
            </a: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    {tipus: "hola"}</a:t>
            </a: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  ));</a:t>
            </a: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a:t>
            </a:r>
            <a:endParaRPr lang="en-US" sz="1300" dirty="0"/>
          </a:p>
          <a:p>
            <a:pPr algn="l" indent="0" marL="0">
              <a:lnSpc>
                <a:spcPts val="2210"/>
              </a:lnSpc>
              <a:buNone/>
            </a:pP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ws.onmessage = e =&gt; {</a:t>
            </a: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  pinta(JSON.parse(e.data));</a:t>
            </a:r>
            <a:endParaRPr lang="en-US" sz="1300" dirty="0"/>
          </a:p>
          <a:p>
            <a:pPr algn="l" indent="0" marL="0">
              <a:lnSpc>
                <a:spcPts val="2210"/>
              </a:lnSpc>
              <a:buNone/>
            </a:pPr>
            <a:r>
              <a:rPr lang="en-US" sz="1300" dirty="0">
                <a:solidFill>
                  <a:srgbClr val="E6EDF3"/>
                </a:solidFill>
                <a:latin typeface="JetBrains Mono" pitchFamily="49" charset="0"/>
                <a:ea typeface="JetBrains Mono" pitchFamily="49" charset="-122"/>
                <a:cs typeface="JetBrains Mono" pitchFamily="49" charset="-120"/>
              </a:rPr>
              <a: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5116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5202B"/>
                </a:solidFill>
                <a:latin typeface="IBM Plex Sans" pitchFamily="34" charset="0"/>
                <a:ea typeface="IBM Plex Sans" pitchFamily="34" charset="-122"/>
                <a:cs typeface="IBM Plex Sans" pitchFamily="34" charset="-120"/>
              </a:rPr>
              <a:t>Un al costat de l'altre</a:t>
            </a:r>
            <a:endParaRPr lang="en-US" sz="3600" dirty="0"/>
          </a:p>
        </p:txBody>
      </p:sp>
      <p:sp>
        <p:nvSpPr>
          <p:cNvPr id="3" name="Shape 1"/>
          <p:cNvSpPr/>
          <p:nvPr/>
        </p:nvSpPr>
        <p:spPr>
          <a:xfrm>
            <a:off x="11376025" y="1643360"/>
            <a:ext cx="0" cy="3441700"/>
          </a:xfrm>
          <a:prstGeom prst="line">
            <a:avLst/>
          </a:prstGeom>
          <a:noFill/>
          <a:ln w="6350">
            <a:solidFill>
              <a:srgbClr val="D7DBD4"/>
            </a:solidFill>
            <a:prstDash val="solid"/>
          </a:ln>
        </p:spPr>
      </p:sp>
      <p:sp>
        <p:nvSpPr>
          <p:cNvPr id="4" name="Shape 2"/>
          <p:cNvSpPr/>
          <p:nvPr/>
        </p:nvSpPr>
        <p:spPr>
          <a:xfrm>
            <a:off x="812800" y="5081885"/>
            <a:ext cx="10566400" cy="0"/>
          </a:xfrm>
          <a:prstGeom prst="line">
            <a:avLst/>
          </a:prstGeom>
          <a:noFill/>
          <a:ln w="6350">
            <a:solidFill>
              <a:srgbClr val="D7DBD4"/>
            </a:solidFill>
            <a:prstDash val="solid"/>
          </a:ln>
        </p:spPr>
      </p:sp>
      <p:sp>
        <p:nvSpPr>
          <p:cNvPr id="5" name="Shape 3"/>
          <p:cNvSpPr/>
          <p:nvPr/>
        </p:nvSpPr>
        <p:spPr>
          <a:xfrm>
            <a:off x="812800" y="1649710"/>
            <a:ext cx="10566400" cy="0"/>
          </a:xfrm>
          <a:prstGeom prst="line">
            <a:avLst/>
          </a:prstGeom>
          <a:noFill/>
          <a:ln w="12700">
            <a:solidFill>
              <a:srgbClr val="141413">
                <a:alpha val="22000"/>
              </a:srgbClr>
            </a:solidFill>
            <a:prstDash val="solid"/>
          </a:ln>
        </p:spPr>
      </p:sp>
      <p:sp>
        <p:nvSpPr>
          <p:cNvPr id="6" name="Shape 4"/>
          <p:cNvSpPr/>
          <p:nvPr/>
        </p:nvSpPr>
        <p:spPr>
          <a:xfrm>
            <a:off x="819150" y="1643360"/>
            <a:ext cx="0" cy="3441700"/>
          </a:xfrm>
          <a:prstGeom prst="line">
            <a:avLst/>
          </a:prstGeom>
          <a:noFill/>
          <a:ln w="12700">
            <a:solidFill>
              <a:srgbClr val="141413">
                <a:alpha val="22000"/>
              </a:srgbClr>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77900" y="1770360"/>
          <a:ext cx="10242550" cy="3194050"/>
        </p:xfrm>
        <a:graphic>
          <a:graphicData uri="http://schemas.openxmlformats.org/drawingml/2006/table">
            <a:tbl>
              <a:tblPr/>
              <a:tblGrid>
                <a:gridCol w="2458212"/>
                <a:gridCol w="3892169"/>
                <a:gridCol w="3892169"/>
              </a:tblGrid>
              <a:tr h="399256">
                <a:tc>
                  <a:txBody>
                    <a:bodyPr/>
                    <a:lstStyle/>
                    <a:p>
                      <a:pPr indent="0" marL="0">
                        <a:lnSpc>
                          <a:spcPts val="2030"/>
                        </a:lnSpc>
                        <a:buNone/>
                      </a:pPr>
                      <a:endParaRPr lang="en-US" sz="1450" dirty="0">
                        <a:latin typeface="IBM Plex Sans" charset="0"/>
                        <a:ea typeface="IBM Plex Sans" charset="0"/>
                        <a:cs typeface="IBM Plex Sans" charset="0"/>
                      </a:endParaRPr>
                    </a:p>
                  </a:txBody>
                  <a:tcPr marL="64452" marR="64452" marT="64452" marB="64452" anchor="t">
                    <a:lnL w="0" cap="flat" cmpd="sng" algn="ctr">
                      <a:noFill/>
                    </a:lnL>
                    <a:lnR w="12700" cap="flat" cmpd="sng" algn="ctr">
                      <a:solidFill>
                        <a:srgbClr val="BCBEBA"/>
                      </a:solidFill>
                      <a:prstDash val="solid"/>
                      <a:round/>
                      <a:headEnd type="none" w="med" len="med"/>
                      <a:tailEnd type="none" w="med" len="med"/>
                    </a:lnR>
                    <a:lnT w="0" cap="flat" cmpd="sng" algn="ctr">
                      <a:noFill/>
                    </a:lnT>
                    <a:lnB w="12700" cap="flat" cmpd="sng" algn="ctr">
                      <a:solidFill>
                        <a:srgbClr val="BCBEBA"/>
                      </a:solidFill>
                      <a:prstDash val="solid"/>
                      <a:round/>
                      <a:headEnd type="none" w="med" len="med"/>
                      <a:tailEnd type="none" w="med" len="med"/>
                    </a:lnB>
                    <a:solidFill>
                      <a:srgbClr val="ECEEE9"/>
                    </a:solidFill>
                  </a:tcPr>
                </a:tc>
                <a:tc>
                  <a:txBody>
                    <a:bodyPr/>
                    <a:lstStyle/>
                    <a:p>
                      <a:pPr indent="0" marL="0">
                        <a:lnSpc>
                          <a:spcPts val="2030"/>
                        </a:lnSpc>
                        <a:buNone/>
                      </a:pPr>
                      <a:r>
                        <a:rPr lang="en-US" sz="1450" b="1" dirty="0">
                          <a:solidFill>
                            <a:srgbClr val="B45309"/>
                          </a:solidFill>
                          <a:latin typeface="IBM Plex Sans" pitchFamily="34" charset="0"/>
                          <a:ea typeface="IBM Plex Sans" pitchFamily="34" charset="-122"/>
                          <a:cs typeface="IBM Plex Sans" pitchFamily="34" charset="-120"/>
                        </a:rPr>
                        <a:t>Server-Sent Events</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CBEBA"/>
                      </a:solidFill>
                      <a:prstDash val="solid"/>
                      <a:round/>
                      <a:headEnd type="none" w="med" len="med"/>
                      <a:tailEnd type="none" w="med" len="med"/>
                    </a:lnL>
                    <a:lnR w="12700" cap="flat" cmpd="sng" algn="ctr">
                      <a:solidFill>
                        <a:srgbClr val="BCBEBA"/>
                      </a:solidFill>
                      <a:prstDash val="solid"/>
                      <a:round/>
                      <a:headEnd type="none" w="med" len="med"/>
                      <a:tailEnd type="none" w="med" len="med"/>
                    </a:lnR>
                    <a:lnT w="0" cap="flat" cmpd="sng" algn="ctr">
                      <a:noFill/>
                    </a:lnT>
                    <a:lnB w="12700" cap="flat" cmpd="sng" algn="ctr">
                      <a:solidFill>
                        <a:srgbClr val="BCBEBA"/>
                      </a:solidFill>
                      <a:prstDash val="solid"/>
                      <a:round/>
                      <a:headEnd type="none" w="med" len="med"/>
                      <a:tailEnd type="none" w="med" len="med"/>
                    </a:lnB>
                    <a:solidFill>
                      <a:srgbClr val="ECEEE9"/>
                    </a:solidFill>
                  </a:tcPr>
                </a:tc>
                <a:tc>
                  <a:txBody>
                    <a:bodyPr/>
                    <a:lstStyle/>
                    <a:p>
                      <a:pPr indent="0" marL="0">
                        <a:lnSpc>
                          <a:spcPts val="2030"/>
                        </a:lnSpc>
                        <a:buNone/>
                      </a:pPr>
                      <a:r>
                        <a:rPr lang="en-US" sz="1450" b="1" dirty="0">
                          <a:solidFill>
                            <a:srgbClr val="2563EB"/>
                          </a:solidFill>
                          <a:latin typeface="IBM Plex Sans" pitchFamily="34" charset="0"/>
                          <a:ea typeface="IBM Plex Sans" pitchFamily="34" charset="-122"/>
                          <a:cs typeface="IBM Plex Sans" pitchFamily="34" charset="-120"/>
                        </a:rPr>
                        <a:t>WebSockets</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CBEBA"/>
                      </a:solidFill>
                      <a:prstDash val="solid"/>
                      <a:round/>
                      <a:headEnd type="none" w="med" len="med"/>
                      <a:tailEnd type="none" w="med" len="med"/>
                    </a:lnL>
                    <a:lnR w="12700" cap="flat" cmpd="sng" algn="ctr">
                      <a:solidFill>
                        <a:srgbClr val="BCBEBA"/>
                      </a:solidFill>
                      <a:prstDash val="solid"/>
                      <a:round/>
                      <a:headEnd type="none" w="med" len="med"/>
                      <a:tailEnd type="none" w="med" len="med"/>
                    </a:lnR>
                    <a:lnT w="0" cap="flat" cmpd="sng" algn="ctr">
                      <a:noFill/>
                    </a:lnT>
                    <a:lnB w="12700" cap="flat" cmpd="sng" algn="ctr">
                      <a:solidFill>
                        <a:srgbClr val="BCBEBA"/>
                      </a:solidFill>
                      <a:prstDash val="solid"/>
                      <a:round/>
                      <a:headEnd type="none" w="med" len="med"/>
                      <a:tailEnd type="none" w="med" len="med"/>
                    </a:lnB>
                    <a:solidFill>
                      <a:srgbClr val="ECEEE9"/>
                    </a:solidFill>
                  </a:tcPr>
                </a:tc>
              </a:tr>
              <a:tr h="399256">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Sentit</a:t>
                      </a:r>
                      <a:endParaRPr lang="en-US" sz="1450" dirty="0">
                        <a:latin typeface="IBM Plex Sans" charset="0"/>
                        <a:ea typeface="IBM Plex Sans" charset="0"/>
                        <a:cs typeface="IBM Plex Sans" charset="0"/>
                      </a:endParaRPr>
                    </a:p>
                  </a:txBody>
                  <a:tcPr marL="64452" marR="64452" marT="64452" marB="64452"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BCBEBA"/>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Servidor cap a client</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BCBEBA"/>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Bidireccional, i alhora</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BCBEBA"/>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399256">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Protocol</a:t>
                      </a:r>
                      <a:endParaRPr lang="en-US" sz="1450" dirty="0">
                        <a:latin typeface="IBM Plex Sans" charset="0"/>
                        <a:ea typeface="IBM Plex Sans" charset="0"/>
                        <a:cs typeface="IBM Plex Sans" charset="0"/>
                      </a:endParaRPr>
                    </a:p>
                  </a:txBody>
                  <a:tcPr marL="64452" marR="64452" marT="64452" marB="64452"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HTTP, sense res més</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Propi, després del handshake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399256">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Dades</a:t>
                      </a:r>
                      <a:endParaRPr lang="en-US" sz="1450" dirty="0">
                        <a:latin typeface="IBM Plex Sans" charset="0"/>
                        <a:ea typeface="IBM Plex Sans" charset="0"/>
                        <a:cs typeface="IBM Plex Sans" charset="0"/>
                      </a:endParaRPr>
                    </a:p>
                  </a:txBody>
                  <a:tcPr marL="64452" marR="64452" marT="64452" marB="64452"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Només text UTF-8</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Text i binari</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399256">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Reconnexió</a:t>
                      </a:r>
                      <a:endParaRPr lang="en-US" sz="1450" dirty="0">
                        <a:latin typeface="IBM Plex Sans" charset="0"/>
                        <a:ea typeface="IBM Plex Sans" charset="0"/>
                        <a:cs typeface="IBM Plex Sans" charset="0"/>
                      </a:endParaRPr>
                    </a:p>
                  </a:txBody>
                  <a:tcPr marL="64452" marR="64452" marT="64452" marB="64452"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Automàtica, i reprèn</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Te l'has d'escriure tu</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399256">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API</a:t>
                      </a:r>
                      <a:endParaRPr lang="en-US" sz="1450" dirty="0">
                        <a:latin typeface="IBM Plex Sans" charset="0"/>
                        <a:ea typeface="IBM Plex Sans" charset="0"/>
                        <a:cs typeface="IBM Plex Sans" charset="0"/>
                      </a:endParaRPr>
                    </a:p>
                  </a:txBody>
                  <a:tcPr marL="64452" marR="64452" marT="64452" marB="64452"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EventSource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WebSocket</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399256">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Proxies i firewalls</a:t>
                      </a:r>
                      <a:endParaRPr lang="en-US" sz="1450" dirty="0">
                        <a:latin typeface="IBM Plex Sans" charset="0"/>
                        <a:ea typeface="IBM Plex Sans" charset="0"/>
                        <a:cs typeface="IBM Plex Sans" charset="0"/>
                      </a:endParaRPr>
                    </a:p>
                  </a:txBody>
                  <a:tcPr marL="64452" marR="64452" marT="64452" marB="64452"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Hi passa: és HTTP normal</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De vegades el bloquegen</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399256">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Complexitat</a:t>
                      </a:r>
                      <a:endParaRPr lang="en-US" sz="1450" dirty="0">
                        <a:latin typeface="IBM Plex Sans" charset="0"/>
                        <a:ea typeface="IBM Plex Sans" charset="0"/>
                        <a:cs typeface="IBM Plex Sans" charset="0"/>
                      </a:endParaRPr>
                    </a:p>
                  </a:txBody>
                  <a:tcPr marL="64452" marR="64452" marT="64452" marB="64452"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Baixa</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030"/>
                        </a:lnSpc>
                        <a:buNone/>
                      </a:pPr>
                      <a:r>
                        <a:rPr lang="en-US" sz="1450" dirty="0">
                          <a:solidFill>
                            <a:srgbClr val="15202B"/>
                          </a:solidFill>
                          <a:latin typeface="IBM Plex Sans" pitchFamily="34" charset="0"/>
                          <a:ea typeface="IBM Plex Sans" pitchFamily="34" charset="-122"/>
                          <a:cs typeface="IBM Plex Sans" pitchFamily="34" charset="-120"/>
                        </a:rPr>
                        <a:t>Alta</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07305"/>
          </a:xfrm>
          <a:prstGeom prst="rect">
            <a:avLst/>
          </a:prstGeom>
          <a:noFill/>
          <a:ln/>
        </p:spPr>
        <p:txBody>
          <a:bodyPr wrap="square" lIns="0" tIns="0" rIns="0" bIns="0" rtlCol="0" anchor="t">
            <a:normAutofit/>
          </a:bodyPr>
          <a:lstStyle/>
          <a:p>
            <a:pPr algn="l" indent="0" marL="0">
              <a:lnSpc>
                <a:spcPts val="3795"/>
              </a:lnSpc>
              <a:buNone/>
            </a:pPr>
            <a:r>
              <a:rPr lang="en-US" sz="3300" b="1" i="0" dirty="0">
                <a:solidFill>
                  <a:srgbClr val="15202B"/>
                </a:solidFill>
                <a:latin typeface="IBM Plex Sans" pitchFamily="34" charset="0"/>
                <a:ea typeface="IBM Plex Sans" pitchFamily="34" charset="-122"/>
                <a:cs typeface="IBM Plex Sans" pitchFamily="34" charset="-120"/>
              </a:rPr>
              <a:t>Punts forts</a:t>
            </a:r>
            <a:endParaRPr lang="en-US" sz="3300" dirty="0"/>
          </a:p>
        </p:txBody>
      </p:sp>
      <p:sp>
        <p:nvSpPr>
          <p:cNvPr id="3" name="Shape 1"/>
          <p:cNvSpPr/>
          <p:nvPr/>
        </p:nvSpPr>
        <p:spPr>
          <a:xfrm>
            <a:off x="812800" y="1574105"/>
            <a:ext cx="5156200" cy="2608560"/>
          </a:xfrm>
          <a:prstGeom prst="roundRect">
            <a:avLst>
              <a:gd name="adj" fmla="val 3895"/>
            </a:avLst>
          </a:prstGeom>
          <a:solidFill>
            <a:srgbClr val="ECEEE9"/>
          </a:solidFill>
          <a:ln/>
        </p:spPr>
      </p:sp>
      <p:sp>
        <p:nvSpPr>
          <p:cNvPr id="4" name="Shape 2"/>
          <p:cNvSpPr/>
          <p:nvPr/>
        </p:nvSpPr>
        <p:spPr>
          <a:xfrm>
            <a:off x="812800" y="1574105"/>
            <a:ext cx="5156200" cy="2608560"/>
          </a:xfrm>
          <a:custGeom>
            <a:avLst/>
            <a:gdLst/>
            <a:ahLst/>
            <a:cxnLst/>
            <a:rect l="l" t="t" r="r" b="b"/>
            <a:pathLst>
              <a:path w="5156200" h="2608560">
                <a:moveTo>
                  <a:pt x="0" y="101600"/>
                </a:moveTo>
                <a:lnTo>
                  <a:pt x="0" y="101600"/>
                </a:lnTo>
                <a:arcTo hR="101600" wR="101600" stAng="10800000" swAng="5400000"/>
                <a:lnTo>
                  <a:pt x="5054600" y="0"/>
                </a:lnTo>
                <a:arcTo hR="101600" wR="101600" stAng="16200000" swAng="5400000"/>
                <a:lnTo>
                  <a:pt x="5156200" y="101600"/>
                </a:lnTo>
                <a:arcTo hR="50800" wR="101600" stAng="0" swAng="-5400000"/>
                <a:lnTo>
                  <a:pt x="101600" y="50800"/>
                </a:lnTo>
                <a:arcTo hR="50800" wR="101600" stAng="16200000" swAng="-5400000"/>
                <a:close/>
              </a:path>
            </a:pathLst>
          </a:custGeom>
          <a:solidFill>
            <a:srgbClr val="D97706"/>
          </a:solidFill>
          <a:ln/>
        </p:spPr>
      </p:sp>
      <p:sp>
        <p:nvSpPr>
          <p:cNvPr id="5" name="Text 3"/>
          <p:cNvSpPr/>
          <p:nvPr/>
        </p:nvSpPr>
        <p:spPr>
          <a:xfrm>
            <a:off x="1092200" y="1904305"/>
            <a:ext cx="4735322"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B45309"/>
                </a:solidFill>
                <a:latin typeface="IBM Plex Sans" pitchFamily="34" charset="0"/>
                <a:ea typeface="IBM Plex Sans" pitchFamily="34" charset="-122"/>
                <a:cs typeface="IBM Plex Sans" pitchFamily="34" charset="-120"/>
              </a:rPr>
              <a:t>Server-Sent Events</a:t>
            </a:r>
            <a:endParaRPr lang="en-US" sz="1700" dirty="0"/>
          </a:p>
        </p:txBody>
      </p:sp>
      <p:sp>
        <p:nvSpPr>
          <p:cNvPr id="6" name="Text 4"/>
          <p:cNvSpPr/>
          <p:nvPr/>
        </p:nvSpPr>
        <p:spPr>
          <a:xfrm>
            <a:off x="1170432" y="2303066"/>
            <a:ext cx="4649470" cy="1625600"/>
          </a:xfrm>
          <a:prstGeom prst="rect">
            <a:avLst/>
          </a:prstGeom>
          <a:noFill/>
          <a:ln/>
        </p:spPr>
        <p:txBody>
          <a:bodyPr wrap="square" lIns="0" tIns="0" rIns="0" bIns="0" rtlCol="0" anchor="t">
            <a:normAutofit/>
          </a:bodyPr>
          <a:lstStyle/>
          <a:p>
            <a:pPr algn="l" marL="175768" indent="-175768">
              <a:lnSpc>
                <a:spcPts val="2100"/>
              </a:lnSpc>
              <a:buSzPct val="100000"/>
              <a:buChar char="•"/>
            </a:pPr>
            <a:r>
              <a:rPr lang="en-US" sz="1400" b="1" dirty="0">
                <a:solidFill>
                  <a:srgbClr val="15202B"/>
                </a:solidFill>
                <a:latin typeface="IBM Plex Sans" pitchFamily="34" charset="0"/>
                <a:ea typeface="IBM Plex Sans" pitchFamily="34" charset="-122"/>
                <a:cs typeface="IBM Plex Sans" pitchFamily="34" charset="-120"/>
              </a:rPr>
              <a:t>Simplicitat radical:</a:t>
            </a:r>
            <a:r>
              <a:rPr lang="en-US" sz="1400" dirty="0">
                <a:solidFill>
                  <a:srgbClr val="4A5568"/>
                </a:solidFill>
                <a:latin typeface="IBM Plex Sans" pitchFamily="34" charset="0"/>
                <a:ea typeface="IBM Plex Sans" pitchFamily="34" charset="-122"/>
                <a:cs typeface="IBM Plex Sans" pitchFamily="34" charset="-120"/>
              </a:rPr>
              <a:t> quatre camps i una línia en blanc. Cap llibreria, a cap dels dos costats</a:t>
            </a:r>
            <a:endParaRPr lang="en-US" sz="1400" dirty="0"/>
          </a:p>
          <a:p>
            <a:pPr algn="l" marL="175768" indent="-175768">
              <a:lnSpc>
                <a:spcPts val="2100"/>
              </a:lnSpc>
              <a:buSzPct val="100000"/>
              <a:buChar char="•"/>
            </a:pPr>
            <a:r>
              <a:rPr lang="en-US" sz="1400" b="1" dirty="0">
                <a:solidFill>
                  <a:srgbClr val="15202B"/>
                </a:solidFill>
                <a:latin typeface="IBM Plex Sans" pitchFamily="34" charset="0"/>
                <a:ea typeface="IBM Plex Sans" pitchFamily="34" charset="-122"/>
                <a:cs typeface="IBM Plex Sans" pitchFamily="34" charset="-120"/>
              </a:rPr>
              <a:t>Reconnexió i represa de sèrie</a:t>
            </a:r>
            <a:r>
              <a:rPr lang="en-US" sz="1400" dirty="0">
                <a:solidFill>
                  <a:srgbClr val="4A5568"/>
                </a:solidFill>
                <a:latin typeface="IBM Plex Sans" pitchFamily="34" charset="0"/>
                <a:ea typeface="IBM Plex Sans" pitchFamily="34" charset="-122"/>
                <a:cs typeface="IBM Plex Sans" pitchFamily="34" charset="-120"/>
              </a:rPr>
              <a:t>, amb Last-Event-ID</a:t>
            </a:r>
            <a:endParaRPr lang="en-US" sz="1400" dirty="0"/>
          </a:p>
          <a:p>
            <a:pPr algn="l" marL="175768" indent="-175768">
              <a:lnSpc>
                <a:spcPts val="2100"/>
              </a:lnSpc>
              <a:buSzPct val="100000"/>
              <a:buChar char="•"/>
            </a:pPr>
            <a:r>
              <a:rPr lang="en-US" sz="1400" b="1" dirty="0">
                <a:solidFill>
                  <a:srgbClr val="15202B"/>
                </a:solidFill>
                <a:latin typeface="IBM Plex Sans" pitchFamily="34" charset="0"/>
                <a:ea typeface="IBM Plex Sans" pitchFamily="34" charset="-122"/>
                <a:cs typeface="IBM Plex Sans" pitchFamily="34" charset="-120"/>
              </a:rPr>
              <a:t>És HTTP:</a:t>
            </a:r>
            <a:r>
              <a:rPr lang="en-US" sz="1400" dirty="0">
                <a:solidFill>
                  <a:srgbClr val="4A5568"/>
                </a:solidFill>
                <a:latin typeface="IBM Plex Sans" pitchFamily="34" charset="0"/>
                <a:ea typeface="IBM Plex Sans" pitchFamily="34" charset="-122"/>
                <a:cs typeface="IBM Plex Sans" pitchFamily="34" charset="-120"/>
              </a:rPr>
              <a:t> hereta caches, CORS, compressió, HTTP/2 i tota la infraestructura que ja tens</a:t>
            </a:r>
            <a:endParaRPr lang="en-US" sz="1400" dirty="0"/>
          </a:p>
          <a:p>
            <a:pPr algn="l" marL="175768" indent="-175768">
              <a:lnSpc>
                <a:spcPts val="2100"/>
              </a:lnSpc>
              <a:buSzPct val="100000"/>
              <a:buChar char="•"/>
            </a:pPr>
            <a:r>
              <a:rPr lang="en-US" sz="1400" dirty="0">
                <a:solidFill>
                  <a:srgbClr val="4A5568"/>
                </a:solidFill>
                <a:latin typeface="IBM Plex Sans" pitchFamily="34" charset="0"/>
                <a:ea typeface="IBM Plex Sans" pitchFamily="34" charset="-122"/>
                <a:cs typeface="IBM Plex Sans" pitchFamily="34" charset="-120"/>
              </a:rPr>
              <a:t>Travessa qualsevol proxy i firewall</a:t>
            </a:r>
            <a:endParaRPr lang="en-US" sz="1400" dirty="0"/>
          </a:p>
        </p:txBody>
      </p:sp>
      <p:sp>
        <p:nvSpPr>
          <p:cNvPr id="7" name="Shape 5"/>
          <p:cNvSpPr/>
          <p:nvPr/>
        </p:nvSpPr>
        <p:spPr>
          <a:xfrm>
            <a:off x="6223000" y="1574105"/>
            <a:ext cx="5156200" cy="2608560"/>
          </a:xfrm>
          <a:prstGeom prst="roundRect">
            <a:avLst>
              <a:gd name="adj" fmla="val 3895"/>
            </a:avLst>
          </a:prstGeom>
          <a:solidFill>
            <a:srgbClr val="ECEEE9"/>
          </a:solidFill>
          <a:ln/>
        </p:spPr>
      </p:sp>
      <p:sp>
        <p:nvSpPr>
          <p:cNvPr id="8" name="Shape 6"/>
          <p:cNvSpPr/>
          <p:nvPr/>
        </p:nvSpPr>
        <p:spPr>
          <a:xfrm>
            <a:off x="6223000" y="1574105"/>
            <a:ext cx="5156200" cy="2608560"/>
          </a:xfrm>
          <a:custGeom>
            <a:avLst/>
            <a:gdLst/>
            <a:ahLst/>
            <a:cxnLst/>
            <a:rect l="l" t="t" r="r" b="b"/>
            <a:pathLst>
              <a:path w="5156200" h="2608560">
                <a:moveTo>
                  <a:pt x="0" y="101600"/>
                </a:moveTo>
                <a:lnTo>
                  <a:pt x="0" y="101600"/>
                </a:lnTo>
                <a:arcTo hR="101600" wR="101600" stAng="10800000" swAng="5400000"/>
                <a:lnTo>
                  <a:pt x="5054600" y="0"/>
                </a:lnTo>
                <a:arcTo hR="101600" wR="101600" stAng="16200000" swAng="5400000"/>
                <a:lnTo>
                  <a:pt x="5156200" y="101600"/>
                </a:lnTo>
                <a:arcTo hR="50800" wR="101600" stAng="0" swAng="-5400000"/>
                <a:lnTo>
                  <a:pt x="101600" y="50800"/>
                </a:lnTo>
                <a:arcTo hR="50800" wR="101600" stAng="16200000" swAng="-5400000"/>
                <a:close/>
              </a:path>
            </a:pathLst>
          </a:custGeom>
          <a:solidFill>
            <a:srgbClr val="2563EB"/>
          </a:solidFill>
          <a:ln/>
        </p:spPr>
      </p:sp>
      <p:sp>
        <p:nvSpPr>
          <p:cNvPr id="9" name="Text 7"/>
          <p:cNvSpPr/>
          <p:nvPr/>
        </p:nvSpPr>
        <p:spPr>
          <a:xfrm>
            <a:off x="6502400" y="1904305"/>
            <a:ext cx="4735322"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563EB"/>
                </a:solidFill>
                <a:latin typeface="IBM Plex Sans" pitchFamily="34" charset="0"/>
                <a:ea typeface="IBM Plex Sans" pitchFamily="34" charset="-122"/>
                <a:cs typeface="IBM Plex Sans" pitchFamily="34" charset="-120"/>
              </a:rPr>
              <a:t>WebSockets</a:t>
            </a:r>
            <a:endParaRPr lang="en-US" sz="1700" dirty="0"/>
          </a:p>
        </p:txBody>
      </p:sp>
      <p:sp>
        <p:nvSpPr>
          <p:cNvPr id="10" name="Text 8"/>
          <p:cNvSpPr/>
          <p:nvPr/>
        </p:nvSpPr>
        <p:spPr>
          <a:xfrm>
            <a:off x="6580632" y="2303066"/>
            <a:ext cx="4649470" cy="1625600"/>
          </a:xfrm>
          <a:prstGeom prst="rect">
            <a:avLst/>
          </a:prstGeom>
          <a:noFill/>
          <a:ln/>
        </p:spPr>
        <p:txBody>
          <a:bodyPr wrap="square" lIns="0" tIns="0" rIns="0" bIns="0" rtlCol="0" anchor="t">
            <a:normAutofit/>
          </a:bodyPr>
          <a:lstStyle/>
          <a:p>
            <a:pPr algn="l" marL="175768" indent="-175768">
              <a:lnSpc>
                <a:spcPts val="2100"/>
              </a:lnSpc>
              <a:buSzPct val="100000"/>
              <a:buChar char="•"/>
            </a:pPr>
            <a:r>
              <a:rPr lang="en-US" sz="1400" b="1" dirty="0">
                <a:solidFill>
                  <a:srgbClr val="15202B"/>
                </a:solidFill>
                <a:latin typeface="IBM Plex Sans" pitchFamily="34" charset="0"/>
                <a:ea typeface="IBM Plex Sans" pitchFamily="34" charset="-122"/>
                <a:cs typeface="IBM Plex Sans" pitchFamily="34" charset="-120"/>
              </a:rPr>
              <a:t>Bidireccional i simultani</a:t>
            </a:r>
            <a:r>
              <a:rPr lang="en-US" sz="1400" dirty="0">
                <a:solidFill>
                  <a:srgbClr val="4A5568"/>
                </a:solidFill>
                <a:latin typeface="IBM Plex Sans" pitchFamily="34" charset="0"/>
                <a:ea typeface="IBM Plex Sans" pitchFamily="34" charset="-122"/>
                <a:cs typeface="IBM Plex Sans" pitchFamily="34" charset="-120"/>
              </a:rPr>
              <a:t>, amb la latència més baixa que pots tenir al navegador</a:t>
            </a:r>
            <a:endParaRPr lang="en-US" sz="1400" dirty="0"/>
          </a:p>
          <a:p>
            <a:pPr algn="l" marL="175768" indent="-175768">
              <a:lnSpc>
                <a:spcPts val="2100"/>
              </a:lnSpc>
              <a:buSzPct val="100000"/>
              <a:buChar char="•"/>
            </a:pPr>
            <a:r>
              <a:rPr lang="en-US" sz="1400" b="1" dirty="0">
                <a:solidFill>
                  <a:srgbClr val="15202B"/>
                </a:solidFill>
                <a:latin typeface="IBM Plex Sans" pitchFamily="34" charset="0"/>
                <a:ea typeface="IBM Plex Sans" pitchFamily="34" charset="-122"/>
                <a:cs typeface="IBM Plex Sans" pitchFamily="34" charset="-120"/>
              </a:rPr>
              <a:t>Text i binari</a:t>
            </a:r>
            <a:r>
              <a:rPr lang="en-US" sz="1400" dirty="0">
                <a:solidFill>
                  <a:srgbClr val="4A5568"/>
                </a:solidFill>
                <a:latin typeface="IBM Plex Sans" pitchFamily="34" charset="0"/>
                <a:ea typeface="IBM Plex Sans" pitchFamily="34" charset="-122"/>
                <a:cs typeface="IBM Plex Sans" pitchFamily="34" charset="-120"/>
              </a:rPr>
              <a:t> sense haver de codificar res</a:t>
            </a:r>
            <a:endParaRPr lang="en-US" sz="1400" dirty="0"/>
          </a:p>
          <a:p>
            <a:pPr algn="l" marL="175768" indent="-175768">
              <a:lnSpc>
                <a:spcPts val="2100"/>
              </a:lnSpc>
              <a:buSzPct val="100000"/>
              <a:buChar char="•"/>
            </a:pPr>
            <a:r>
              <a:rPr lang="en-US" sz="1400" dirty="0">
                <a:solidFill>
                  <a:srgbClr val="4A5568"/>
                </a:solidFill>
                <a:latin typeface="IBM Plex Sans" pitchFamily="34" charset="0"/>
                <a:ea typeface="IBM Plex Sans" pitchFamily="34" charset="-122"/>
                <a:cs typeface="IBM Plex Sans" pitchFamily="34" charset="-120"/>
              </a:rPr>
              <a:t>Cap sobrecàrrega de capçaleres HTTP a cada missatge: els frames són mínims</a:t>
            </a:r>
            <a:endParaRPr lang="en-US" sz="1400" dirty="0"/>
          </a:p>
          <a:p>
            <a:pPr algn="l" marL="175768" indent="-175768">
              <a:lnSpc>
                <a:spcPts val="2100"/>
              </a:lnSpc>
              <a:buSzPct val="100000"/>
              <a:buChar char="•"/>
            </a:pPr>
            <a:r>
              <a:rPr lang="en-US" sz="1400" dirty="0">
                <a:solidFill>
                  <a:srgbClr val="4A5568"/>
                </a:solidFill>
                <a:latin typeface="IBM Plex Sans" pitchFamily="34" charset="0"/>
                <a:ea typeface="IBM Plex Sans" pitchFamily="34" charset="-122"/>
                <a:cs typeface="IBM Plex Sans" pitchFamily="34" charset="-120"/>
              </a:rPr>
              <a:t>Pots negociar </a:t>
            </a:r>
            <a:r>
              <a:rPr lang="en-US" sz="1400" b="1" dirty="0">
                <a:solidFill>
                  <a:srgbClr val="15202B"/>
                </a:solidFill>
                <a:latin typeface="IBM Plex Sans" pitchFamily="34" charset="0"/>
                <a:ea typeface="IBM Plex Sans" pitchFamily="34" charset="-122"/>
                <a:cs typeface="IBM Plex Sans" pitchFamily="34" charset="-120"/>
              </a:rPr>
              <a:t>subprotocols</a:t>
            </a:r>
            <a:r>
              <a:rPr lang="en-US" sz="1400" dirty="0">
                <a:solidFill>
                  <a:srgbClr val="4A5568"/>
                </a:solidFill>
                <a:latin typeface="IBM Plex Sans" pitchFamily="34" charset="0"/>
                <a:ea typeface="IBM Plex Sans" pitchFamily="34" charset="-122"/>
                <a:cs typeface="IBM Plex Sans" pitchFamily="34" charset="-120"/>
              </a:rPr>
              <a:t> propis al handshake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59482"/>
          </a:xfrm>
          <a:prstGeom prst="rect">
            <a:avLst/>
          </a:prstGeom>
          <a:noFill/>
          <a:ln/>
        </p:spPr>
        <p:txBody>
          <a:bodyPr wrap="square" lIns="0" tIns="0" rIns="0" bIns="0" rtlCol="0" anchor="t">
            <a:normAutofit/>
          </a:bodyPr>
          <a:lstStyle/>
          <a:p>
            <a:pPr algn="l" indent="0" marL="0">
              <a:lnSpc>
                <a:spcPts val="3415"/>
              </a:lnSpc>
              <a:buNone/>
            </a:pPr>
            <a:r>
              <a:rPr lang="en-US" sz="2970" b="1" i="0" dirty="0">
                <a:solidFill>
                  <a:srgbClr val="15202B"/>
                </a:solidFill>
                <a:latin typeface="IBM Plex Sans" pitchFamily="34" charset="0"/>
                <a:ea typeface="IBM Plex Sans" pitchFamily="34" charset="-122"/>
                <a:cs typeface="IBM Plex Sans" pitchFamily="34" charset="-120"/>
              </a:rPr>
              <a:t>Punts febles i crítiques</a:t>
            </a:r>
            <a:endParaRPr lang="en-US" sz="2970" dirty="0"/>
          </a:p>
        </p:txBody>
      </p:sp>
      <p:sp>
        <p:nvSpPr>
          <p:cNvPr id="3" name="Shape 1"/>
          <p:cNvSpPr/>
          <p:nvPr/>
        </p:nvSpPr>
        <p:spPr>
          <a:xfrm>
            <a:off x="812800" y="1475482"/>
            <a:ext cx="5156200" cy="2405063"/>
          </a:xfrm>
          <a:prstGeom prst="roundRect">
            <a:avLst>
              <a:gd name="adj" fmla="val 4224"/>
            </a:avLst>
          </a:prstGeom>
          <a:solidFill>
            <a:srgbClr val="ECEEE9"/>
          </a:solidFill>
          <a:ln/>
        </p:spPr>
      </p:sp>
      <p:sp>
        <p:nvSpPr>
          <p:cNvPr id="4" name="Shape 2"/>
          <p:cNvSpPr/>
          <p:nvPr/>
        </p:nvSpPr>
        <p:spPr>
          <a:xfrm>
            <a:off x="812800" y="1475482"/>
            <a:ext cx="5156200" cy="2405063"/>
          </a:xfrm>
          <a:custGeom>
            <a:avLst/>
            <a:gdLst/>
            <a:ahLst/>
            <a:cxnLst/>
            <a:rect l="l" t="t" r="r" b="b"/>
            <a:pathLst>
              <a:path w="5156200" h="2405063">
                <a:moveTo>
                  <a:pt x="0" y="101600"/>
                </a:moveTo>
                <a:lnTo>
                  <a:pt x="0" y="101600"/>
                </a:lnTo>
                <a:arcTo hR="101600" wR="101600" stAng="10800000" swAng="5400000"/>
                <a:lnTo>
                  <a:pt x="5054600" y="0"/>
                </a:lnTo>
                <a:arcTo hR="101600" wR="101600" stAng="16200000" swAng="5400000"/>
                <a:lnTo>
                  <a:pt x="5156200" y="101600"/>
                </a:lnTo>
                <a:arcTo hR="50800" wR="101600" stAng="0" swAng="-5400000"/>
                <a:lnTo>
                  <a:pt x="101600" y="50800"/>
                </a:lnTo>
                <a:arcTo hR="50800" wR="101600" stAng="16200000" swAng="-5400000"/>
                <a:close/>
              </a:path>
            </a:pathLst>
          </a:custGeom>
          <a:solidFill>
            <a:srgbClr val="D97706"/>
          </a:solidFill>
          <a:ln/>
        </p:spPr>
      </p:sp>
      <p:sp>
        <p:nvSpPr>
          <p:cNvPr id="5" name="Text 3"/>
          <p:cNvSpPr/>
          <p:nvPr/>
        </p:nvSpPr>
        <p:spPr>
          <a:xfrm>
            <a:off x="1066800" y="1780282"/>
            <a:ext cx="4787646" cy="236637"/>
          </a:xfrm>
          <a:prstGeom prst="rect">
            <a:avLst/>
          </a:prstGeom>
          <a:noFill/>
          <a:ln/>
        </p:spPr>
        <p:txBody>
          <a:bodyPr wrap="square" lIns="0" tIns="0" rIns="0" bIns="0" rtlCol="0" anchor="t">
            <a:normAutofit/>
          </a:bodyPr>
          <a:lstStyle/>
          <a:p>
            <a:pPr algn="l" indent="0" marL="0">
              <a:lnSpc>
                <a:spcPts val="1674"/>
              </a:lnSpc>
              <a:buNone/>
            </a:pPr>
            <a:r>
              <a:rPr lang="en-US" sz="1395" b="1" dirty="0">
                <a:solidFill>
                  <a:srgbClr val="B45309"/>
                </a:solidFill>
                <a:latin typeface="IBM Plex Sans" pitchFamily="34" charset="0"/>
                <a:ea typeface="IBM Plex Sans" pitchFamily="34" charset="-122"/>
                <a:cs typeface="IBM Plex Sans" pitchFamily="34" charset="-120"/>
              </a:rPr>
              <a:t>Server-Sent Events</a:t>
            </a:r>
            <a:endParaRPr lang="en-US" sz="1395" dirty="0"/>
          </a:p>
        </p:txBody>
      </p:sp>
      <p:sp>
        <p:nvSpPr>
          <p:cNvPr id="6" name="Text 4"/>
          <p:cNvSpPr/>
          <p:nvPr/>
        </p:nvSpPr>
        <p:spPr>
          <a:xfrm>
            <a:off x="1152117" y="2118519"/>
            <a:ext cx="4694709" cy="1533426"/>
          </a:xfrm>
          <a:prstGeom prst="rect">
            <a:avLst/>
          </a:prstGeom>
          <a:noFill/>
          <a:ln/>
        </p:spPr>
        <p:txBody>
          <a:bodyPr wrap="square" lIns="0" tIns="0" rIns="0" bIns="0" rtlCol="0" anchor="t">
            <a:normAutofit/>
          </a:bodyPr>
          <a:lstStyle/>
          <a:p>
            <a:pPr algn="l" marL="168683" indent="-168683">
              <a:lnSpc>
                <a:spcPts val="1890"/>
              </a:lnSpc>
              <a:buSzPct val="100000"/>
              <a:buChar char="•"/>
            </a:pPr>
            <a:r>
              <a:rPr lang="en-US" sz="1304" dirty="0">
                <a:solidFill>
                  <a:srgbClr val="4A5568"/>
                </a:solidFill>
                <a:latin typeface="IBM Plex Sans" pitchFamily="34" charset="0"/>
                <a:ea typeface="IBM Plex Sans" pitchFamily="34" charset="-122"/>
                <a:cs typeface="IBM Plex Sans" pitchFamily="34" charset="-120"/>
              </a:rPr>
              <a:t>Només text UTF-8: el binari s'ha de codificar i creix un 33%</a:t>
            </a:r>
            <a:endParaRPr lang="en-US" sz="1304" dirty="0"/>
          </a:p>
          <a:p>
            <a:pPr algn="l" marL="168683" indent="-168683">
              <a:lnSpc>
                <a:spcPts val="1890"/>
              </a:lnSpc>
              <a:buSzPct val="100000"/>
              <a:buChar char="•"/>
            </a:pPr>
            <a:r>
              <a:rPr lang="en-US" sz="1304" dirty="0">
                <a:solidFill>
                  <a:srgbClr val="4A5568"/>
                </a:solidFill>
                <a:latin typeface="IBM Plex Sans" pitchFamily="34" charset="0"/>
                <a:ea typeface="IBM Plex Sans" pitchFamily="34" charset="-122"/>
                <a:cs typeface="IBM Plex Sans" pitchFamily="34" charset="-120"/>
              </a:rPr>
              <a:t>Un sol sentit</a:t>
            </a:r>
            <a:endParaRPr lang="en-US" sz="1304" dirty="0"/>
          </a:p>
          <a:p>
            <a:pPr algn="l" marL="168683" indent="-168683">
              <a:lnSpc>
                <a:spcPts val="1890"/>
              </a:lnSpc>
              <a:buSzPct val="100000"/>
              <a:buChar char="•"/>
            </a:pPr>
            <a:r>
              <a:rPr lang="en-US" sz="1304" dirty="0">
                <a:solidFill>
                  <a:srgbClr val="4A5568"/>
                </a:solidFill>
                <a:latin typeface="IBM Plex Sans" pitchFamily="34" charset="0"/>
                <a:ea typeface="IBM Plex Sans" pitchFamily="34" charset="-122"/>
                <a:cs typeface="IBM Plex Sans" pitchFamily="34" charset="-120"/>
              </a:rPr>
              <a:t>Amb HTTP/1.1, </a:t>
            </a:r>
            <a:r>
              <a:rPr lang="en-US" sz="1304" b="1" dirty="0">
                <a:solidFill>
                  <a:srgbClr val="15202B"/>
                </a:solidFill>
                <a:latin typeface="IBM Plex Sans" pitchFamily="34" charset="0"/>
                <a:ea typeface="IBM Plex Sans" pitchFamily="34" charset="-122"/>
                <a:cs typeface="IBM Plex Sans" pitchFamily="34" charset="-120"/>
              </a:rPr>
              <a:t>màxim unes 6 connexions per host</a:t>
            </a:r>
            <a:r>
              <a:rPr lang="en-US" sz="1304" dirty="0">
                <a:solidFill>
                  <a:srgbClr val="4A5568"/>
                </a:solidFill>
                <a:latin typeface="IBM Plex Sans" pitchFamily="34" charset="0"/>
                <a:ea typeface="IBM Plex Sans" pitchFamily="34" charset="-122"/>
                <a:cs typeface="IBM Plex Sans" pitchFamily="34" charset="-120"/>
              </a:rPr>
              <a:t>: la setena pestanya es penja</a:t>
            </a:r>
            <a:endParaRPr lang="en-US" sz="1304" dirty="0"/>
          </a:p>
          <a:p>
            <a:pPr algn="l" marL="168683" indent="-168683">
              <a:lnSpc>
                <a:spcPts val="1890"/>
              </a:lnSpc>
              <a:buSzPct val="100000"/>
              <a:buChar char="•"/>
            </a:pPr>
            <a:r>
              <a:rPr lang="en-US" sz="1304" dirty="0">
                <a:solidFill>
                  <a:srgbClr val="4A5568"/>
                </a:solidFill>
                <a:latin typeface="IBM Plex Sans" pitchFamily="34" charset="0"/>
                <a:ea typeface="IBM Plex Sans" pitchFamily="34" charset="-122"/>
                <a:cs typeface="IBM Plex Sans" pitchFamily="34" charset="-120"/>
              </a:rPr>
              <a:t>EventSource no admet capçaleres pròpies: autenticació per cookie</a:t>
            </a:r>
            <a:endParaRPr lang="en-US" sz="1304" dirty="0"/>
          </a:p>
        </p:txBody>
      </p:sp>
      <p:sp>
        <p:nvSpPr>
          <p:cNvPr id="7" name="Shape 5"/>
          <p:cNvSpPr/>
          <p:nvPr/>
        </p:nvSpPr>
        <p:spPr>
          <a:xfrm>
            <a:off x="6223000" y="1475482"/>
            <a:ext cx="5156200" cy="2405063"/>
          </a:xfrm>
          <a:prstGeom prst="roundRect">
            <a:avLst>
              <a:gd name="adj" fmla="val 4224"/>
            </a:avLst>
          </a:prstGeom>
          <a:solidFill>
            <a:srgbClr val="ECEEE9"/>
          </a:solidFill>
          <a:ln/>
        </p:spPr>
      </p:sp>
      <p:sp>
        <p:nvSpPr>
          <p:cNvPr id="8" name="Shape 6"/>
          <p:cNvSpPr/>
          <p:nvPr/>
        </p:nvSpPr>
        <p:spPr>
          <a:xfrm>
            <a:off x="6223000" y="1475482"/>
            <a:ext cx="5156200" cy="2405063"/>
          </a:xfrm>
          <a:custGeom>
            <a:avLst/>
            <a:gdLst/>
            <a:ahLst/>
            <a:cxnLst/>
            <a:rect l="l" t="t" r="r" b="b"/>
            <a:pathLst>
              <a:path w="5156200" h="2405063">
                <a:moveTo>
                  <a:pt x="0" y="101600"/>
                </a:moveTo>
                <a:lnTo>
                  <a:pt x="0" y="101600"/>
                </a:lnTo>
                <a:arcTo hR="101600" wR="101600" stAng="10800000" swAng="5400000"/>
                <a:lnTo>
                  <a:pt x="5054600" y="0"/>
                </a:lnTo>
                <a:arcTo hR="101600" wR="101600" stAng="16200000" swAng="5400000"/>
                <a:lnTo>
                  <a:pt x="5156200" y="101600"/>
                </a:lnTo>
                <a:arcTo hR="50800" wR="101600" stAng="0" swAng="-5400000"/>
                <a:lnTo>
                  <a:pt x="101600" y="50800"/>
                </a:lnTo>
                <a:arcTo hR="50800" wR="101600" stAng="16200000" swAng="-5400000"/>
                <a:close/>
              </a:path>
            </a:pathLst>
          </a:custGeom>
          <a:solidFill>
            <a:srgbClr val="2563EB"/>
          </a:solidFill>
          <a:ln/>
        </p:spPr>
      </p:sp>
      <p:sp>
        <p:nvSpPr>
          <p:cNvPr id="9" name="Text 7"/>
          <p:cNvSpPr/>
          <p:nvPr/>
        </p:nvSpPr>
        <p:spPr>
          <a:xfrm>
            <a:off x="6477000" y="1780282"/>
            <a:ext cx="4787646" cy="26699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563EB"/>
                </a:solidFill>
                <a:latin typeface="IBM Plex Sans" pitchFamily="34" charset="0"/>
                <a:ea typeface="IBM Plex Sans" pitchFamily="34" charset="-122"/>
                <a:cs typeface="IBM Plex Sans" pitchFamily="34" charset="-120"/>
              </a:rPr>
              <a:t>WebSockets</a:t>
            </a:r>
            <a:endParaRPr lang="en-US" sz="1600" dirty="0"/>
          </a:p>
        </p:txBody>
      </p:sp>
      <p:sp>
        <p:nvSpPr>
          <p:cNvPr id="10" name="Text 8"/>
          <p:cNvSpPr/>
          <p:nvPr/>
        </p:nvSpPr>
        <p:spPr>
          <a:xfrm>
            <a:off x="6562027" y="2148880"/>
            <a:ext cx="4694999" cy="1503065"/>
          </a:xfrm>
          <a:prstGeom prst="rect">
            <a:avLst/>
          </a:prstGeom>
          <a:noFill/>
          <a:ln/>
        </p:spPr>
        <p:txBody>
          <a:bodyPr wrap="square" lIns="0" tIns="0" rIns="0" bIns="0" rtlCol="0" anchor="t">
            <a:normAutofit/>
          </a:bodyPr>
          <a:lstStyle/>
          <a:p>
            <a:pPr algn="l" marL="168973" indent="-168973">
              <a:lnSpc>
                <a:spcPts val="1945"/>
              </a:lnSpc>
              <a:buSzPct val="100000"/>
              <a:buChar char="•"/>
            </a:pPr>
            <a:r>
              <a:rPr lang="en-US" sz="1342" dirty="0">
                <a:solidFill>
                  <a:srgbClr val="4A5568"/>
                </a:solidFill>
                <a:latin typeface="IBM Plex Sans" pitchFamily="34" charset="0"/>
                <a:ea typeface="IBM Plex Sans" pitchFamily="34" charset="-122"/>
                <a:cs typeface="IBM Plex Sans" pitchFamily="34" charset="-120"/>
              </a:rPr>
              <a:t>Reconnexió i </a:t>
            </a:r>
            <a:r>
              <a:rPr lang="en-US" sz="1342" i="1" dirty="0">
                <a:solidFill>
                  <a:srgbClr val="4A5568"/>
                </a:solidFill>
                <a:latin typeface="IBM Plex Sans" pitchFamily="34" charset="0"/>
                <a:ea typeface="IBM Plex Sans" pitchFamily="34" charset="-122"/>
                <a:cs typeface="IBM Plex Sans" pitchFamily="34" charset="-120"/>
              </a:rPr>
              <a:t>backoff</a:t>
            </a:r>
            <a:r>
              <a:rPr lang="en-US" sz="1342" dirty="0">
                <a:solidFill>
                  <a:srgbClr val="4A5568"/>
                </a:solidFill>
                <a:latin typeface="IBM Plex Sans" pitchFamily="34" charset="0"/>
                <a:ea typeface="IBM Plex Sans" pitchFamily="34" charset="-122"/>
                <a:cs typeface="IBM Plex Sans" pitchFamily="34" charset="-120"/>
              </a:rPr>
              <a:t>: te'ls escrius tu, i és font d'errors coneguda</a:t>
            </a:r>
            <a:endParaRPr lang="en-US" sz="1342" dirty="0"/>
          </a:p>
          <a:p>
            <a:pPr algn="l" marL="168973" indent="-168973">
              <a:lnSpc>
                <a:spcPts val="1945"/>
              </a:lnSpc>
              <a:buSzPct val="100000"/>
              <a:buChar char="•"/>
            </a:pPr>
            <a:r>
              <a:rPr lang="en-US" sz="1342" dirty="0">
                <a:solidFill>
                  <a:srgbClr val="4A5568"/>
                </a:solidFill>
                <a:latin typeface="IBM Plex Sans" pitchFamily="34" charset="0"/>
                <a:ea typeface="IBM Plex Sans" pitchFamily="34" charset="-122"/>
                <a:cs typeface="IBM Plex Sans" pitchFamily="34" charset="-120"/>
              </a:rPr>
              <a:t>Cap semàntica de missatges: el protocol d'aplicació és cosa teva</a:t>
            </a:r>
            <a:endParaRPr lang="en-US" sz="1342" dirty="0"/>
          </a:p>
          <a:p>
            <a:pPr algn="l" marL="168973" indent="-168973">
              <a:lnSpc>
                <a:spcPts val="1945"/>
              </a:lnSpc>
              <a:buSzPct val="100000"/>
              <a:buChar char="•"/>
            </a:pPr>
            <a:r>
              <a:rPr lang="en-US" sz="1342" dirty="0">
                <a:solidFill>
                  <a:srgbClr val="4A5568"/>
                </a:solidFill>
                <a:latin typeface="IBM Plex Sans" pitchFamily="34" charset="0"/>
                <a:ea typeface="IBM Plex Sans" pitchFamily="34" charset="-122"/>
                <a:cs typeface="IBM Plex Sans" pitchFamily="34" charset="-120"/>
              </a:rPr>
              <a:t>Tampoc admet capçaleres pròpies des del navegador</a:t>
            </a:r>
            <a:endParaRPr lang="en-US" sz="1342" dirty="0"/>
          </a:p>
          <a:p>
            <a:pPr algn="l" marL="168973" indent="-168973">
              <a:lnSpc>
                <a:spcPts val="1945"/>
              </a:lnSpc>
              <a:buSzPct val="100000"/>
              <a:buChar char="•"/>
            </a:pPr>
            <a:r>
              <a:rPr lang="en-US" sz="1342" dirty="0">
                <a:solidFill>
                  <a:srgbClr val="4A5568"/>
                </a:solidFill>
                <a:latin typeface="IBM Plex Sans" pitchFamily="34" charset="0"/>
                <a:ea typeface="IBM Plex Sans" pitchFamily="34" charset="-122"/>
                <a:cs typeface="IBM Plex Sans" pitchFamily="34" charset="-120"/>
              </a:rPr>
              <a:t>Alguns proxies corporatius el bloquegen</a:t>
            </a:r>
            <a:endParaRPr lang="en-US" sz="1342" dirty="0"/>
          </a:p>
        </p:txBody>
      </p:sp>
      <p:sp>
        <p:nvSpPr>
          <p:cNvPr id="11" name="Shape 9"/>
          <p:cNvSpPr/>
          <p:nvPr/>
        </p:nvSpPr>
        <p:spPr>
          <a:xfrm>
            <a:off x="812800" y="4109145"/>
            <a:ext cx="10566400" cy="1153021"/>
          </a:xfrm>
          <a:prstGeom prst="roundRect">
            <a:avLst>
              <a:gd name="adj" fmla="val 8812"/>
            </a:avLst>
          </a:prstGeom>
          <a:solidFill>
            <a:srgbClr val="1B2733"/>
          </a:solidFill>
          <a:ln/>
        </p:spPr>
      </p:sp>
      <p:sp>
        <p:nvSpPr>
          <p:cNvPr id="12" name="Shape 10"/>
          <p:cNvSpPr/>
          <p:nvPr/>
        </p:nvSpPr>
        <p:spPr>
          <a:xfrm>
            <a:off x="812800" y="4109145"/>
            <a:ext cx="10566400" cy="1153021"/>
          </a:xfrm>
          <a:custGeom>
            <a:avLst/>
            <a:gdLst/>
            <a:ahLst/>
            <a:cxnLst/>
            <a:rect l="l" t="t" r="r" b="b"/>
            <a:pathLst>
              <a:path w="10566400" h="1153021">
                <a:moveTo>
                  <a:pt x="101600" y="1153021"/>
                </a:moveTo>
                <a:lnTo>
                  <a:pt x="101600" y="1153021"/>
                </a:lnTo>
                <a:arcTo hR="101600" wR="101600" stAng="5400000" swAng="5400000"/>
                <a:lnTo>
                  <a:pt x="0" y="101600"/>
                </a:lnTo>
                <a:arcTo hR="101600" wR="101600" stAng="10800000" swAng="5400000"/>
                <a:lnTo>
                  <a:pt x="101600" y="0"/>
                </a:lnTo>
                <a:arcTo hR="101600" wR="50800" stAng="16200000" swAng="-5400000"/>
                <a:lnTo>
                  <a:pt x="50800" y="1051421"/>
                </a:lnTo>
                <a:arcTo hR="101600" wR="50800" stAng="10800000" swAng="-5400000"/>
                <a:close/>
              </a:path>
            </a:pathLst>
          </a:custGeom>
          <a:solidFill>
            <a:srgbClr val="F59E0B"/>
          </a:solidFill>
          <a:ln/>
        </p:spPr>
      </p:sp>
      <p:sp>
        <p:nvSpPr>
          <p:cNvPr id="13" name="Text 11"/>
          <p:cNvSpPr/>
          <p:nvPr/>
        </p:nvSpPr>
        <p:spPr>
          <a:xfrm>
            <a:off x="1117600" y="4312345"/>
            <a:ext cx="10307828" cy="772021"/>
          </a:xfrm>
          <a:prstGeom prst="rect">
            <a:avLst/>
          </a:prstGeom>
          <a:noFill/>
          <a:ln/>
        </p:spPr>
        <p:txBody>
          <a:bodyPr wrap="square" lIns="0" tIns="0" rIns="0" bIns="0" rtlCol="0" anchor="t">
            <a:normAutofit/>
          </a:bodyPr>
          <a:lstStyle/>
          <a:p>
            <a:pPr algn="l" indent="0" marL="0">
              <a:lnSpc>
                <a:spcPts val="1971"/>
              </a:lnSpc>
              <a:buNone/>
            </a:pPr>
            <a:r>
              <a:rPr lang="en-US" sz="1359" b="1" dirty="0">
                <a:solidFill>
                  <a:srgbClr val="F59E0B"/>
                </a:solidFill>
                <a:latin typeface="IBM Plex Sans" pitchFamily="34" charset="0"/>
                <a:ea typeface="IBM Plex Sans" pitchFamily="34" charset="-122"/>
                <a:cs typeface="IBM Plex Sans" pitchFamily="34" charset="-120"/>
              </a:rPr>
              <a:t>La crítica de seguretat més seriosa:</a:t>
            </a:r>
            <a:r>
              <a:rPr lang="en-US" sz="1359" dirty="0">
                <a:solidFill>
                  <a:srgbClr val="E6EDF3"/>
                </a:solidFill>
                <a:latin typeface="IBM Plex Sans" pitchFamily="34" charset="0"/>
                <a:ea typeface="IBM Plex Sans" pitchFamily="34" charset="-122"/>
                <a:cs typeface="IBM Plex Sans" pitchFamily="34" charset="-120"/>
              </a:rPr>
              <a:t> el handshake de WebSocket </a:t>
            </a:r>
            <a:r>
              <a:rPr lang="en-US" sz="1359" b="1" dirty="0">
                <a:solidFill>
                  <a:srgbClr val="E6EDF3"/>
                </a:solidFill>
                <a:latin typeface="IBM Plex Sans" pitchFamily="34" charset="0"/>
                <a:ea typeface="IBM Plex Sans" pitchFamily="34" charset="-122"/>
                <a:cs typeface="IBM Plex Sans" pitchFamily="34" charset="-120"/>
              </a:rPr>
              <a:t>no el protegeix la Same-Origin Policy</a:t>
            </a:r>
            <a:r>
              <a:rPr lang="en-US" sz="1359" dirty="0">
                <a:solidFill>
                  <a:srgbClr val="E6EDF3"/>
                </a:solidFill>
                <a:latin typeface="IBM Plex Sans" pitchFamily="34" charset="0"/>
                <a:ea typeface="IBM Plex Sans" pitchFamily="34" charset="-122"/>
                <a:cs typeface="IBM Plex Sans" pitchFamily="34" charset="-120"/>
              </a:rPr>
              <a:t>. Qualsevol pàgina pot obrir una connexió al teu servidor amb les cookies de l'usuari. Si no valides la capçalera Origin, tens </a:t>
            </a:r>
            <a:r>
              <a:rPr lang="en-US" sz="1359" i="1" dirty="0">
                <a:solidFill>
                  <a:srgbClr val="E6EDF3"/>
                </a:solidFill>
                <a:latin typeface="IBM Plex Sans" pitchFamily="34" charset="0"/>
                <a:ea typeface="IBM Plex Sans" pitchFamily="34" charset="-122"/>
                <a:cs typeface="IBM Plex Sans" pitchFamily="34" charset="-120"/>
              </a:rPr>
              <a:t>Cross-Site WebSocket Hijacking</a:t>
            </a:r>
            <a:r>
              <a:rPr lang="en-US" sz="1359" dirty="0">
                <a:solidFill>
                  <a:srgbClr val="E6EDF3"/>
                </a:solidFill>
                <a:latin typeface="IBM Plex Sans" pitchFamily="34" charset="0"/>
                <a:ea typeface="IBM Plex Sans" pitchFamily="34" charset="-122"/>
                <a:cs typeface="IBM Plex Sans" pitchFamily="34" charset="-120"/>
              </a:rPr>
              <a:t>.</a:t>
            </a:r>
            <a:endParaRPr lang="en-US" sz="1359" dirty="0"/>
          </a:p>
        </p:txBody>
      </p:sp>
      <p:sp>
        <p:nvSpPr>
          <p:cNvPr id="14" name="Text 12"/>
          <p:cNvSpPr/>
          <p:nvPr/>
        </p:nvSpPr>
        <p:spPr>
          <a:xfrm>
            <a:off x="812800" y="5490766"/>
            <a:ext cx="10566400" cy="554434"/>
          </a:xfrm>
          <a:prstGeom prst="roundRect">
            <a:avLst>
              <a:gd name="adj" fmla="val 9162"/>
            </a:avLst>
          </a:prstGeom>
          <a:solidFill>
            <a:srgbClr val="ECEEE9"/>
          </a:solidFill>
          <a:ln/>
        </p:spPr>
        <p:txBody>
          <a:bodyPr wrap="square" lIns="277221" tIns="150221" rIns="0" bIns="124821" rtlCol="0" anchor="t">
            <a:normAutofit/>
          </a:bodyPr>
          <a:lstStyle/>
          <a:p>
            <a:pPr algn="l" indent="0" marL="0">
              <a:lnSpc>
                <a:spcPts val="1770"/>
              </a:lnSpc>
              <a:buNone/>
            </a:pPr>
            <a:r>
              <a:rPr lang="en-US" sz="1264" b="1" dirty="0">
                <a:solidFill>
                  <a:srgbClr val="15202B"/>
                </a:solidFill>
                <a:latin typeface="IBM Plex Sans" pitchFamily="34" charset="0"/>
                <a:ea typeface="IBM Plex Sans" pitchFamily="34" charset="-122"/>
                <a:cs typeface="IBM Plex Sans" pitchFamily="34" charset="-120"/>
              </a:rPr>
              <a:t>I la crítica compartida:</a:t>
            </a:r>
            <a:r>
              <a:rPr lang="en-US" sz="1264" dirty="0">
                <a:solidFill>
                  <a:srgbClr val="4A5568"/>
                </a:solidFill>
                <a:latin typeface="IBM Plex Sans" pitchFamily="34" charset="0"/>
                <a:ea typeface="IBM Plex Sans" pitchFamily="34" charset="-122"/>
                <a:cs typeface="IBM Plex Sans" pitchFamily="34" charset="-120"/>
              </a:rPr>
              <a:t> tots dos trenquen que el servidor sigui sense estat. Ho veiem a la diapositiva següent.</a:t>
            </a:r>
            <a:endParaRPr lang="en-US" sz="1264" dirty="0"/>
          </a:p>
        </p:txBody>
      </p:sp>
      <p:sp>
        <p:nvSpPr>
          <p:cNvPr id="15" name="Shape 13"/>
          <p:cNvSpPr/>
          <p:nvPr/>
        </p:nvSpPr>
        <p:spPr>
          <a:xfrm>
            <a:off x="812800" y="5490766"/>
            <a:ext cx="10566400" cy="554434"/>
          </a:xfrm>
          <a:custGeom>
            <a:avLst/>
            <a:gdLst/>
            <a:ahLst/>
            <a:cxnLst/>
            <a:rect l="l" t="t" r="r" b="b"/>
            <a:pathLst>
              <a:path w="10566400" h="554434">
                <a:moveTo>
                  <a:pt x="50800" y="554434"/>
                </a:moveTo>
                <a:lnTo>
                  <a:pt x="50800" y="554434"/>
                </a:lnTo>
                <a:arcTo hR="50800" wR="50800" stAng="5400000" swAng="5400000"/>
                <a:lnTo>
                  <a:pt x="0" y="50800"/>
                </a:lnTo>
                <a:arcTo hR="50800" wR="50800" stAng="10800000" swAng="5400000"/>
                <a:lnTo>
                  <a:pt x="50800" y="0"/>
                </a:lnTo>
                <a:arcTo hR="50800" wR="12700" stAng="16200000" swAng="-5400000"/>
                <a:lnTo>
                  <a:pt x="38100" y="503634"/>
                </a:lnTo>
                <a:arcTo hR="50800" wR="12700" stAng="10800000" swAng="-5400000"/>
                <a:close/>
              </a:path>
            </a:pathLst>
          </a:custGeom>
          <a:solidFill>
            <a:srgbClr val="15202B"/>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5116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5202B"/>
                </a:solidFill>
                <a:latin typeface="IBM Plex Sans" pitchFamily="34" charset="0"/>
                <a:ea typeface="IBM Plex Sans" pitchFamily="34" charset="-122"/>
                <a:cs typeface="IBM Plex Sans" pitchFamily="34" charset="-120"/>
              </a:rPr>
              <a:t>Què li fa això a l'arquitectura</a:t>
            </a:r>
            <a:endParaRPr lang="en-US" sz="3600" dirty="0"/>
          </a:p>
        </p:txBody>
      </p:sp>
      <p:sp>
        <p:nvSpPr>
          <p:cNvPr id="3" name="Text 1"/>
          <p:cNvSpPr/>
          <p:nvPr/>
        </p:nvSpPr>
        <p:spPr>
          <a:xfrm>
            <a:off x="812800" y="1617960"/>
            <a:ext cx="9810750" cy="629841"/>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15202B"/>
                </a:solidFill>
                <a:latin typeface="IBM Plex Sans" pitchFamily="34" charset="0"/>
                <a:ea typeface="IBM Plex Sans" pitchFamily="34" charset="-122"/>
                <a:cs typeface="IBM Plex Sans" pitchFamily="34" charset="-120"/>
              </a:rPr>
              <a:t>Tots dos mantenen una </a:t>
            </a:r>
            <a:r>
              <a:rPr lang="en-US" sz="1700" b="1" dirty="0">
                <a:solidFill>
                  <a:srgbClr val="15202B"/>
                </a:solidFill>
                <a:latin typeface="IBM Plex Sans" pitchFamily="34" charset="0"/>
                <a:ea typeface="IBM Plex Sans" pitchFamily="34" charset="-122"/>
                <a:cs typeface="IBM Plex Sans" pitchFamily="34" charset="-120"/>
              </a:rPr>
              <a:t>connexió oberta</a:t>
            </a:r>
            <a:r>
              <a:rPr lang="en-US" sz="1700" dirty="0">
                <a:solidFill>
                  <a:srgbClr val="15202B"/>
                </a:solidFill>
                <a:latin typeface="IBM Plex Sans" pitchFamily="34" charset="0"/>
                <a:ea typeface="IBM Plex Sans" pitchFamily="34" charset="-122"/>
                <a:cs typeface="IBM Plex Sans" pitchFamily="34" charset="-120"/>
              </a:rPr>
              <a:t>. El servidor deixa de ser sense estat: ara té estat </a:t>
            </a:r>
            <a:r>
              <a:rPr lang="en-US" sz="1700" i="1" dirty="0">
                <a:solidFill>
                  <a:srgbClr val="15202B"/>
                </a:solidFill>
                <a:latin typeface="IBM Plex Sans" pitchFamily="34" charset="0"/>
                <a:ea typeface="IBM Plex Sans" pitchFamily="34" charset="-122"/>
                <a:cs typeface="IBM Plex Sans" pitchFamily="34" charset="-120"/>
              </a:rPr>
              <a:t>per cada client connectat</a:t>
            </a:r>
            <a:r>
              <a:rPr lang="en-US" sz="1700" dirty="0">
                <a:solidFill>
                  <a:srgbClr val="15202B"/>
                </a:solidFill>
                <a:latin typeface="IBM Plex Sans" pitchFamily="34" charset="0"/>
                <a:ea typeface="IBM Plex Sans" pitchFamily="34" charset="-122"/>
                <a:cs typeface="IBM Plex Sans" pitchFamily="34" charset="-120"/>
              </a:rPr>
              <a:t>.</a:t>
            </a:r>
            <a:endParaRPr lang="en-US" sz="1700" dirty="0"/>
          </a:p>
        </p:txBody>
      </p:sp>
      <p:sp>
        <p:nvSpPr>
          <p:cNvPr id="4" name="Shape 2"/>
          <p:cNvSpPr/>
          <p:nvPr/>
        </p:nvSpPr>
        <p:spPr>
          <a:xfrm>
            <a:off x="815975" y="2504976"/>
            <a:ext cx="3380284" cy="1809750"/>
          </a:xfrm>
          <a:prstGeom prst="roundRect">
            <a:avLst>
              <a:gd name="adj" fmla="val 5439"/>
            </a:avLst>
          </a:prstGeom>
          <a:solidFill>
            <a:srgbClr val="ECEEE9"/>
          </a:solidFill>
          <a:ln w="6350">
            <a:solidFill>
              <a:srgbClr val="D7DBD4"/>
            </a:solidFill>
            <a:prstDash val="solid"/>
          </a:ln>
        </p:spPr>
      </p:sp>
      <p:sp>
        <p:nvSpPr>
          <p:cNvPr id="5" name="Text 3"/>
          <p:cNvSpPr/>
          <p:nvPr/>
        </p:nvSpPr>
        <p:spPr>
          <a:xfrm>
            <a:off x="1047750" y="2736751"/>
            <a:ext cx="300423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5202B"/>
                </a:solidFill>
                <a:latin typeface="IBM Plex Sans" pitchFamily="34" charset="0"/>
                <a:ea typeface="IBM Plex Sans" pitchFamily="34" charset="-122"/>
                <a:cs typeface="IBM Plex Sans" pitchFamily="34" charset="-120"/>
              </a:rPr>
              <a:t>Servidors replicats</a:t>
            </a:r>
            <a:endParaRPr lang="en-US" sz="1500" dirty="0"/>
          </a:p>
        </p:txBody>
      </p:sp>
      <p:sp>
        <p:nvSpPr>
          <p:cNvPr id="6" name="Text 4"/>
          <p:cNvSpPr/>
          <p:nvPr/>
        </p:nvSpPr>
        <p:spPr>
          <a:xfrm>
            <a:off x="1047750" y="3054251"/>
            <a:ext cx="3004236" cy="1054100"/>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4A5568"/>
                </a:solidFill>
                <a:latin typeface="IBM Plex Sans" pitchFamily="34" charset="0"/>
                <a:ea typeface="IBM Plex Sans" pitchFamily="34" charset="-122"/>
                <a:cs typeface="IBM Plex Sans" pitchFamily="34" charset="-120"/>
              </a:rPr>
              <a:t>Quin node té la connexió d'aquest usuari? Cal un bus de publicació i subscripció (Redis, Kafka) per difondre entre nodes.</a:t>
            </a:r>
            <a:endParaRPr lang="en-US" sz="1350" dirty="0"/>
          </a:p>
        </p:txBody>
      </p:sp>
      <p:sp>
        <p:nvSpPr>
          <p:cNvPr id="7" name="Shape 5"/>
          <p:cNvSpPr/>
          <p:nvPr/>
        </p:nvSpPr>
        <p:spPr>
          <a:xfrm>
            <a:off x="4405809" y="2504976"/>
            <a:ext cx="3380383" cy="1809750"/>
          </a:xfrm>
          <a:prstGeom prst="roundRect">
            <a:avLst>
              <a:gd name="adj" fmla="val 5439"/>
            </a:avLst>
          </a:prstGeom>
          <a:solidFill>
            <a:srgbClr val="ECEEE9"/>
          </a:solidFill>
          <a:ln w="6350">
            <a:solidFill>
              <a:srgbClr val="D7DBD4"/>
            </a:solidFill>
            <a:prstDash val="solid"/>
          </a:ln>
        </p:spPr>
      </p:sp>
      <p:sp>
        <p:nvSpPr>
          <p:cNvPr id="8" name="Text 6"/>
          <p:cNvSpPr/>
          <p:nvPr/>
        </p:nvSpPr>
        <p:spPr>
          <a:xfrm>
            <a:off x="4637584" y="2736751"/>
            <a:ext cx="300433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5202B"/>
                </a:solidFill>
                <a:latin typeface="IBM Plex Sans" pitchFamily="34" charset="0"/>
                <a:ea typeface="IBM Plex Sans" pitchFamily="34" charset="-122"/>
                <a:cs typeface="IBM Plex Sans" pitchFamily="34" charset="-120"/>
              </a:rPr>
              <a:t>Balancejador</a:t>
            </a:r>
            <a:endParaRPr lang="en-US" sz="1500" dirty="0"/>
          </a:p>
        </p:txBody>
      </p:sp>
      <p:sp>
        <p:nvSpPr>
          <p:cNvPr id="9" name="Text 7"/>
          <p:cNvSpPr/>
          <p:nvPr/>
        </p:nvSpPr>
        <p:spPr>
          <a:xfrm>
            <a:off x="4637584" y="3054251"/>
            <a:ext cx="3004338" cy="79692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4A5568"/>
                </a:solidFill>
                <a:latin typeface="IBM Plex Sans" pitchFamily="34" charset="0"/>
                <a:ea typeface="IBM Plex Sans" pitchFamily="34" charset="-122"/>
                <a:cs typeface="IBM Plex Sans" pitchFamily="34" charset="-120"/>
              </a:rPr>
              <a:t>Ha de saber mantenir connexions llargues i enviar-te sempre al mateix node.</a:t>
            </a:r>
            <a:endParaRPr lang="en-US" sz="1350" dirty="0"/>
          </a:p>
        </p:txBody>
      </p:sp>
      <p:sp>
        <p:nvSpPr>
          <p:cNvPr id="10" name="Shape 8"/>
          <p:cNvSpPr/>
          <p:nvPr/>
        </p:nvSpPr>
        <p:spPr>
          <a:xfrm>
            <a:off x="7995741" y="2504976"/>
            <a:ext cx="3380284" cy="1809750"/>
          </a:xfrm>
          <a:prstGeom prst="roundRect">
            <a:avLst>
              <a:gd name="adj" fmla="val 5439"/>
            </a:avLst>
          </a:prstGeom>
          <a:solidFill>
            <a:srgbClr val="ECEEE9"/>
          </a:solidFill>
          <a:ln w="6350">
            <a:solidFill>
              <a:srgbClr val="D7DBD4"/>
            </a:solidFill>
            <a:prstDash val="solid"/>
          </a:ln>
        </p:spPr>
      </p:sp>
      <p:sp>
        <p:nvSpPr>
          <p:cNvPr id="11" name="Text 9"/>
          <p:cNvSpPr/>
          <p:nvPr/>
        </p:nvSpPr>
        <p:spPr>
          <a:xfrm>
            <a:off x="8227516" y="2736751"/>
            <a:ext cx="300423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5202B"/>
                </a:solidFill>
                <a:latin typeface="IBM Plex Sans" pitchFamily="34" charset="0"/>
                <a:ea typeface="IBM Plex Sans" pitchFamily="34" charset="-122"/>
                <a:cs typeface="IBM Plex Sans" pitchFamily="34" charset="-120"/>
              </a:rPr>
              <a:t>Límits reals</a:t>
            </a:r>
            <a:endParaRPr lang="en-US" sz="1500" dirty="0"/>
          </a:p>
        </p:txBody>
      </p:sp>
      <p:sp>
        <p:nvSpPr>
          <p:cNvPr id="12" name="Text 10"/>
          <p:cNvSpPr/>
          <p:nvPr/>
        </p:nvSpPr>
        <p:spPr>
          <a:xfrm>
            <a:off x="8227516" y="3054251"/>
            <a:ext cx="3004236" cy="1054100"/>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4A5568"/>
                </a:solidFill>
                <a:latin typeface="IBM Plex Sans" pitchFamily="34" charset="0"/>
                <a:ea typeface="IBM Plex Sans" pitchFamily="34" charset="-122"/>
                <a:cs typeface="IBM Plex Sans" pitchFamily="34" charset="-120"/>
              </a:rPr>
              <a:t>Cada connexió és memòria i un descriptor de fitxer. I els proxies tallen el que està inactiu: cal keepalive.</a:t>
            </a:r>
            <a:endParaRPr lang="en-US" sz="1350" dirty="0"/>
          </a:p>
        </p:txBody>
      </p:sp>
      <p:sp>
        <p:nvSpPr>
          <p:cNvPr id="13" name="Text 11"/>
          <p:cNvSpPr/>
          <p:nvPr/>
        </p:nvSpPr>
        <p:spPr>
          <a:xfrm>
            <a:off x="812800" y="4597301"/>
            <a:ext cx="10566400" cy="896541"/>
          </a:xfrm>
          <a:prstGeom prst="roundRect">
            <a:avLst>
              <a:gd name="adj" fmla="val 5666"/>
            </a:avLst>
          </a:prstGeom>
          <a:solidFill>
            <a:srgbClr val="ECEEE9"/>
          </a:solidFill>
          <a:ln/>
        </p:spPr>
        <p:txBody>
          <a:bodyPr wrap="square" lIns="277221" tIns="175621" rIns="0" bIns="150221" rtlCol="0" anchor="t">
            <a:normAutofit/>
          </a:bodyPr>
          <a:lstStyle/>
          <a:p>
            <a:pPr algn="l" indent="0" marL="0">
              <a:lnSpc>
                <a:spcPts val="2030"/>
              </a:lnSpc>
              <a:buNone/>
            </a:pPr>
            <a:r>
              <a:rPr lang="en-US" sz="1450" b="1" dirty="0">
                <a:solidFill>
                  <a:srgbClr val="15202B"/>
                </a:solidFill>
                <a:latin typeface="IBM Plex Sans" pitchFamily="34" charset="0"/>
                <a:ea typeface="IBM Plex Sans" pitchFamily="34" charset="-122"/>
                <a:cs typeface="IBM Plex Sans" pitchFamily="34" charset="-120"/>
              </a:rPr>
              <a:t>Enllaç amb el tema 3:</a:t>
            </a:r>
            <a:r>
              <a:rPr lang="en-US" sz="1450" dirty="0">
                <a:solidFill>
                  <a:srgbClr val="4A5568"/>
                </a:solidFill>
                <a:latin typeface="IBM Plex Sans" pitchFamily="34" charset="0"/>
                <a:ea typeface="IBM Plex Sans" pitchFamily="34" charset="-122"/>
                <a:cs typeface="IBM Plex Sans" pitchFamily="34" charset="-120"/>
              </a:rPr>
              <a:t> és el mateix problema de </a:t>
            </a:r>
            <a:r>
              <a:rPr lang="en-US" sz="1450" i="1" dirty="0">
                <a:solidFill>
                  <a:srgbClr val="4A5568"/>
                </a:solidFill>
                <a:latin typeface="IBM Plex Sans" pitchFamily="34" charset="0"/>
                <a:ea typeface="IBM Plex Sans" pitchFamily="34" charset="-122"/>
                <a:cs typeface="IBM Plex Sans" pitchFamily="34" charset="-120"/>
              </a:rPr>
              <a:t>state maintenance</a:t>
            </a:r>
            <a:r>
              <a:rPr lang="en-US" sz="1450" dirty="0">
                <a:solidFill>
                  <a:srgbClr val="4A5568"/>
                </a:solidFill>
                <a:latin typeface="IBM Plex Sans" pitchFamily="34" charset="0"/>
                <a:ea typeface="IBM Plex Sans" pitchFamily="34" charset="-122"/>
                <a:cs typeface="IBM Plex Sans" pitchFamily="34" charset="-120"/>
              </a:rPr>
              <a:t> amb servidors replicats — session affinity o session migration — però ara amb connexions obertes, que no es poden migrar.</a:t>
            </a:r>
            <a:endParaRPr lang="en-US" sz="1450" dirty="0"/>
          </a:p>
        </p:txBody>
      </p:sp>
      <p:sp>
        <p:nvSpPr>
          <p:cNvPr id="14" name="Shape 12"/>
          <p:cNvSpPr/>
          <p:nvPr/>
        </p:nvSpPr>
        <p:spPr>
          <a:xfrm>
            <a:off x="812800" y="4597301"/>
            <a:ext cx="10566400" cy="896541"/>
          </a:xfrm>
          <a:custGeom>
            <a:avLst/>
            <a:gdLst/>
            <a:ahLst/>
            <a:cxnLst/>
            <a:rect l="l" t="t" r="r" b="b"/>
            <a:pathLst>
              <a:path w="10566400" h="896541">
                <a:moveTo>
                  <a:pt x="50800" y="896541"/>
                </a:moveTo>
                <a:lnTo>
                  <a:pt x="50800" y="896541"/>
                </a:lnTo>
                <a:arcTo hR="50800" wR="50800" stAng="5400000" swAng="5400000"/>
                <a:lnTo>
                  <a:pt x="0" y="50800"/>
                </a:lnTo>
                <a:arcTo hR="50800" wR="50800" stAng="10800000" swAng="5400000"/>
                <a:lnTo>
                  <a:pt x="50800" y="0"/>
                </a:lnTo>
                <a:arcTo hR="50800" wR="12700" stAng="16200000" swAng="-5400000"/>
                <a:lnTo>
                  <a:pt x="38100" y="845741"/>
                </a:lnTo>
                <a:arcTo hR="50800" wR="12700" stAng="10800000" swAng="-5400000"/>
                <a:close/>
              </a:path>
            </a:pathLst>
          </a:custGeom>
          <a:solidFill>
            <a:srgbClr val="15202B"/>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7588"/>
          </a:xfrm>
          <a:prstGeom prst="rect">
            <a:avLst/>
          </a:prstGeom>
          <a:noFill/>
          <a:ln/>
        </p:spPr>
        <p:txBody>
          <a:bodyPr wrap="square" lIns="0" tIns="0" rIns="0" bIns="0" rtlCol="0" anchor="t">
            <a:normAutofit/>
          </a:bodyPr>
          <a:lstStyle/>
          <a:p>
            <a:pPr algn="l" indent="0" marL="0">
              <a:lnSpc>
                <a:spcPts val="4114"/>
              </a:lnSpc>
              <a:buNone/>
            </a:pPr>
            <a:r>
              <a:rPr lang="en-US" sz="3578" b="1" i="0" dirty="0">
                <a:solidFill>
                  <a:srgbClr val="15202B"/>
                </a:solidFill>
                <a:latin typeface="IBM Plex Sans" pitchFamily="34" charset="0"/>
                <a:ea typeface="IBM Plex Sans" pitchFamily="34" charset="-122"/>
                <a:cs typeface="IBM Plex Sans" pitchFamily="34" charset="-120"/>
              </a:rPr>
              <a:t>Quan fer servir cadascun</a:t>
            </a:r>
            <a:endParaRPr lang="en-US" sz="3578" dirty="0"/>
          </a:p>
        </p:txBody>
      </p:sp>
      <p:sp>
        <p:nvSpPr>
          <p:cNvPr id="3" name="Shape 1"/>
          <p:cNvSpPr/>
          <p:nvPr/>
        </p:nvSpPr>
        <p:spPr>
          <a:xfrm>
            <a:off x="812800" y="1639788"/>
            <a:ext cx="5156200" cy="3129161"/>
          </a:xfrm>
          <a:prstGeom prst="roundRect">
            <a:avLst>
              <a:gd name="adj" fmla="val 3247"/>
            </a:avLst>
          </a:prstGeom>
          <a:solidFill>
            <a:srgbClr val="ECEEE9"/>
          </a:solidFill>
          <a:ln/>
        </p:spPr>
      </p:sp>
      <p:sp>
        <p:nvSpPr>
          <p:cNvPr id="4" name="Shape 2"/>
          <p:cNvSpPr/>
          <p:nvPr/>
        </p:nvSpPr>
        <p:spPr>
          <a:xfrm>
            <a:off x="812800" y="1639788"/>
            <a:ext cx="5156200" cy="3129161"/>
          </a:xfrm>
          <a:custGeom>
            <a:avLst/>
            <a:gdLst/>
            <a:ahLst/>
            <a:cxnLst/>
            <a:rect l="l" t="t" r="r" b="b"/>
            <a:pathLst>
              <a:path w="5156200" h="3129161">
                <a:moveTo>
                  <a:pt x="0" y="101600"/>
                </a:moveTo>
                <a:lnTo>
                  <a:pt x="0" y="101600"/>
                </a:lnTo>
                <a:arcTo hR="101600" wR="101600" stAng="10800000" swAng="5400000"/>
                <a:lnTo>
                  <a:pt x="5054600" y="0"/>
                </a:lnTo>
                <a:arcTo hR="101600" wR="101600" stAng="16200000" swAng="5400000"/>
                <a:lnTo>
                  <a:pt x="5156200" y="101600"/>
                </a:lnTo>
                <a:arcTo hR="50800" wR="101600" stAng="0" swAng="-5400000"/>
                <a:lnTo>
                  <a:pt x="101600" y="50800"/>
                </a:lnTo>
                <a:arcTo hR="50800" wR="101600" stAng="16200000" swAng="-5400000"/>
                <a:close/>
              </a:path>
            </a:pathLst>
          </a:custGeom>
          <a:solidFill>
            <a:srgbClr val="D97706"/>
          </a:solidFill>
          <a:ln/>
        </p:spPr>
      </p:sp>
      <p:sp>
        <p:nvSpPr>
          <p:cNvPr id="5" name="Text 3"/>
          <p:cNvSpPr/>
          <p:nvPr/>
        </p:nvSpPr>
        <p:spPr>
          <a:xfrm>
            <a:off x="1117600" y="1995388"/>
            <a:ext cx="46829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309"/>
                </a:solidFill>
                <a:latin typeface="IBM Plex Sans" pitchFamily="34" charset="0"/>
                <a:ea typeface="IBM Plex Sans" pitchFamily="34" charset="-122"/>
                <a:cs typeface="IBM Plex Sans" pitchFamily="34" charset="-120"/>
              </a:rPr>
              <a:t>SSE</a:t>
            </a:r>
            <a:endParaRPr lang="en-US" sz="1800" dirty="0"/>
          </a:p>
        </p:txBody>
      </p:sp>
      <p:sp>
        <p:nvSpPr>
          <p:cNvPr id="6" name="Text 4"/>
          <p:cNvSpPr/>
          <p:nvPr/>
        </p:nvSpPr>
        <p:spPr>
          <a:xfrm>
            <a:off x="1117600" y="2422029"/>
            <a:ext cx="4682998"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02B"/>
                </a:solidFill>
                <a:latin typeface="IBM Plex Sans" pitchFamily="34" charset="0"/>
                <a:ea typeface="IBM Plex Sans" pitchFamily="34" charset="-122"/>
                <a:cs typeface="IBM Plex Sans" pitchFamily="34" charset="-120"/>
              </a:rPr>
              <a:t>Quan </a:t>
            </a:r>
            <a:r>
              <a:rPr lang="en-US" sz="1500" b="1" dirty="0">
                <a:solidFill>
                  <a:srgbClr val="15202B"/>
                </a:solidFill>
                <a:latin typeface="IBM Plex Sans" pitchFamily="34" charset="0"/>
                <a:ea typeface="IBM Plex Sans" pitchFamily="34" charset="-122"/>
                <a:cs typeface="IBM Plex Sans" pitchFamily="34" charset="-120"/>
              </a:rPr>
              <a:t>només el servidor té novetats</a:t>
            </a:r>
            <a:r>
              <a:rPr lang="en-US" sz="1500" dirty="0">
                <a:solidFill>
                  <a:srgbClr val="15202B"/>
                </a:solidFill>
                <a:latin typeface="IBM Plex Sans" pitchFamily="34" charset="0"/>
                <a:ea typeface="IBM Plex Sans" pitchFamily="34" charset="-122"/>
                <a:cs typeface="IBM Plex Sans" pitchFamily="34" charset="-120"/>
              </a:rPr>
              <a:t>.</a:t>
            </a:r>
            <a:endParaRPr lang="en-US" sz="1500" dirty="0"/>
          </a:p>
        </p:txBody>
      </p:sp>
      <p:sp>
        <p:nvSpPr>
          <p:cNvPr id="7" name="Text 5"/>
          <p:cNvSpPr/>
          <p:nvPr/>
        </p:nvSpPr>
        <p:spPr>
          <a:xfrm>
            <a:off x="1195832" y="2841129"/>
            <a:ext cx="4597146" cy="1403052"/>
          </a:xfrm>
          <a:prstGeom prst="rect">
            <a:avLst/>
          </a:prstGeom>
          <a:noFill/>
          <a:ln/>
        </p:spPr>
        <p:txBody>
          <a:bodyPr wrap="square" lIns="0" tIns="0" rIns="0" bIns="0" rtlCol="0" anchor="t">
            <a:normAutofit/>
          </a:bodyPr>
          <a:lstStyle/>
          <a:p>
            <a:pPr algn="l" marL="175768" indent="-175768">
              <a:lnSpc>
                <a:spcPts val="2170"/>
              </a:lnSpc>
              <a:buSzPct val="100000"/>
              <a:buChar char="•"/>
            </a:pPr>
            <a:r>
              <a:rPr lang="en-US" sz="1400" dirty="0">
                <a:solidFill>
                  <a:srgbClr val="4A5568"/>
                </a:solidFill>
                <a:latin typeface="IBM Plex Sans" pitchFamily="34" charset="0"/>
                <a:ea typeface="IBM Plex Sans" pitchFamily="34" charset="-122"/>
                <a:cs typeface="IBM Plex Sans" pitchFamily="34" charset="-120"/>
              </a:rPr>
              <a:t>Notificacions i avisos</a:t>
            </a:r>
            <a:endParaRPr lang="en-US" sz="1400" dirty="0"/>
          </a:p>
          <a:p>
            <a:pPr algn="l" marL="175768" indent="-175768">
              <a:lnSpc>
                <a:spcPts val="2170"/>
              </a:lnSpc>
              <a:buSzPct val="100000"/>
              <a:buChar char="•"/>
            </a:pPr>
            <a:r>
              <a:rPr lang="en-US" sz="1400" dirty="0">
                <a:solidFill>
                  <a:srgbClr val="4A5568"/>
                </a:solidFill>
                <a:latin typeface="IBM Plex Sans" pitchFamily="34" charset="0"/>
                <a:ea typeface="IBM Plex Sans" pitchFamily="34" charset="-122"/>
                <a:cs typeface="IBM Plex Sans" pitchFamily="34" charset="-120"/>
              </a:rPr>
              <a:t>Dashboards i mètriques en viu</a:t>
            </a:r>
            <a:endParaRPr lang="en-US" sz="1400" dirty="0"/>
          </a:p>
          <a:p>
            <a:pPr algn="l" marL="175768" indent="-175768">
              <a:lnSpc>
                <a:spcPts val="2170"/>
              </a:lnSpc>
              <a:buSzPct val="100000"/>
              <a:buChar char="•"/>
            </a:pPr>
            <a:r>
              <a:rPr lang="en-US" sz="1400" dirty="0">
                <a:solidFill>
                  <a:srgbClr val="4A5568"/>
                </a:solidFill>
                <a:latin typeface="IBM Plex Sans" pitchFamily="34" charset="0"/>
                <a:ea typeface="IBM Plex Sans" pitchFamily="34" charset="-122"/>
                <a:cs typeface="IBM Plex Sans" pitchFamily="34" charset="-120"/>
              </a:rPr>
              <a:t>Barres de progrés d'una tasca llarga</a:t>
            </a:r>
            <a:endParaRPr lang="en-US" sz="1400" dirty="0"/>
          </a:p>
          <a:p>
            <a:pPr algn="l" marL="175768" indent="-175768">
              <a:lnSpc>
                <a:spcPts val="2170"/>
              </a:lnSpc>
              <a:buSzPct val="100000"/>
              <a:buChar char="•"/>
            </a:pPr>
            <a:r>
              <a:rPr lang="en-US" sz="1400" dirty="0">
                <a:solidFill>
                  <a:srgbClr val="4A5568"/>
                </a:solidFill>
                <a:latin typeface="IBM Plex Sans" pitchFamily="34" charset="0"/>
                <a:ea typeface="IBM Plex Sans" pitchFamily="34" charset="-122"/>
                <a:cs typeface="IBM Plex Sans" pitchFamily="34" charset="-120"/>
              </a:rPr>
              <a:t>Cotitzacions i marcadors</a:t>
            </a:r>
            <a:endParaRPr lang="en-US" sz="1400" dirty="0"/>
          </a:p>
          <a:p>
            <a:pPr algn="l" marL="175768" indent="-175768">
              <a:lnSpc>
                <a:spcPts val="2170"/>
              </a:lnSpc>
              <a:buSzPct val="100000"/>
              <a:buChar char="•"/>
            </a:pPr>
            <a:r>
              <a:rPr lang="en-US" sz="1400" dirty="0">
                <a:solidFill>
                  <a:srgbClr val="4A5568"/>
                </a:solidFill>
                <a:latin typeface="IBM Plex Sans" pitchFamily="34" charset="0"/>
                <a:ea typeface="IBM Plex Sans" pitchFamily="34" charset="-122"/>
                <a:cs typeface="IBM Plex Sans" pitchFamily="34" charset="-120"/>
              </a:rPr>
              <a:t>Seguiment de logs</a:t>
            </a:r>
            <a:endParaRPr lang="en-US" sz="1400" dirty="0"/>
          </a:p>
        </p:txBody>
      </p:sp>
      <p:sp>
        <p:nvSpPr>
          <p:cNvPr id="8" name="Shape 6"/>
          <p:cNvSpPr/>
          <p:nvPr/>
        </p:nvSpPr>
        <p:spPr>
          <a:xfrm>
            <a:off x="6223000" y="1639788"/>
            <a:ext cx="5156200" cy="3129161"/>
          </a:xfrm>
          <a:prstGeom prst="roundRect">
            <a:avLst>
              <a:gd name="adj" fmla="val 3247"/>
            </a:avLst>
          </a:prstGeom>
          <a:solidFill>
            <a:srgbClr val="ECEEE9"/>
          </a:solidFill>
          <a:ln/>
        </p:spPr>
      </p:sp>
      <p:sp>
        <p:nvSpPr>
          <p:cNvPr id="9" name="Shape 7"/>
          <p:cNvSpPr/>
          <p:nvPr/>
        </p:nvSpPr>
        <p:spPr>
          <a:xfrm>
            <a:off x="6223000" y="1639788"/>
            <a:ext cx="5156200" cy="3129161"/>
          </a:xfrm>
          <a:custGeom>
            <a:avLst/>
            <a:gdLst/>
            <a:ahLst/>
            <a:cxnLst/>
            <a:rect l="l" t="t" r="r" b="b"/>
            <a:pathLst>
              <a:path w="5156200" h="3129161">
                <a:moveTo>
                  <a:pt x="0" y="101600"/>
                </a:moveTo>
                <a:lnTo>
                  <a:pt x="0" y="101600"/>
                </a:lnTo>
                <a:arcTo hR="101600" wR="101600" stAng="10800000" swAng="5400000"/>
                <a:lnTo>
                  <a:pt x="5054600" y="0"/>
                </a:lnTo>
                <a:arcTo hR="101600" wR="101600" stAng="16200000" swAng="5400000"/>
                <a:lnTo>
                  <a:pt x="5156200" y="101600"/>
                </a:lnTo>
                <a:arcTo hR="50800" wR="101600" stAng="0" swAng="-5400000"/>
                <a:lnTo>
                  <a:pt x="101600" y="50800"/>
                </a:lnTo>
                <a:arcTo hR="50800" wR="101600" stAng="16200000" swAng="-5400000"/>
                <a:close/>
              </a:path>
            </a:pathLst>
          </a:custGeom>
          <a:solidFill>
            <a:srgbClr val="2563EB"/>
          </a:solidFill>
          <a:ln/>
        </p:spPr>
      </p:sp>
      <p:sp>
        <p:nvSpPr>
          <p:cNvPr id="10" name="Text 8"/>
          <p:cNvSpPr/>
          <p:nvPr/>
        </p:nvSpPr>
        <p:spPr>
          <a:xfrm>
            <a:off x="6527800" y="1995388"/>
            <a:ext cx="4682998" cy="296962"/>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563EB"/>
                </a:solidFill>
                <a:latin typeface="IBM Plex Sans" pitchFamily="34" charset="0"/>
                <a:ea typeface="IBM Plex Sans" pitchFamily="34" charset="-122"/>
                <a:cs typeface="IBM Plex Sans" pitchFamily="34" charset="-120"/>
              </a:rPr>
              <a:t>WebSockets</a:t>
            </a:r>
            <a:endParaRPr lang="en-US" sz="1800" dirty="0"/>
          </a:p>
        </p:txBody>
      </p:sp>
      <p:sp>
        <p:nvSpPr>
          <p:cNvPr id="11" name="Text 9"/>
          <p:cNvSpPr/>
          <p:nvPr/>
        </p:nvSpPr>
        <p:spPr>
          <a:xfrm>
            <a:off x="6527800" y="2419350"/>
            <a:ext cx="4682998" cy="553641"/>
          </a:xfrm>
          <a:prstGeom prst="rect">
            <a:avLst/>
          </a:prstGeom>
          <a:noFill/>
          <a:ln/>
        </p:spPr>
        <p:txBody>
          <a:bodyPr wrap="square" lIns="0" tIns="0" rIns="0" bIns="0" rtlCol="0" anchor="t">
            <a:normAutofit/>
          </a:bodyPr>
          <a:lstStyle/>
          <a:p>
            <a:pPr algn="l" indent="0" marL="0">
              <a:lnSpc>
                <a:spcPts val="2087"/>
              </a:lnSpc>
              <a:buNone/>
            </a:pPr>
            <a:r>
              <a:rPr lang="en-US" sz="1491" dirty="0">
                <a:solidFill>
                  <a:srgbClr val="15202B"/>
                </a:solidFill>
                <a:latin typeface="IBM Plex Sans" pitchFamily="34" charset="0"/>
                <a:ea typeface="IBM Plex Sans" pitchFamily="34" charset="-122"/>
                <a:cs typeface="IBM Plex Sans" pitchFamily="34" charset="-120"/>
              </a:rPr>
              <a:t>Quan </a:t>
            </a:r>
            <a:r>
              <a:rPr lang="en-US" sz="1491" b="1" dirty="0">
                <a:solidFill>
                  <a:srgbClr val="15202B"/>
                </a:solidFill>
                <a:latin typeface="IBM Plex Sans" pitchFamily="34" charset="0"/>
                <a:ea typeface="IBM Plex Sans" pitchFamily="34" charset="-122"/>
                <a:cs typeface="IBM Plex Sans" pitchFamily="34" charset="-120"/>
              </a:rPr>
              <a:t>el client també parla sovint</a:t>
            </a:r>
            <a:r>
              <a:rPr lang="en-US" sz="1491" dirty="0">
                <a:solidFill>
                  <a:srgbClr val="15202B"/>
                </a:solidFill>
                <a:latin typeface="IBM Plex Sans" pitchFamily="34" charset="0"/>
                <a:ea typeface="IBM Plex Sans" pitchFamily="34" charset="-122"/>
                <a:cs typeface="IBM Plex Sans" pitchFamily="34" charset="-120"/>
              </a:rPr>
              <a:t> i la latència importa.</a:t>
            </a:r>
            <a:endParaRPr lang="en-US" sz="1491" dirty="0"/>
          </a:p>
        </p:txBody>
      </p:sp>
      <p:sp>
        <p:nvSpPr>
          <p:cNvPr id="12" name="Text 10"/>
          <p:cNvSpPr/>
          <p:nvPr/>
        </p:nvSpPr>
        <p:spPr>
          <a:xfrm>
            <a:off x="6612482" y="3099991"/>
            <a:ext cx="4590696" cy="1389559"/>
          </a:xfrm>
          <a:prstGeom prst="rect">
            <a:avLst/>
          </a:prstGeom>
          <a:noFill/>
          <a:ln/>
        </p:spPr>
        <p:txBody>
          <a:bodyPr wrap="square" lIns="0" tIns="0" rIns="0" bIns="0" rtlCol="0" anchor="t">
            <a:normAutofit/>
          </a:bodyPr>
          <a:lstStyle/>
          <a:p>
            <a:pPr algn="l" marL="169318" indent="-169318">
              <a:lnSpc>
                <a:spcPts val="2150"/>
              </a:lnSpc>
              <a:buSzPct val="100000"/>
              <a:buChar char="•"/>
            </a:pPr>
            <a:r>
              <a:rPr lang="en-US" sz="1387" dirty="0">
                <a:solidFill>
                  <a:srgbClr val="4A5568"/>
                </a:solidFill>
                <a:latin typeface="IBM Plex Sans" pitchFamily="34" charset="0"/>
                <a:ea typeface="IBM Plex Sans" pitchFamily="34" charset="-122"/>
                <a:cs typeface="IBM Plex Sans" pitchFamily="34" charset="-120"/>
              </a:rPr>
              <a:t>Xats i missatgeria</a:t>
            </a:r>
            <a:endParaRPr lang="en-US" sz="1387" dirty="0"/>
          </a:p>
          <a:p>
            <a:pPr algn="l" marL="169318" indent="-169318">
              <a:lnSpc>
                <a:spcPts val="2150"/>
              </a:lnSpc>
              <a:buSzPct val="100000"/>
              <a:buChar char="•"/>
            </a:pPr>
            <a:r>
              <a:rPr lang="en-US" sz="1387" dirty="0">
                <a:solidFill>
                  <a:srgbClr val="4A5568"/>
                </a:solidFill>
                <a:latin typeface="IBM Plex Sans" pitchFamily="34" charset="0"/>
                <a:ea typeface="IBM Plex Sans" pitchFamily="34" charset="-122"/>
                <a:cs typeface="IBM Plex Sans" pitchFamily="34" charset="-120"/>
              </a:rPr>
              <a:t>Jocs multijugador</a:t>
            </a:r>
            <a:endParaRPr lang="en-US" sz="1387" dirty="0"/>
          </a:p>
          <a:p>
            <a:pPr algn="l" marL="169318" indent="-169318">
              <a:lnSpc>
                <a:spcPts val="2150"/>
              </a:lnSpc>
              <a:buSzPct val="100000"/>
              <a:buChar char="•"/>
            </a:pPr>
            <a:r>
              <a:rPr lang="en-US" sz="1387" dirty="0">
                <a:solidFill>
                  <a:srgbClr val="4A5568"/>
                </a:solidFill>
                <a:latin typeface="IBM Plex Sans" pitchFamily="34" charset="0"/>
                <a:ea typeface="IBM Plex Sans" pitchFamily="34" charset="-122"/>
                <a:cs typeface="IBM Plex Sans" pitchFamily="34" charset="-120"/>
              </a:rPr>
              <a:t>Edició col·laborativa</a:t>
            </a:r>
            <a:endParaRPr lang="en-US" sz="1387" dirty="0"/>
          </a:p>
          <a:p>
            <a:pPr algn="l" marL="169318" indent="-169318">
              <a:lnSpc>
                <a:spcPts val="2150"/>
              </a:lnSpc>
              <a:buSzPct val="100000"/>
              <a:buChar char="•"/>
            </a:pPr>
            <a:r>
              <a:rPr lang="en-US" sz="1387" dirty="0">
                <a:solidFill>
                  <a:srgbClr val="4A5568"/>
                </a:solidFill>
                <a:latin typeface="IBM Plex Sans" pitchFamily="34" charset="0"/>
                <a:ea typeface="IBM Plex Sans" pitchFamily="34" charset="-122"/>
                <a:cs typeface="IBM Plex Sans" pitchFamily="34" charset="-120"/>
              </a:rPr>
              <a:t>Trading i subhastes</a:t>
            </a:r>
            <a:endParaRPr lang="en-US" sz="1387" dirty="0"/>
          </a:p>
          <a:p>
            <a:pPr algn="l" marL="169318" indent="-169318">
              <a:lnSpc>
                <a:spcPts val="2150"/>
              </a:lnSpc>
              <a:buSzPct val="100000"/>
              <a:buChar char="•"/>
            </a:pPr>
            <a:r>
              <a:rPr lang="en-US" sz="1387" dirty="0">
                <a:solidFill>
                  <a:srgbClr val="4A5568"/>
                </a:solidFill>
                <a:latin typeface="IBM Plex Sans" pitchFamily="34" charset="0"/>
                <a:ea typeface="IBM Plex Sans" pitchFamily="34" charset="-122"/>
                <a:cs typeface="IBM Plex Sans" pitchFamily="34" charset="-120"/>
              </a:rPr>
              <a:t>Pissarres compartides</a:t>
            </a:r>
            <a:endParaRPr lang="en-US" sz="1387" dirty="0"/>
          </a:p>
        </p:txBody>
      </p:sp>
      <p:sp>
        <p:nvSpPr>
          <p:cNvPr id="13" name="Text 11"/>
          <p:cNvSpPr/>
          <p:nvPr/>
        </p:nvSpPr>
        <p:spPr>
          <a:xfrm>
            <a:off x="812800" y="5073749"/>
            <a:ext cx="10566400" cy="971451"/>
          </a:xfrm>
          <a:prstGeom prst="roundRect">
            <a:avLst>
              <a:gd name="adj" fmla="val 10459"/>
            </a:avLst>
          </a:prstGeom>
          <a:solidFill>
            <a:srgbClr val="1B2733"/>
          </a:solidFill>
          <a:ln/>
        </p:spPr>
        <p:txBody>
          <a:bodyPr wrap="square" lIns="224242" tIns="173442" rIns="0" bIns="148042" rtlCol="0" anchor="t">
            <a:normAutofit/>
          </a:bodyPr>
          <a:lstStyle/>
          <a:p>
            <a:pPr algn="l" indent="0" marL="0">
              <a:lnSpc>
                <a:spcPts val="2233"/>
              </a:lnSpc>
              <a:buNone/>
            </a:pPr>
            <a:r>
              <a:rPr lang="en-US" sz="1595" dirty="0">
                <a:solidFill>
                  <a:srgbClr val="E6EDF3"/>
                </a:solidFill>
                <a:latin typeface="IBM Plex Sans" pitchFamily="34" charset="0"/>
                <a:ea typeface="IBM Plex Sans" pitchFamily="34" charset="-122"/>
                <a:cs typeface="IBM Plex Sans" pitchFamily="34" charset="-120"/>
              </a:rPr>
              <a:t>Quan ChatGPT o Claude t'escriuen paraula a paraula, això és </a:t>
            </a:r>
            <a:r>
              <a:rPr lang="en-US" sz="1595" b="1" dirty="0">
                <a:solidFill>
                  <a:srgbClr val="F59E0B"/>
                </a:solidFill>
                <a:latin typeface="IBM Plex Sans" pitchFamily="34" charset="0"/>
                <a:ea typeface="IBM Plex Sans" pitchFamily="34" charset="-122"/>
                <a:cs typeface="IBM Plex Sans" pitchFamily="34" charset="-120"/>
              </a:rPr>
              <a:t>SSE</a:t>
            </a:r>
            <a:r>
              <a:rPr lang="en-US" sz="1595" dirty="0">
                <a:solidFill>
                  <a:srgbClr val="E6EDF3"/>
                </a:solidFill>
                <a:latin typeface="IBM Plex Sans" pitchFamily="34" charset="0"/>
                <a:ea typeface="IBM Plex Sans" pitchFamily="34" charset="-122"/>
                <a:cs typeface="IBM Plex Sans" pitchFamily="34" charset="-120"/>
              </a:rPr>
              <a:t>, no WebSockets. Només cal que parli un dels dos costats.</a:t>
            </a:r>
            <a:endParaRPr lang="en-US" sz="159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202B"/>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8135"/>
          </a:xfrm>
          <a:prstGeom prst="rect">
            <a:avLst/>
          </a:prstGeom>
          <a:noFill/>
          <a:ln/>
        </p:spPr>
        <p:txBody>
          <a:bodyPr wrap="square" lIns="0" tIns="0" rIns="0" bIns="0" rtlCol="0" anchor="t">
            <a:normAutofit/>
          </a:bodyPr>
          <a:lstStyle/>
          <a:p>
            <a:pPr algn="l" indent="0" marL="0">
              <a:lnSpc>
                <a:spcPts val="3565"/>
              </a:lnSpc>
              <a:buNone/>
            </a:pPr>
            <a:r>
              <a:rPr lang="en-US" sz="3100" b="1" i="0" dirty="0">
                <a:solidFill>
                  <a:srgbClr val="F7F8F6"/>
                </a:solidFill>
                <a:latin typeface="IBM Plex Sans" pitchFamily="34" charset="0"/>
                <a:ea typeface="IBM Plex Sans" pitchFamily="34" charset="-122"/>
                <a:cs typeface="IBM Plex Sans" pitchFamily="34" charset="-120"/>
              </a:rPr>
              <a:t>Conclusions i valoració</a:t>
            </a:r>
            <a:endParaRPr lang="en-US" sz="3100" dirty="0"/>
          </a:p>
        </p:txBody>
      </p:sp>
      <p:sp>
        <p:nvSpPr>
          <p:cNvPr id="3" name="Text 1"/>
          <p:cNvSpPr/>
          <p:nvPr/>
        </p:nvSpPr>
        <p:spPr>
          <a:xfrm>
            <a:off x="812800" y="1494135"/>
            <a:ext cx="10595610"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7F8F6"/>
                </a:solidFill>
                <a:latin typeface="IBM Plex Sans" pitchFamily="34" charset="0"/>
                <a:ea typeface="IBM Plex Sans" pitchFamily="34" charset="-122"/>
                <a:cs typeface="IBM Plex Sans" pitchFamily="34" charset="-120"/>
              </a:rPr>
              <a:t>Si només ha de parlar el servidor, </a:t>
            </a:r>
            <a:r>
              <a:rPr lang="en-US" sz="1800" b="1" dirty="0">
                <a:solidFill>
                  <a:srgbClr val="F59E0B"/>
                </a:solidFill>
                <a:latin typeface="IBM Plex Sans" pitchFamily="34" charset="0"/>
                <a:ea typeface="IBM Plex Sans" pitchFamily="34" charset="-122"/>
                <a:cs typeface="IBM Plex Sans" pitchFamily="34" charset="-120"/>
              </a:rPr>
              <a:t>SSE</a:t>
            </a:r>
            <a:r>
              <a:rPr lang="en-US" sz="1800" dirty="0">
                <a:solidFill>
                  <a:srgbClr val="F7F8F6"/>
                </a:solidFill>
                <a:latin typeface="IBM Plex Sans" pitchFamily="34" charset="0"/>
                <a:ea typeface="IBM Plex Sans" pitchFamily="34" charset="-122"/>
                <a:cs typeface="IBM Plex Sans" pitchFamily="34" charset="-120"/>
              </a:rPr>
              <a:t>. Si han de parlar tots dos, </a:t>
            </a:r>
            <a:r>
              <a:rPr lang="en-US" sz="1800" b="1" dirty="0">
                <a:solidFill>
                  <a:srgbClr val="60A5FA"/>
                </a:solidFill>
                <a:latin typeface="IBM Plex Sans" pitchFamily="34" charset="0"/>
                <a:ea typeface="IBM Plex Sans" pitchFamily="34" charset="-122"/>
                <a:cs typeface="IBM Plex Sans" pitchFamily="34" charset="-120"/>
              </a:rPr>
              <a:t>WebSockets</a:t>
            </a:r>
            <a:r>
              <a:rPr lang="en-US" sz="1800" dirty="0">
                <a:solidFill>
                  <a:srgbClr val="F7F8F6"/>
                </a:solidFill>
                <a:latin typeface="IBM Plex Sans" pitchFamily="34" charset="0"/>
                <a:ea typeface="IBM Plex Sans" pitchFamily="34" charset="-122"/>
                <a:cs typeface="IBM Plex Sans" pitchFamily="34" charset="-120"/>
              </a:rPr>
              <a:t>.</a:t>
            </a:r>
            <a:endParaRPr lang="en-US" sz="1800" dirty="0"/>
          </a:p>
        </p:txBody>
      </p:sp>
      <p:sp>
        <p:nvSpPr>
          <p:cNvPr id="4" name="Text 2"/>
          <p:cNvSpPr/>
          <p:nvPr/>
        </p:nvSpPr>
        <p:spPr>
          <a:xfrm>
            <a:off x="812800" y="1942405"/>
            <a:ext cx="1059561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0C0"/>
                </a:solidFill>
                <a:latin typeface="IBM Plex Sans" pitchFamily="34" charset="0"/>
                <a:ea typeface="IBM Plex Sans" pitchFamily="34" charset="-122"/>
                <a:cs typeface="IBM Plex Sans" pitchFamily="34" charset="-120"/>
              </a:rPr>
              <a:t>El que costa no és el codi del navegador: és que el servidor deixa de ser sense estat.</a:t>
            </a:r>
            <a:endParaRPr lang="en-US" sz="1600" dirty="0"/>
          </a:p>
        </p:txBody>
      </p:sp>
      <p:pic>
        <p:nvPicPr>
          <p:cNvPr id="5" name="Image 0" descr="line">    </p:cNvPr>
          <p:cNvPicPr>
            <a:picLocks noChangeAspect="1"/>
          </p:cNvPicPr>
          <p:nvPr/>
        </p:nvPicPr>
        <p:blipFill>
          <a:blip r:embed="rId1"/>
          <a:srcRect l="0" r="0" t="0" b="0"/>
          <a:stretch/>
        </p:blipFill>
        <p:spPr>
          <a:xfrm>
            <a:off x="812800" y="2455466"/>
            <a:ext cx="10566400" cy="12700"/>
          </a:xfrm>
          <a:prstGeom prst="rect">
            <a:avLst/>
          </a:prstGeom>
        </p:spPr>
      </p:pic>
      <p:sp>
        <p:nvSpPr>
          <p:cNvPr id="6" name="Shape 3"/>
          <p:cNvSpPr/>
          <p:nvPr/>
        </p:nvSpPr>
        <p:spPr>
          <a:xfrm>
            <a:off x="812800" y="2696766"/>
            <a:ext cx="3369667" cy="2263378"/>
          </a:xfrm>
          <a:prstGeom prst="roundRect">
            <a:avLst>
              <a:gd name="adj" fmla="val 4489"/>
            </a:avLst>
          </a:prstGeom>
          <a:solidFill>
            <a:srgbClr val="1B2733"/>
          </a:solidFill>
          <a:ln/>
        </p:spPr>
      </p:sp>
      <p:sp>
        <p:nvSpPr>
          <p:cNvPr id="7" name="Text 4"/>
          <p:cNvSpPr/>
          <p:nvPr/>
        </p:nvSpPr>
        <p:spPr>
          <a:xfrm>
            <a:off x="1041400" y="2925366"/>
            <a:ext cx="2999841"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59E0B"/>
                </a:solidFill>
                <a:latin typeface="IBM Plex Sans" pitchFamily="34" charset="0"/>
                <a:ea typeface="IBM Plex Sans" pitchFamily="34" charset="-122"/>
                <a:cs typeface="IBM Plex Sans" pitchFamily="34" charset="-120"/>
              </a:rPr>
              <a:t>La nostra recomanació</a:t>
            </a:r>
            <a:endParaRPr lang="en-US" sz="1400" dirty="0"/>
          </a:p>
        </p:txBody>
      </p:sp>
      <p:sp>
        <p:nvSpPr>
          <p:cNvPr id="8" name="Text 5"/>
          <p:cNvSpPr/>
          <p:nvPr/>
        </p:nvSpPr>
        <p:spPr>
          <a:xfrm>
            <a:off x="1041400" y="3240286"/>
            <a:ext cx="2999841" cy="1268115"/>
          </a:xfrm>
          <a:prstGeom prst="rect">
            <a:avLst/>
          </a:prstGeom>
          <a:noFill/>
          <a:ln/>
        </p:spPr>
        <p:txBody>
          <a:bodyPr wrap="square" lIns="0" tIns="0" rIns="0" bIns="0" rtlCol="0" anchor="t">
            <a:normAutofit/>
          </a:bodyPr>
          <a:lstStyle/>
          <a:p>
            <a:pPr algn="l" indent="0" marL="0">
              <a:lnSpc>
                <a:spcPts val="1958"/>
              </a:lnSpc>
              <a:buNone/>
            </a:pPr>
            <a:r>
              <a:rPr lang="en-US" sz="1350" dirty="0">
                <a:solidFill>
                  <a:srgbClr val="E6EDF3"/>
                </a:solidFill>
                <a:latin typeface="IBM Plex Sans" pitchFamily="34" charset="0"/>
                <a:ea typeface="IBM Plex Sans" pitchFamily="34" charset="-122"/>
                <a:cs typeface="IBM Plex Sans" pitchFamily="34" charset="-120"/>
              </a:rPr>
              <a:t>Comenceu sempre per SSE. Passeu a WebSockets només quan us trobeu enviant molts fetch cap al servidor per mantenir la conversa, o quan necessiteu binari.</a:t>
            </a:r>
            <a:endParaRPr lang="en-US" sz="1350" dirty="0"/>
          </a:p>
        </p:txBody>
      </p:sp>
      <p:sp>
        <p:nvSpPr>
          <p:cNvPr id="9" name="Shape 6"/>
          <p:cNvSpPr/>
          <p:nvPr/>
        </p:nvSpPr>
        <p:spPr>
          <a:xfrm>
            <a:off x="4411067" y="2696766"/>
            <a:ext cx="3369766" cy="2263378"/>
          </a:xfrm>
          <a:prstGeom prst="roundRect">
            <a:avLst>
              <a:gd name="adj" fmla="val 4489"/>
            </a:avLst>
          </a:prstGeom>
          <a:solidFill>
            <a:srgbClr val="1B2733"/>
          </a:solidFill>
          <a:ln/>
        </p:spPr>
      </p:sp>
      <p:sp>
        <p:nvSpPr>
          <p:cNvPr id="10" name="Text 7"/>
          <p:cNvSpPr/>
          <p:nvPr/>
        </p:nvSpPr>
        <p:spPr>
          <a:xfrm>
            <a:off x="4639667" y="2925366"/>
            <a:ext cx="299994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59E0B"/>
                </a:solidFill>
                <a:latin typeface="IBM Plex Sans" pitchFamily="34" charset="0"/>
                <a:ea typeface="IBM Plex Sans" pitchFamily="34" charset="-122"/>
                <a:cs typeface="IBM Plex Sans" pitchFamily="34" charset="-120"/>
              </a:rPr>
              <a:t>El que ens ha sorprès</a:t>
            </a:r>
            <a:endParaRPr lang="en-US" sz="1400" dirty="0"/>
          </a:p>
        </p:txBody>
      </p:sp>
      <p:sp>
        <p:nvSpPr>
          <p:cNvPr id="11" name="Text 8"/>
          <p:cNvSpPr/>
          <p:nvPr/>
        </p:nvSpPr>
        <p:spPr>
          <a:xfrm>
            <a:off x="4639667" y="3240286"/>
            <a:ext cx="2999943" cy="1268115"/>
          </a:xfrm>
          <a:prstGeom prst="rect">
            <a:avLst/>
          </a:prstGeom>
          <a:noFill/>
          <a:ln/>
        </p:spPr>
        <p:txBody>
          <a:bodyPr wrap="square" lIns="0" tIns="0" rIns="0" bIns="0" rtlCol="0" anchor="t">
            <a:normAutofit/>
          </a:bodyPr>
          <a:lstStyle/>
          <a:p>
            <a:pPr algn="l" indent="0" marL="0">
              <a:lnSpc>
                <a:spcPts val="1958"/>
              </a:lnSpc>
              <a:buNone/>
            </a:pPr>
            <a:r>
              <a:rPr lang="en-US" sz="1350" dirty="0">
                <a:solidFill>
                  <a:srgbClr val="E6EDF3"/>
                </a:solidFill>
                <a:latin typeface="IBM Plex Sans" pitchFamily="34" charset="0"/>
                <a:ea typeface="IBM Plex Sans" pitchFamily="34" charset="-122"/>
                <a:cs typeface="IBM Plex Sans" pitchFamily="34" charset="-120"/>
              </a:rPr>
              <a:t>Que la tecnologia més simple de les dues sigui la que mou el cas d'ús més visible d'aquests anys: el text que els models de llenguatge escriuen paraula a paraula va amb SSE.</a:t>
            </a:r>
            <a:endParaRPr lang="en-US" sz="1350" dirty="0"/>
          </a:p>
        </p:txBody>
      </p:sp>
      <p:sp>
        <p:nvSpPr>
          <p:cNvPr id="12" name="Shape 9"/>
          <p:cNvSpPr/>
          <p:nvPr/>
        </p:nvSpPr>
        <p:spPr>
          <a:xfrm>
            <a:off x="8009434" y="2696766"/>
            <a:ext cx="3369766" cy="2263378"/>
          </a:xfrm>
          <a:prstGeom prst="roundRect">
            <a:avLst>
              <a:gd name="adj" fmla="val 4489"/>
            </a:avLst>
          </a:prstGeom>
          <a:solidFill>
            <a:srgbClr val="1B2733"/>
          </a:solidFill>
          <a:ln/>
        </p:spPr>
      </p:sp>
      <p:sp>
        <p:nvSpPr>
          <p:cNvPr id="13" name="Text 10"/>
          <p:cNvSpPr/>
          <p:nvPr/>
        </p:nvSpPr>
        <p:spPr>
          <a:xfrm>
            <a:off x="8238034" y="2925366"/>
            <a:ext cx="299994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60A5FA"/>
                </a:solidFill>
                <a:latin typeface="IBM Plex Sans" pitchFamily="34" charset="0"/>
                <a:ea typeface="IBM Plex Sans" pitchFamily="34" charset="-122"/>
                <a:cs typeface="IBM Plex Sans" pitchFamily="34" charset="-120"/>
              </a:rPr>
              <a:t>La nostra predicció</a:t>
            </a:r>
            <a:endParaRPr lang="en-US" sz="1400" dirty="0"/>
          </a:p>
        </p:txBody>
      </p:sp>
      <p:sp>
        <p:nvSpPr>
          <p:cNvPr id="14" name="Text 11"/>
          <p:cNvSpPr/>
          <p:nvPr/>
        </p:nvSpPr>
        <p:spPr>
          <a:xfrm>
            <a:off x="8238034" y="3240286"/>
            <a:ext cx="2999943" cy="1516658"/>
          </a:xfrm>
          <a:prstGeom prst="rect">
            <a:avLst/>
          </a:prstGeom>
          <a:noFill/>
          <a:ln/>
        </p:spPr>
        <p:txBody>
          <a:bodyPr wrap="square" lIns="0" tIns="0" rIns="0" bIns="0" rtlCol="0" anchor="t">
            <a:normAutofit/>
          </a:bodyPr>
          <a:lstStyle/>
          <a:p>
            <a:pPr algn="l" indent="0" marL="0">
              <a:lnSpc>
                <a:spcPts val="1958"/>
              </a:lnSpc>
              <a:buNone/>
            </a:pPr>
            <a:r>
              <a:rPr lang="en-US" sz="1350" dirty="0">
                <a:solidFill>
                  <a:srgbClr val="E6EDF3"/>
                </a:solidFill>
                <a:latin typeface="IBM Plex Sans" pitchFamily="34" charset="0"/>
                <a:ea typeface="IBM Plex Sans" pitchFamily="34" charset="-122"/>
                <a:cs typeface="IBM Plex Sans" pitchFamily="34" charset="-120"/>
              </a:rPr>
              <a:t>WebTransport ja és a tots els navegadors i es menjarà els casos de jocs i mèdia. Però SSE sobreviurà: la seva simplicitat no té rival, i el server push d'HTTP/2 ja va demostrar que el que no és simple no s'adopta.</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07305"/>
          </a:xfrm>
          <a:prstGeom prst="rect">
            <a:avLst/>
          </a:prstGeom>
          <a:noFill/>
          <a:ln/>
        </p:spPr>
        <p:txBody>
          <a:bodyPr wrap="square" lIns="0" tIns="0" rIns="0" bIns="0" rtlCol="0" anchor="t">
            <a:normAutofit/>
          </a:bodyPr>
          <a:lstStyle/>
          <a:p>
            <a:pPr algn="l" indent="0" marL="0">
              <a:lnSpc>
                <a:spcPts val="3795"/>
              </a:lnSpc>
              <a:buNone/>
            </a:pPr>
            <a:r>
              <a:rPr lang="en-US" sz="3300" b="1" i="0" dirty="0">
                <a:solidFill>
                  <a:srgbClr val="15202B"/>
                </a:solidFill>
                <a:latin typeface="IBM Plex Sans" pitchFamily="34" charset="0"/>
                <a:ea typeface="IBM Plex Sans" pitchFamily="34" charset="-122"/>
                <a:cs typeface="IBM Plex Sans" pitchFamily="34" charset="-120"/>
              </a:rPr>
              <a:t>Referències</a:t>
            </a:r>
            <a:endParaRPr lang="en-US" sz="3300" dirty="0"/>
          </a:p>
        </p:txBody>
      </p:sp>
      <p:sp>
        <p:nvSpPr>
          <p:cNvPr id="3" name="Text 1"/>
          <p:cNvSpPr/>
          <p:nvPr/>
        </p:nvSpPr>
        <p:spPr>
          <a:xfrm>
            <a:off x="815975" y="1526480"/>
            <a:ext cx="5175250" cy="516830"/>
          </a:xfrm>
          <a:prstGeom prst="roundRect">
            <a:avLst>
              <a:gd name="adj" fmla="val 14129"/>
            </a:avLst>
          </a:prstGeom>
          <a:solidFill>
            <a:srgbClr val="ECEEE9"/>
          </a:solidFill>
          <a:ln w="6350">
            <a:solidFill>
              <a:srgbClr val="D7DBD4"/>
            </a:solidFill>
            <a:prstDash val="solid"/>
          </a:ln>
        </p:spPr>
        <p:txBody>
          <a:bodyPr wrap="square" lIns="172287" tIns="121487" rIns="28650" bIns="96087" rtlCol="0" anchor="t">
            <a:normAutofit/>
          </a:bodyPr>
          <a:lstStyle/>
          <a:p>
            <a:pPr algn="l" indent="0" marL="0">
              <a:lnSpc>
                <a:spcPts val="1820"/>
              </a:lnSpc>
              <a:buNone/>
            </a:pPr>
            <a:r>
              <a:rPr lang="en-US" sz="1300" b="1" dirty="0">
                <a:solidFill>
                  <a:srgbClr val="15202B"/>
                </a:solidFill>
                <a:latin typeface="IBM Plex Sans" pitchFamily="34" charset="0"/>
                <a:ea typeface="IBM Plex Sans" pitchFamily="34" charset="-122"/>
                <a:cs typeface="IBM Plex Sans" pitchFamily="34" charset="-120"/>
              </a:rPr>
              <a:t>RFC 6455</a:t>
            </a:r>
            <a:r>
              <a:rPr lang="en-US" sz="1300" dirty="0">
                <a:solidFill>
                  <a:srgbClr val="15202B"/>
                </a:solidFill>
                <a:latin typeface="IBM Plex Sans" pitchFamily="34" charset="0"/>
                <a:ea typeface="IBM Plex Sans" pitchFamily="34" charset="-122"/>
                <a:cs typeface="IBM Plex Sans" pitchFamily="34" charset="-120"/>
              </a:rPr>
              <a:t> — </a:t>
            </a:r>
            <a:r>
              <a:rPr lang="en-US" sz="1300" i="1" dirty="0">
                <a:solidFill>
                  <a:srgbClr val="15202B"/>
                </a:solidFill>
                <a:latin typeface="IBM Plex Sans" pitchFamily="34" charset="0"/>
                <a:ea typeface="IBM Plex Sans" pitchFamily="34" charset="-122"/>
                <a:cs typeface="IBM Plex Sans" pitchFamily="34" charset="-120"/>
              </a:rPr>
              <a:t>The WebSocket Protocol</a:t>
            </a:r>
            <a:r>
              <a:rPr lang="en-US" sz="1300" dirty="0">
                <a:solidFill>
                  <a:srgbClr val="15202B"/>
                </a:solidFill>
                <a:latin typeface="IBM Plex Sans" pitchFamily="34" charset="0"/>
                <a:ea typeface="IBM Plex Sans" pitchFamily="34" charset="-122"/>
                <a:cs typeface="IBM Plex Sans" pitchFamily="34" charset="-120"/>
              </a:rPr>
              <a:t>. IETF, desembre 2011.</a:t>
            </a:r>
            <a:endParaRPr lang="en-US" sz="1300" dirty="0"/>
          </a:p>
        </p:txBody>
      </p:sp>
      <p:sp>
        <p:nvSpPr>
          <p:cNvPr id="4" name="Text 2"/>
          <p:cNvSpPr/>
          <p:nvPr/>
        </p:nvSpPr>
        <p:spPr>
          <a:xfrm>
            <a:off x="815975" y="2151261"/>
            <a:ext cx="5175250" cy="747911"/>
          </a:xfrm>
          <a:prstGeom prst="roundRect">
            <a:avLst>
              <a:gd name="adj" fmla="val 9764"/>
            </a:avLst>
          </a:prstGeom>
          <a:solidFill>
            <a:srgbClr val="ECEEE9"/>
          </a:solidFill>
          <a:ln w="6350">
            <a:solidFill>
              <a:srgbClr val="D7DBD4"/>
            </a:solidFill>
            <a:prstDash val="solid"/>
          </a:ln>
        </p:spPr>
        <p:txBody>
          <a:bodyPr wrap="square" lIns="172287" tIns="121487" rIns="28650" bIns="96087" rtlCol="0" anchor="t">
            <a:normAutofit/>
          </a:bodyPr>
          <a:lstStyle/>
          <a:p>
            <a:pPr algn="l" indent="0" marL="0">
              <a:lnSpc>
                <a:spcPts val="1820"/>
              </a:lnSpc>
              <a:buNone/>
            </a:pPr>
            <a:r>
              <a:rPr lang="en-US" sz="1300" b="1" dirty="0">
                <a:solidFill>
                  <a:srgbClr val="15202B"/>
                </a:solidFill>
                <a:latin typeface="IBM Plex Sans" pitchFamily="34" charset="0"/>
                <a:ea typeface="IBM Plex Sans" pitchFamily="34" charset="-122"/>
                <a:cs typeface="IBM Plex Sans" pitchFamily="34" charset="-120"/>
              </a:rPr>
              <a:t>RFC 8441</a:t>
            </a:r>
            <a:r>
              <a:rPr lang="en-US" sz="1300" dirty="0">
                <a:solidFill>
                  <a:srgbClr val="15202B"/>
                </a:solidFill>
                <a:latin typeface="IBM Plex Sans" pitchFamily="34" charset="0"/>
                <a:ea typeface="IBM Plex Sans" pitchFamily="34" charset="-122"/>
                <a:cs typeface="IBM Plex Sans" pitchFamily="34" charset="-120"/>
              </a:rPr>
              <a:t> i </a:t>
            </a:r>
            <a:r>
              <a:rPr lang="en-US" sz="1300" b="1" dirty="0">
                <a:solidFill>
                  <a:srgbClr val="15202B"/>
                </a:solidFill>
                <a:latin typeface="IBM Plex Sans" pitchFamily="34" charset="0"/>
                <a:ea typeface="IBM Plex Sans" pitchFamily="34" charset="-122"/>
                <a:cs typeface="IBM Plex Sans" pitchFamily="34" charset="-120"/>
              </a:rPr>
              <a:t>RFC 9220</a:t>
            </a:r>
            <a:r>
              <a:rPr lang="en-US" sz="1300" dirty="0">
                <a:solidFill>
                  <a:srgbClr val="15202B"/>
                </a:solidFill>
                <a:latin typeface="IBM Plex Sans" pitchFamily="34" charset="0"/>
                <a:ea typeface="IBM Plex Sans" pitchFamily="34" charset="-122"/>
                <a:cs typeface="IBM Plex Sans" pitchFamily="34" charset="-120"/>
              </a:rPr>
              <a:t> — </a:t>
            </a:r>
            <a:r>
              <a:rPr lang="en-US" sz="1300" i="1" dirty="0">
                <a:solidFill>
                  <a:srgbClr val="15202B"/>
                </a:solidFill>
                <a:latin typeface="IBM Plex Sans" pitchFamily="34" charset="0"/>
                <a:ea typeface="IBM Plex Sans" pitchFamily="34" charset="-122"/>
                <a:cs typeface="IBM Plex Sans" pitchFamily="34" charset="-120"/>
              </a:rPr>
              <a:t>Bootstrapping WebSockets with HTTP/2 and HTTP/3</a:t>
            </a:r>
            <a:r>
              <a:rPr lang="en-US" sz="1300" dirty="0">
                <a:solidFill>
                  <a:srgbClr val="15202B"/>
                </a:solidFill>
                <a:latin typeface="IBM Plex Sans" pitchFamily="34" charset="0"/>
                <a:ea typeface="IBM Plex Sans" pitchFamily="34" charset="-122"/>
                <a:cs typeface="IBM Plex Sans" pitchFamily="34" charset="-120"/>
              </a:rPr>
              <a:t>. IETF, 2018 i 2022.</a:t>
            </a:r>
            <a:endParaRPr lang="en-US" sz="1300" dirty="0"/>
          </a:p>
        </p:txBody>
      </p:sp>
      <p:sp>
        <p:nvSpPr>
          <p:cNvPr id="5" name="Text 3"/>
          <p:cNvSpPr/>
          <p:nvPr/>
        </p:nvSpPr>
        <p:spPr>
          <a:xfrm>
            <a:off x="815975" y="3007122"/>
            <a:ext cx="5175250" cy="516830"/>
          </a:xfrm>
          <a:prstGeom prst="roundRect">
            <a:avLst>
              <a:gd name="adj" fmla="val 14129"/>
            </a:avLst>
          </a:prstGeom>
          <a:solidFill>
            <a:srgbClr val="ECEEE9"/>
          </a:solidFill>
          <a:ln w="6350">
            <a:solidFill>
              <a:srgbClr val="D7DBD4"/>
            </a:solidFill>
            <a:prstDash val="solid"/>
          </a:ln>
        </p:spPr>
        <p:txBody>
          <a:bodyPr wrap="square" lIns="172287" tIns="121487" rIns="28650" bIns="96087" rtlCol="0" anchor="t">
            <a:normAutofit/>
          </a:bodyPr>
          <a:lstStyle/>
          <a:p>
            <a:pPr algn="l" indent="0" marL="0">
              <a:lnSpc>
                <a:spcPts val="1820"/>
              </a:lnSpc>
              <a:buNone/>
            </a:pPr>
            <a:r>
              <a:rPr lang="en-US" sz="1300" b="1" dirty="0">
                <a:solidFill>
                  <a:srgbClr val="15202B"/>
                </a:solidFill>
                <a:latin typeface="IBM Plex Sans" pitchFamily="34" charset="0"/>
                <a:ea typeface="IBM Plex Sans" pitchFamily="34" charset="-122"/>
                <a:cs typeface="IBM Plex Sans" pitchFamily="34" charset="-120"/>
              </a:rPr>
              <a:t>HTML Living Standard</a:t>
            </a:r>
            <a:r>
              <a:rPr lang="en-US" sz="1300" dirty="0">
                <a:solidFill>
                  <a:srgbClr val="15202B"/>
                </a:solidFill>
                <a:latin typeface="IBM Plex Sans" pitchFamily="34" charset="0"/>
                <a:ea typeface="IBM Plex Sans" pitchFamily="34" charset="-122"/>
                <a:cs typeface="IBM Plex Sans" pitchFamily="34" charset="-120"/>
              </a:rPr>
              <a:t> — secció </a:t>
            </a:r>
            <a:r>
              <a:rPr lang="en-US" sz="1300" i="1" dirty="0">
                <a:solidFill>
                  <a:srgbClr val="15202B"/>
                </a:solidFill>
                <a:latin typeface="IBM Plex Sans" pitchFamily="34" charset="0"/>
                <a:ea typeface="IBM Plex Sans" pitchFamily="34" charset="-122"/>
                <a:cs typeface="IBM Plex Sans" pitchFamily="34" charset="-120"/>
              </a:rPr>
              <a:t>Server-sent events</a:t>
            </a:r>
            <a:r>
              <a:rPr lang="en-US" sz="1300" dirty="0">
                <a:solidFill>
                  <a:srgbClr val="15202B"/>
                </a:solidFill>
                <a:latin typeface="IBM Plex Sans" pitchFamily="34" charset="0"/>
                <a:ea typeface="IBM Plex Sans" pitchFamily="34" charset="-122"/>
                <a:cs typeface="IBM Plex Sans" pitchFamily="34" charset="-120"/>
              </a:rPr>
              <a:t>. WHATWG.</a:t>
            </a:r>
            <a:endParaRPr lang="en-US" sz="1300" dirty="0"/>
          </a:p>
        </p:txBody>
      </p:sp>
      <p:sp>
        <p:nvSpPr>
          <p:cNvPr id="6" name="Text 4"/>
          <p:cNvSpPr/>
          <p:nvPr/>
        </p:nvSpPr>
        <p:spPr>
          <a:xfrm>
            <a:off x="815975" y="3631902"/>
            <a:ext cx="5175250" cy="516830"/>
          </a:xfrm>
          <a:prstGeom prst="roundRect">
            <a:avLst>
              <a:gd name="adj" fmla="val 14129"/>
            </a:avLst>
          </a:prstGeom>
          <a:solidFill>
            <a:srgbClr val="ECEEE9"/>
          </a:solidFill>
          <a:ln w="6350">
            <a:solidFill>
              <a:srgbClr val="D7DBD4"/>
            </a:solidFill>
            <a:prstDash val="solid"/>
          </a:ln>
        </p:spPr>
        <p:txBody>
          <a:bodyPr wrap="square" lIns="172287" tIns="121487" rIns="28650" bIns="96087" rtlCol="0" anchor="t">
            <a:normAutofit/>
          </a:bodyPr>
          <a:lstStyle/>
          <a:p>
            <a:pPr algn="l" indent="0" marL="0">
              <a:lnSpc>
                <a:spcPts val="1820"/>
              </a:lnSpc>
              <a:buNone/>
            </a:pPr>
            <a:r>
              <a:rPr lang="en-US" sz="1300" b="1" dirty="0">
                <a:solidFill>
                  <a:srgbClr val="15202B"/>
                </a:solidFill>
                <a:latin typeface="IBM Plex Sans" pitchFamily="34" charset="0"/>
                <a:ea typeface="IBM Plex Sans" pitchFamily="34" charset="-122"/>
                <a:cs typeface="IBM Plex Sans" pitchFamily="34" charset="-120"/>
              </a:rPr>
              <a:t>W3C</a:t>
            </a:r>
            <a:r>
              <a:rPr lang="en-US" sz="1300" dirty="0">
                <a:solidFill>
                  <a:srgbClr val="15202B"/>
                </a:solidFill>
                <a:latin typeface="IBM Plex Sans" pitchFamily="34" charset="0"/>
                <a:ea typeface="IBM Plex Sans" pitchFamily="34" charset="-122"/>
                <a:cs typeface="IBM Plex Sans" pitchFamily="34" charset="-120"/>
              </a:rPr>
              <a:t> — </a:t>
            </a:r>
            <a:r>
              <a:rPr lang="en-US" sz="1300" i="1" dirty="0">
                <a:solidFill>
                  <a:srgbClr val="15202B"/>
                </a:solidFill>
                <a:latin typeface="IBM Plex Sans" pitchFamily="34" charset="0"/>
                <a:ea typeface="IBM Plex Sans" pitchFamily="34" charset="-122"/>
                <a:cs typeface="IBM Plex Sans" pitchFamily="34" charset="-120"/>
              </a:rPr>
              <a:t>Server-Sent Events</a:t>
            </a:r>
            <a:r>
              <a:rPr lang="en-US" sz="1300" dirty="0">
                <a:solidFill>
                  <a:srgbClr val="15202B"/>
                </a:solidFill>
                <a:latin typeface="IBM Plex Sans" pitchFamily="34" charset="0"/>
                <a:ea typeface="IBM Plex Sans" pitchFamily="34" charset="-122"/>
                <a:cs typeface="IBM Plex Sans" pitchFamily="34" charset="-120"/>
              </a:rPr>
              <a:t>, Recommendation, febrer 2015.</a:t>
            </a:r>
            <a:endParaRPr lang="en-US" sz="1300" dirty="0"/>
          </a:p>
        </p:txBody>
      </p:sp>
      <p:sp>
        <p:nvSpPr>
          <p:cNvPr id="7" name="Text 5"/>
          <p:cNvSpPr/>
          <p:nvPr/>
        </p:nvSpPr>
        <p:spPr>
          <a:xfrm>
            <a:off x="6200775" y="1526480"/>
            <a:ext cx="5175250" cy="516830"/>
          </a:xfrm>
          <a:prstGeom prst="roundRect">
            <a:avLst>
              <a:gd name="adj" fmla="val 14129"/>
            </a:avLst>
          </a:prstGeom>
          <a:solidFill>
            <a:srgbClr val="ECEEE9"/>
          </a:solidFill>
          <a:ln w="6350">
            <a:solidFill>
              <a:srgbClr val="D7DBD4"/>
            </a:solidFill>
            <a:prstDash val="solid"/>
          </a:ln>
        </p:spPr>
        <p:txBody>
          <a:bodyPr wrap="square" lIns="172287" tIns="121487" rIns="28650" bIns="96087" rtlCol="0" anchor="t">
            <a:normAutofit/>
          </a:bodyPr>
          <a:lstStyle/>
          <a:p>
            <a:pPr algn="l" indent="0" marL="0">
              <a:lnSpc>
                <a:spcPts val="1820"/>
              </a:lnSpc>
              <a:buNone/>
            </a:pPr>
            <a:r>
              <a:rPr lang="en-US" sz="1300" b="1" dirty="0">
                <a:solidFill>
                  <a:srgbClr val="15202B"/>
                </a:solidFill>
                <a:latin typeface="IBM Plex Sans" pitchFamily="34" charset="0"/>
                <a:ea typeface="IBM Plex Sans" pitchFamily="34" charset="-122"/>
                <a:cs typeface="IBM Plex Sans" pitchFamily="34" charset="-120"/>
              </a:rPr>
              <a:t>MDN Web Docs</a:t>
            </a:r>
            <a:r>
              <a:rPr lang="en-US" sz="1300" dirty="0">
                <a:solidFill>
                  <a:srgbClr val="15202B"/>
                </a:solidFill>
                <a:latin typeface="IBM Plex Sans" pitchFamily="34" charset="0"/>
                <a:ea typeface="IBM Plex Sans" pitchFamily="34" charset="-122"/>
                <a:cs typeface="IBM Plex Sans" pitchFamily="34" charset="-120"/>
              </a:rPr>
              <a:t> — </a:t>
            </a:r>
            <a:r>
              <a:rPr lang="en-US" sz="1300" i="1" dirty="0">
                <a:solidFill>
                  <a:srgbClr val="15202B"/>
                </a:solidFill>
                <a:latin typeface="IBM Plex Sans" pitchFamily="34" charset="0"/>
                <a:ea typeface="IBM Plex Sans" pitchFamily="34" charset="-122"/>
                <a:cs typeface="IBM Plex Sans" pitchFamily="34" charset="-120"/>
              </a:rPr>
              <a:t>EventSource</a:t>
            </a:r>
            <a:r>
              <a:rPr lang="en-US" sz="1300" dirty="0">
                <a:solidFill>
                  <a:srgbClr val="15202B"/>
                </a:solidFill>
                <a:latin typeface="IBM Plex Sans" pitchFamily="34" charset="0"/>
                <a:ea typeface="IBM Plex Sans" pitchFamily="34" charset="-122"/>
                <a:cs typeface="IBM Plex Sans" pitchFamily="34" charset="-120"/>
              </a:rPr>
              <a:t> i </a:t>
            </a:r>
            <a:r>
              <a:rPr lang="en-US" sz="1300" i="1" dirty="0">
                <a:solidFill>
                  <a:srgbClr val="15202B"/>
                </a:solidFill>
                <a:latin typeface="IBM Plex Sans" pitchFamily="34" charset="0"/>
                <a:ea typeface="IBM Plex Sans" pitchFamily="34" charset="-122"/>
                <a:cs typeface="IBM Plex Sans" pitchFamily="34" charset="-120"/>
              </a:rPr>
              <a:t>WebSocket API</a:t>
            </a:r>
            <a:r>
              <a:rPr lang="en-US" sz="1300" dirty="0">
                <a:solidFill>
                  <a:srgbClr val="15202B"/>
                </a:solidFill>
                <a:latin typeface="IBM Plex Sans" pitchFamily="34" charset="0"/>
                <a:ea typeface="IBM Plex Sans" pitchFamily="34" charset="-122"/>
                <a:cs typeface="IBM Plex Sans" pitchFamily="34" charset="-120"/>
              </a:rPr>
              <a:t>.</a:t>
            </a:r>
            <a:endParaRPr lang="en-US" sz="1300" dirty="0"/>
          </a:p>
        </p:txBody>
      </p:sp>
      <p:sp>
        <p:nvSpPr>
          <p:cNvPr id="8" name="Text 6"/>
          <p:cNvSpPr/>
          <p:nvPr/>
        </p:nvSpPr>
        <p:spPr>
          <a:xfrm>
            <a:off x="6200775" y="2151261"/>
            <a:ext cx="5175250" cy="747911"/>
          </a:xfrm>
          <a:prstGeom prst="roundRect">
            <a:avLst>
              <a:gd name="adj" fmla="val 9764"/>
            </a:avLst>
          </a:prstGeom>
          <a:solidFill>
            <a:srgbClr val="ECEEE9"/>
          </a:solidFill>
          <a:ln w="6350">
            <a:solidFill>
              <a:srgbClr val="D7DBD4"/>
            </a:solidFill>
            <a:prstDash val="solid"/>
          </a:ln>
        </p:spPr>
        <p:txBody>
          <a:bodyPr wrap="square" lIns="172287" tIns="121487" rIns="28650" bIns="96087" rtlCol="0" anchor="t">
            <a:normAutofit/>
          </a:bodyPr>
          <a:lstStyle/>
          <a:p>
            <a:pPr algn="l" indent="0" marL="0">
              <a:lnSpc>
                <a:spcPts val="1820"/>
              </a:lnSpc>
              <a:buNone/>
            </a:pPr>
            <a:r>
              <a:rPr lang="en-US" sz="1300" b="1" dirty="0">
                <a:solidFill>
                  <a:srgbClr val="15202B"/>
                </a:solidFill>
                <a:latin typeface="IBM Plex Sans" pitchFamily="34" charset="0"/>
                <a:ea typeface="IBM Plex Sans" pitchFamily="34" charset="-122"/>
                <a:cs typeface="IBM Plex Sans" pitchFamily="34" charset="-120"/>
              </a:rPr>
              <a:t>Chrome Developers</a:t>
            </a:r>
            <a:r>
              <a:rPr lang="en-US" sz="1300" dirty="0">
                <a:solidFill>
                  <a:srgbClr val="15202B"/>
                </a:solidFill>
                <a:latin typeface="IBM Plex Sans" pitchFamily="34" charset="0"/>
                <a:ea typeface="IBM Plex Sans" pitchFamily="34" charset="-122"/>
                <a:cs typeface="IBM Plex Sans" pitchFamily="34" charset="-120"/>
              </a:rPr>
              <a:t> — </a:t>
            </a:r>
            <a:r>
              <a:rPr lang="en-US" sz="1300" i="1" dirty="0">
                <a:solidFill>
                  <a:srgbClr val="15202B"/>
                </a:solidFill>
                <a:latin typeface="IBM Plex Sans" pitchFamily="34" charset="0"/>
                <a:ea typeface="IBM Plex Sans" pitchFamily="34" charset="-122"/>
                <a:cs typeface="IBM Plex Sans" pitchFamily="34" charset="-120"/>
              </a:rPr>
              <a:t>Removing HTTP/2 Server Push from Chrome</a:t>
            </a:r>
            <a:r>
              <a:rPr lang="en-US" sz="1300" dirty="0">
                <a:solidFill>
                  <a:srgbClr val="15202B"/>
                </a:solidFill>
                <a:latin typeface="IBM Plex Sans" pitchFamily="34" charset="0"/>
                <a:ea typeface="IBM Plex Sans" pitchFamily="34" charset="-122"/>
                <a:cs typeface="IBM Plex Sans" pitchFamily="34" charset="-120"/>
              </a:rPr>
              <a:t>, 2022.</a:t>
            </a:r>
            <a:endParaRPr lang="en-US" sz="1300" dirty="0"/>
          </a:p>
        </p:txBody>
      </p:sp>
      <p:sp>
        <p:nvSpPr>
          <p:cNvPr id="9" name="Text 7"/>
          <p:cNvSpPr/>
          <p:nvPr/>
        </p:nvSpPr>
        <p:spPr>
          <a:xfrm>
            <a:off x="6200775" y="3007122"/>
            <a:ext cx="5175250" cy="516830"/>
          </a:xfrm>
          <a:prstGeom prst="roundRect">
            <a:avLst>
              <a:gd name="adj" fmla="val 14129"/>
            </a:avLst>
          </a:prstGeom>
          <a:solidFill>
            <a:srgbClr val="ECEEE9"/>
          </a:solidFill>
          <a:ln w="6350">
            <a:solidFill>
              <a:srgbClr val="D7DBD4"/>
            </a:solidFill>
            <a:prstDash val="solid"/>
          </a:ln>
        </p:spPr>
        <p:txBody>
          <a:bodyPr wrap="square" lIns="172287" tIns="121487" rIns="28650" bIns="96087" rtlCol="0" anchor="t">
            <a:normAutofit/>
          </a:bodyPr>
          <a:lstStyle/>
          <a:p>
            <a:pPr algn="l" indent="0" marL="0">
              <a:lnSpc>
                <a:spcPts val="1820"/>
              </a:lnSpc>
              <a:buNone/>
            </a:pPr>
            <a:r>
              <a:rPr lang="en-US" sz="1300" b="1" dirty="0">
                <a:solidFill>
                  <a:srgbClr val="15202B"/>
                </a:solidFill>
                <a:latin typeface="IBM Plex Sans" pitchFamily="34" charset="0"/>
                <a:ea typeface="IBM Plex Sans" pitchFamily="34" charset="-122"/>
                <a:cs typeface="IBM Plex Sans" pitchFamily="34" charset="-120"/>
              </a:rPr>
              <a:t>OWASP</a:t>
            </a:r>
            <a:r>
              <a:rPr lang="en-US" sz="1300" dirty="0">
                <a:solidFill>
                  <a:srgbClr val="15202B"/>
                </a:solidFill>
                <a:latin typeface="IBM Plex Sans" pitchFamily="34" charset="0"/>
                <a:ea typeface="IBM Plex Sans" pitchFamily="34" charset="-122"/>
                <a:cs typeface="IBM Plex Sans" pitchFamily="34" charset="-120"/>
              </a:rPr>
              <a:t> — </a:t>
            </a:r>
            <a:r>
              <a:rPr lang="en-US" sz="1300" i="1" dirty="0">
                <a:solidFill>
                  <a:srgbClr val="15202B"/>
                </a:solidFill>
                <a:latin typeface="IBM Plex Sans" pitchFamily="34" charset="0"/>
                <a:ea typeface="IBM Plex Sans" pitchFamily="34" charset="-122"/>
                <a:cs typeface="IBM Plex Sans" pitchFamily="34" charset="-120"/>
              </a:rPr>
              <a:t>Testing WebSockets</a:t>
            </a:r>
            <a:r>
              <a:rPr lang="en-US" sz="1300" dirty="0">
                <a:solidFill>
                  <a:srgbClr val="15202B"/>
                </a:solidFill>
                <a:latin typeface="IBM Plex Sans" pitchFamily="34" charset="0"/>
                <a:ea typeface="IBM Plex Sans" pitchFamily="34" charset="-122"/>
                <a:cs typeface="IBM Plex Sans" pitchFamily="34" charset="-120"/>
              </a:rPr>
              <a:t> i </a:t>
            </a:r>
            <a:r>
              <a:rPr lang="en-US" sz="1300" i="1" dirty="0">
                <a:solidFill>
                  <a:srgbClr val="15202B"/>
                </a:solidFill>
                <a:latin typeface="IBM Plex Sans" pitchFamily="34" charset="0"/>
                <a:ea typeface="IBM Plex Sans" pitchFamily="34" charset="-122"/>
                <a:cs typeface="IBM Plex Sans" pitchFamily="34" charset="-120"/>
              </a:rPr>
              <a:t>Cross-Site WebSocket Hijacking</a:t>
            </a:r>
            <a:r>
              <a:rPr lang="en-US" sz="1300" dirty="0">
                <a:solidFill>
                  <a:srgbClr val="15202B"/>
                </a:solidFill>
                <a:latin typeface="IBM Plex Sans" pitchFamily="34" charset="0"/>
                <a:ea typeface="IBM Plex Sans" pitchFamily="34" charset="-122"/>
                <a:cs typeface="IBM Plex Sans" pitchFamily="34" charset="-120"/>
              </a:rPr>
              <a:t>.</a:t>
            </a:r>
            <a:endParaRPr lang="en-US" sz="1300" dirty="0"/>
          </a:p>
        </p:txBody>
      </p:sp>
      <p:sp>
        <p:nvSpPr>
          <p:cNvPr id="10" name="Text 8"/>
          <p:cNvSpPr/>
          <p:nvPr/>
        </p:nvSpPr>
        <p:spPr>
          <a:xfrm>
            <a:off x="6200775" y="3631902"/>
            <a:ext cx="5175250" cy="516830"/>
          </a:xfrm>
          <a:prstGeom prst="roundRect">
            <a:avLst>
              <a:gd name="adj" fmla="val 14129"/>
            </a:avLst>
          </a:prstGeom>
          <a:solidFill>
            <a:srgbClr val="ECEEE9"/>
          </a:solidFill>
          <a:ln w="6350">
            <a:solidFill>
              <a:srgbClr val="D7DBD4"/>
            </a:solidFill>
            <a:prstDash val="solid"/>
          </a:ln>
        </p:spPr>
        <p:txBody>
          <a:bodyPr wrap="square" lIns="172287" tIns="121487" rIns="28650" bIns="96087" rtlCol="0" anchor="t">
            <a:normAutofit/>
          </a:bodyPr>
          <a:lstStyle/>
          <a:p>
            <a:pPr algn="l" indent="0" marL="0">
              <a:lnSpc>
                <a:spcPts val="1820"/>
              </a:lnSpc>
              <a:buNone/>
            </a:pPr>
            <a:r>
              <a:rPr lang="en-US" sz="1300" b="1" dirty="0">
                <a:solidFill>
                  <a:srgbClr val="15202B"/>
                </a:solidFill>
                <a:latin typeface="IBM Plex Sans" pitchFamily="34" charset="0"/>
                <a:ea typeface="IBM Plex Sans" pitchFamily="34" charset="-122"/>
                <a:cs typeface="IBM Plex Sans" pitchFamily="34" charset="-120"/>
              </a:rPr>
              <a:t>ASW</a:t>
            </a:r>
            <a:r>
              <a:rPr lang="en-US" sz="1300" dirty="0">
                <a:solidFill>
                  <a:srgbClr val="15202B"/>
                </a:solidFill>
                <a:latin typeface="IBM Plex Sans" pitchFamily="34" charset="0"/>
                <a:ea typeface="IBM Plex Sans" pitchFamily="34" charset="-122"/>
                <a:cs typeface="IBM Plex Sans" pitchFamily="34" charset="-120"/>
              </a:rPr>
              <a:t> — tema 2 (HTTP, dia. 26) i tema 3 (arquitectures, dia. 19).</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621"/>
          </a:xfrm>
          <a:prstGeom prst="rect">
            <a:avLst/>
          </a:prstGeom>
          <a:noFill/>
          <a:ln/>
        </p:spPr>
        <p:txBody>
          <a:bodyPr wrap="square" lIns="0" tIns="0" rIns="0" bIns="0" rtlCol="0" anchor="t">
            <a:normAutofit/>
          </a:bodyPr>
          <a:lstStyle/>
          <a:p>
            <a:pPr algn="l" indent="0" marL="0">
              <a:lnSpc>
                <a:spcPts val="3724"/>
              </a:lnSpc>
              <a:buNone/>
            </a:pPr>
            <a:r>
              <a:rPr lang="en-US" sz="3238" b="1" i="0" dirty="0">
                <a:solidFill>
                  <a:srgbClr val="15202B"/>
                </a:solidFill>
                <a:latin typeface="IBM Plex Sans" pitchFamily="34" charset="0"/>
                <a:ea typeface="IBM Plex Sans" pitchFamily="34" charset="-122"/>
                <a:cs typeface="IBM Plex Sans" pitchFamily="34" charset="-120"/>
              </a:rPr>
              <a:t>Distribució de tasques</a:t>
            </a:r>
            <a:endParaRPr lang="en-US" sz="3238" dirty="0"/>
          </a:p>
        </p:txBody>
      </p:sp>
      <p:sp>
        <p:nvSpPr>
          <p:cNvPr id="3" name="Shape 1"/>
          <p:cNvSpPr/>
          <p:nvPr/>
        </p:nvSpPr>
        <p:spPr>
          <a:xfrm>
            <a:off x="11376025" y="1534021"/>
            <a:ext cx="0" cy="3554016"/>
          </a:xfrm>
          <a:prstGeom prst="line">
            <a:avLst/>
          </a:prstGeom>
          <a:noFill/>
          <a:ln w="6350">
            <a:solidFill>
              <a:srgbClr val="D7DBD4"/>
            </a:solidFill>
            <a:prstDash val="solid"/>
          </a:ln>
        </p:spPr>
      </p:sp>
      <p:sp>
        <p:nvSpPr>
          <p:cNvPr id="4" name="Shape 2"/>
          <p:cNvSpPr/>
          <p:nvPr/>
        </p:nvSpPr>
        <p:spPr>
          <a:xfrm>
            <a:off x="812800" y="5084862"/>
            <a:ext cx="10566400" cy="0"/>
          </a:xfrm>
          <a:prstGeom prst="line">
            <a:avLst/>
          </a:prstGeom>
          <a:noFill/>
          <a:ln w="6350">
            <a:solidFill>
              <a:srgbClr val="D7DBD4"/>
            </a:solidFill>
            <a:prstDash val="solid"/>
          </a:ln>
        </p:spPr>
      </p:sp>
      <p:sp>
        <p:nvSpPr>
          <p:cNvPr id="5" name="Shape 3"/>
          <p:cNvSpPr/>
          <p:nvPr/>
        </p:nvSpPr>
        <p:spPr>
          <a:xfrm>
            <a:off x="812800" y="1540371"/>
            <a:ext cx="10566400" cy="0"/>
          </a:xfrm>
          <a:prstGeom prst="line">
            <a:avLst/>
          </a:prstGeom>
          <a:noFill/>
          <a:ln w="12700">
            <a:solidFill>
              <a:srgbClr val="141413">
                <a:alpha val="22000"/>
              </a:srgbClr>
            </a:solidFill>
            <a:prstDash val="solid"/>
          </a:ln>
        </p:spPr>
      </p:sp>
      <p:sp>
        <p:nvSpPr>
          <p:cNvPr id="6" name="Shape 4"/>
          <p:cNvSpPr/>
          <p:nvPr/>
        </p:nvSpPr>
        <p:spPr>
          <a:xfrm>
            <a:off x="819150" y="1534021"/>
            <a:ext cx="0" cy="3554016"/>
          </a:xfrm>
          <a:prstGeom prst="line">
            <a:avLst/>
          </a:prstGeom>
          <a:noFill/>
          <a:ln w="12700">
            <a:solidFill>
              <a:srgbClr val="141413">
                <a:alpha val="22000"/>
              </a:srgbClr>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65200" y="1648321"/>
          <a:ext cx="10267950" cy="3331766"/>
        </p:xfrm>
        <a:graphic>
          <a:graphicData uri="http://schemas.openxmlformats.org/drawingml/2006/table">
            <a:tbl>
              <a:tblPr/>
              <a:tblGrid>
                <a:gridCol w="2258949"/>
                <a:gridCol w="4415219"/>
                <a:gridCol w="3593782"/>
              </a:tblGrid>
              <a:tr h="361553">
                <a:tc>
                  <a:txBody>
                    <a:bodyPr/>
                    <a:lstStyle/>
                    <a:p>
                      <a:pPr indent="0" marL="0">
                        <a:lnSpc>
                          <a:spcPts val="1831"/>
                        </a:lnSpc>
                        <a:buNone/>
                      </a:pPr>
                      <a:r>
                        <a:rPr lang="en-US" sz="1308" b="1" dirty="0">
                          <a:solidFill>
                            <a:srgbClr val="15202B"/>
                          </a:solidFill>
                          <a:latin typeface="IBM Plex Sans" pitchFamily="34" charset="0"/>
                          <a:ea typeface="IBM Plex Sans" pitchFamily="34" charset="-122"/>
                          <a:cs typeface="IBM Plex Sans" pitchFamily="34" charset="-120"/>
                        </a:rPr>
                        <a:t>Membre</a:t>
                      </a:r>
                      <a:endParaRPr lang="en-US" sz="1308" dirty="0">
                        <a:latin typeface="IBM Plex Sans" charset="0"/>
                        <a:ea typeface="IBM Plex Sans" charset="0"/>
                        <a:cs typeface="IBM Plex Sans" charset="0"/>
                      </a:endParaRPr>
                    </a:p>
                  </a:txBody>
                  <a:tcPr marL="58132" marR="58132" marT="58132" marB="58132" anchor="t">
                    <a:lnL w="0" cap="flat" cmpd="sng" algn="ctr">
                      <a:noFill/>
                    </a:lnL>
                    <a:lnR w="12700" cap="flat" cmpd="sng" algn="ctr">
                      <a:solidFill>
                        <a:srgbClr val="BCBEBA"/>
                      </a:solidFill>
                      <a:prstDash val="solid"/>
                      <a:round/>
                      <a:headEnd type="none" w="med" len="med"/>
                      <a:tailEnd type="none" w="med" len="med"/>
                    </a:lnR>
                    <a:lnT w="0" cap="flat" cmpd="sng" algn="ctr">
                      <a:noFill/>
                    </a:lnT>
                    <a:lnB w="12700" cap="flat" cmpd="sng" algn="ctr">
                      <a:solidFill>
                        <a:srgbClr val="BCBEBA"/>
                      </a:solidFill>
                      <a:prstDash val="solid"/>
                      <a:round/>
                      <a:headEnd type="none" w="med" len="med"/>
                      <a:tailEnd type="none" w="med" len="med"/>
                    </a:lnB>
                    <a:solidFill>
                      <a:srgbClr val="ECEEE9"/>
                    </a:solidFill>
                  </a:tcPr>
                </a:tc>
                <a:tc>
                  <a:txBody>
                    <a:bodyPr/>
                    <a:lstStyle/>
                    <a:p>
                      <a:pPr indent="0" marL="0">
                        <a:lnSpc>
                          <a:spcPts val="1831"/>
                        </a:lnSpc>
                        <a:buNone/>
                      </a:pPr>
                      <a:r>
                        <a:rPr lang="en-US" sz="1308" b="1" dirty="0">
                          <a:solidFill>
                            <a:srgbClr val="15202B"/>
                          </a:solidFill>
                          <a:latin typeface="IBM Plex Sans" pitchFamily="34" charset="0"/>
                          <a:ea typeface="IBM Plex Sans" pitchFamily="34" charset="-122"/>
                          <a:cs typeface="IBM Plex Sans" pitchFamily="34" charset="-120"/>
                        </a:rPr>
                        <a:t>Preparació</a:t>
                      </a:r>
                      <a:endParaRPr lang="en-US" sz="1308" dirty="0">
                        <a:latin typeface="IBM Plex Sans" charset="0"/>
                        <a:ea typeface="IBM Plex Sans" charset="0"/>
                        <a:cs typeface="IBM Plex Sans" charset="0"/>
                      </a:endParaRPr>
                    </a:p>
                  </a:txBody>
                  <a:tcPr marL="58132" marR="58132" marT="58132" marB="58132" anchor="t">
                    <a:lnL w="12700" cap="flat" cmpd="sng" algn="ctr">
                      <a:solidFill>
                        <a:srgbClr val="BCBEBA"/>
                      </a:solidFill>
                      <a:prstDash val="solid"/>
                      <a:round/>
                      <a:headEnd type="none" w="med" len="med"/>
                      <a:tailEnd type="none" w="med" len="med"/>
                    </a:lnL>
                    <a:lnR w="12700" cap="flat" cmpd="sng" algn="ctr">
                      <a:solidFill>
                        <a:srgbClr val="BCBEBA"/>
                      </a:solidFill>
                      <a:prstDash val="solid"/>
                      <a:round/>
                      <a:headEnd type="none" w="med" len="med"/>
                      <a:tailEnd type="none" w="med" len="med"/>
                    </a:lnR>
                    <a:lnT w="0" cap="flat" cmpd="sng" algn="ctr">
                      <a:noFill/>
                    </a:lnT>
                    <a:lnB w="12700" cap="flat" cmpd="sng" algn="ctr">
                      <a:solidFill>
                        <a:srgbClr val="BCBEBA"/>
                      </a:solidFill>
                      <a:prstDash val="solid"/>
                      <a:round/>
                      <a:headEnd type="none" w="med" len="med"/>
                      <a:tailEnd type="none" w="med" len="med"/>
                    </a:lnB>
                    <a:solidFill>
                      <a:srgbClr val="ECEEE9"/>
                    </a:solidFill>
                  </a:tcPr>
                </a:tc>
                <a:tc>
                  <a:txBody>
                    <a:bodyPr/>
                    <a:lstStyle/>
                    <a:p>
                      <a:pPr indent="0" marL="0">
                        <a:lnSpc>
                          <a:spcPts val="1831"/>
                        </a:lnSpc>
                        <a:buNone/>
                      </a:pPr>
                      <a:r>
                        <a:rPr lang="en-US" sz="1308" b="1" dirty="0">
                          <a:solidFill>
                            <a:srgbClr val="15202B"/>
                          </a:solidFill>
                          <a:latin typeface="IBM Plex Sans" pitchFamily="34" charset="0"/>
                          <a:ea typeface="IBM Plex Sans" pitchFamily="34" charset="-122"/>
                          <a:cs typeface="IBM Plex Sans" pitchFamily="34" charset="-120"/>
                        </a:rPr>
                        <a:t>Exposició</a:t>
                      </a:r>
                      <a:endParaRPr lang="en-US" sz="1308" dirty="0">
                        <a:latin typeface="IBM Plex Sans" charset="0"/>
                        <a:ea typeface="IBM Plex Sans" charset="0"/>
                        <a:cs typeface="IBM Plex Sans" charset="0"/>
                      </a:endParaRPr>
                    </a:p>
                  </a:txBody>
                  <a:tcPr marL="58132" marR="58132" marT="58132" marB="58132" anchor="t">
                    <a:lnL w="12700" cap="flat" cmpd="sng" algn="ctr">
                      <a:solidFill>
                        <a:srgbClr val="BCBEBA"/>
                      </a:solidFill>
                      <a:prstDash val="solid"/>
                      <a:round/>
                      <a:headEnd type="none" w="med" len="med"/>
                      <a:tailEnd type="none" w="med" len="med"/>
                    </a:lnL>
                    <a:lnR w="12700" cap="flat" cmpd="sng" algn="ctr">
                      <a:solidFill>
                        <a:srgbClr val="BCBEBA"/>
                      </a:solidFill>
                      <a:prstDash val="solid"/>
                      <a:round/>
                      <a:headEnd type="none" w="med" len="med"/>
                      <a:tailEnd type="none" w="med" len="med"/>
                    </a:lnR>
                    <a:lnT w="0" cap="flat" cmpd="sng" algn="ctr">
                      <a:noFill/>
                    </a:lnT>
                    <a:lnB w="12700" cap="flat" cmpd="sng" algn="ctr">
                      <a:solidFill>
                        <a:srgbClr val="BCBEBA"/>
                      </a:solidFill>
                      <a:prstDash val="solid"/>
                      <a:round/>
                      <a:headEnd type="none" w="med" len="med"/>
                      <a:tailEnd type="none" w="med" len="med"/>
                    </a:lnB>
                    <a:solidFill>
                      <a:srgbClr val="ECEEE9"/>
                    </a:solidFill>
                  </a:tcPr>
                </a:tc>
              </a:tr>
              <a:tr h="594023">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[Nom 1]</a:t>
                      </a:r>
                      <a:endParaRPr lang="en-US" sz="1308" dirty="0">
                        <a:latin typeface="IBM Plex Sans" charset="0"/>
                        <a:ea typeface="IBM Plex Sans" charset="0"/>
                        <a:cs typeface="IBM Plex Sans" charset="0"/>
                      </a:endParaRPr>
                    </a:p>
                  </a:txBody>
                  <a:tcPr marL="58132" marR="58132" marT="58132" marB="58132"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BCBEBA"/>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Recerca d'evolució històrica i fonts; muntatge de les transparències</a:t>
                      </a:r>
                      <a:endParaRPr lang="en-US" sz="1308" dirty="0">
                        <a:latin typeface="IBM Plex Sans" charset="0"/>
                        <a:ea typeface="IBM Plex Sans" charset="0"/>
                        <a:cs typeface="IBM Plex Sans" charset="0"/>
                      </a:endParaRPr>
                    </a:p>
                  </a:txBody>
                  <a:tcPr marL="58132" marR="58132" marT="58132" marB="5813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BCBEBA"/>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Introducció i evolució</a:t>
                      </a:r>
                      <a:endParaRPr lang="en-US" sz="1308" dirty="0">
                        <a:latin typeface="IBM Plex Sans" charset="0"/>
                        <a:ea typeface="IBM Plex Sans" charset="0"/>
                        <a:cs typeface="IBM Plex Sans" charset="0"/>
                      </a:endParaRPr>
                    </a:p>
                  </a:txBody>
                  <a:tcPr marL="58132" marR="58132" marT="58132" marB="5813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BCBEBA"/>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594023">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[Nom 2]</a:t>
                      </a:r>
                      <a:endParaRPr lang="en-US" sz="1308" dirty="0">
                        <a:latin typeface="IBM Plex Sans" charset="0"/>
                        <a:ea typeface="IBM Plex Sans" charset="0"/>
                        <a:cs typeface="IBM Plex Sans" charset="0"/>
                      </a:endParaRPr>
                    </a:p>
                  </a:txBody>
                  <a:tcPr marL="58132" marR="58132" marT="58132" marB="58132"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Estudi de l'especificació d'SSE i proves del format i la reconnexió</a:t>
                      </a:r>
                      <a:endParaRPr lang="en-US" sz="1308" dirty="0">
                        <a:latin typeface="IBM Plex Sans" charset="0"/>
                        <a:ea typeface="IBM Plex Sans" charset="0"/>
                        <a:cs typeface="IBM Plex Sans" charset="0"/>
                      </a:endParaRPr>
                    </a:p>
                  </a:txBody>
                  <a:tcPr marL="58132" marR="58132" marT="58132" marB="5813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Server-Sent Events</a:t>
                      </a:r>
                      <a:endParaRPr lang="en-US" sz="1308" dirty="0">
                        <a:latin typeface="IBM Plex Sans" charset="0"/>
                        <a:ea typeface="IBM Plex Sans" charset="0"/>
                        <a:cs typeface="IBM Plex Sans" charset="0"/>
                      </a:endParaRPr>
                    </a:p>
                  </a:txBody>
                  <a:tcPr marL="58132" marR="58132" marT="58132" marB="5813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594023">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[Nom 3]</a:t>
                      </a:r>
                      <a:endParaRPr lang="en-US" sz="1308" dirty="0">
                        <a:latin typeface="IBM Plex Sans" charset="0"/>
                        <a:ea typeface="IBM Plex Sans" charset="0"/>
                        <a:cs typeface="IBM Plex Sans" charset="0"/>
                      </a:endParaRPr>
                    </a:p>
                  </a:txBody>
                  <a:tcPr marL="58132" marR="58132" marT="58132" marB="58132"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Estudi del RFC 6455; exemples de codi i captures del handshake</a:t>
                      </a:r>
                      <a:endParaRPr lang="en-US" sz="1308" dirty="0">
                        <a:latin typeface="IBM Plex Sans" charset="0"/>
                        <a:ea typeface="IBM Plex Sans" charset="0"/>
                        <a:cs typeface="IBM Plex Sans" charset="0"/>
                      </a:endParaRPr>
                    </a:p>
                  </a:txBody>
                  <a:tcPr marL="58132" marR="58132" marT="58132" marB="5813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WebSockets i comparativa</a:t>
                      </a:r>
                      <a:endParaRPr lang="en-US" sz="1308" dirty="0">
                        <a:latin typeface="IBM Plex Sans" charset="0"/>
                        <a:ea typeface="IBM Plex Sans" charset="0"/>
                        <a:cs typeface="IBM Plex Sans" charset="0"/>
                      </a:endParaRPr>
                    </a:p>
                  </a:txBody>
                  <a:tcPr marL="58132" marR="58132" marT="58132" marB="5813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594023">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[Nom 4]</a:t>
                      </a:r>
                      <a:endParaRPr lang="en-US" sz="1308" dirty="0">
                        <a:latin typeface="IBM Plex Sans" charset="0"/>
                        <a:ea typeface="IBM Plex Sans" charset="0"/>
                        <a:cs typeface="IBM Plex Sans" charset="0"/>
                      </a:endParaRPr>
                    </a:p>
                  </a:txBody>
                  <a:tcPr marL="58132" marR="58132" marT="58132" marB="58132"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Anàlisi de punts forts i febles; recerca de seguretat (CSWSH) i d'arquitectura</a:t>
                      </a:r>
                      <a:endParaRPr lang="en-US" sz="1308" dirty="0">
                        <a:latin typeface="IBM Plex Sans" charset="0"/>
                        <a:ea typeface="IBM Plex Sans" charset="0"/>
                        <a:cs typeface="IBM Plex Sans" charset="0"/>
                      </a:endParaRPr>
                    </a:p>
                  </a:txBody>
                  <a:tcPr marL="58132" marR="58132" marT="58132" marB="5813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Valoració i arquitectura</a:t>
                      </a:r>
                      <a:endParaRPr lang="en-US" sz="1308" dirty="0">
                        <a:latin typeface="IBM Plex Sans" charset="0"/>
                        <a:ea typeface="IBM Plex Sans" charset="0"/>
                        <a:cs typeface="IBM Plex Sans" charset="0"/>
                      </a:endParaRPr>
                    </a:p>
                  </a:txBody>
                  <a:tcPr marL="58132" marR="58132" marT="58132" marB="5813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594122">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[Nom 5]</a:t>
                      </a:r>
                      <a:endParaRPr lang="en-US" sz="1308" dirty="0">
                        <a:latin typeface="IBM Plex Sans" charset="0"/>
                        <a:ea typeface="IBM Plex Sans" charset="0"/>
                        <a:cs typeface="IBM Plex Sans" charset="0"/>
                      </a:endParaRPr>
                    </a:p>
                  </a:txBody>
                  <a:tcPr marL="58132" marR="58132" marT="58132" marB="58132"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Casos d'ús reals, conclusions i revisió final de la presentació</a:t>
                      </a:r>
                      <a:endParaRPr lang="en-US" sz="1308" dirty="0">
                        <a:latin typeface="IBM Plex Sans" charset="0"/>
                        <a:ea typeface="IBM Plex Sans" charset="0"/>
                        <a:cs typeface="IBM Plex Sans" charset="0"/>
                      </a:endParaRPr>
                    </a:p>
                  </a:txBody>
                  <a:tcPr marL="58132" marR="58132" marT="58132" marB="5813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1831"/>
                        </a:lnSpc>
                        <a:buNone/>
                      </a:pPr>
                      <a:r>
                        <a:rPr lang="en-US" sz="1308" dirty="0">
                          <a:solidFill>
                            <a:srgbClr val="15202B"/>
                          </a:solidFill>
                          <a:latin typeface="IBM Plex Sans" pitchFamily="34" charset="0"/>
                          <a:ea typeface="IBM Plex Sans" pitchFamily="34" charset="-122"/>
                          <a:cs typeface="IBM Plex Sans" pitchFamily="34" charset="-120"/>
                        </a:rPr>
                        <a:t>Criteri i conclusions</a:t>
                      </a:r>
                      <a:endParaRPr lang="en-US" sz="1308" dirty="0">
                        <a:latin typeface="IBM Plex Sans" charset="0"/>
                        <a:ea typeface="IBM Plex Sans" charset="0"/>
                        <a:cs typeface="IBM Plex Sans" charset="0"/>
                      </a:endParaRPr>
                    </a:p>
                  </a:txBody>
                  <a:tcPr marL="58132" marR="58132" marT="58132" marB="58132"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bl>
          </a:graphicData>
        </a:graphic>
      </p:graphicFrame>
      <p:sp>
        <p:nvSpPr>
          <p:cNvPr id="8" name="Text 5"/>
          <p:cNvSpPr/>
          <p:nvPr/>
        </p:nvSpPr>
        <p:spPr>
          <a:xfrm>
            <a:off x="812800" y="5342037"/>
            <a:ext cx="10464800" cy="525363"/>
          </a:xfrm>
          <a:prstGeom prst="rect">
            <a:avLst/>
          </a:prstGeom>
          <a:noFill/>
          <a:ln/>
        </p:spPr>
        <p:txBody>
          <a:bodyPr wrap="square" lIns="0" tIns="0" rIns="0" bIns="0" rtlCol="0" anchor="t">
            <a:normAutofit/>
          </a:bodyPr>
          <a:lstStyle/>
          <a:p>
            <a:pPr algn="l" indent="0" marL="0">
              <a:lnSpc>
                <a:spcPts val="1986"/>
              </a:lnSpc>
              <a:buNone/>
            </a:pPr>
            <a:r>
              <a:rPr lang="en-US" sz="1369" dirty="0">
                <a:solidFill>
                  <a:srgbClr val="4A5568"/>
                </a:solidFill>
                <a:latin typeface="IBM Plex Sans" pitchFamily="34" charset="0"/>
                <a:ea typeface="IBM Plex Sans" pitchFamily="34" charset="-122"/>
                <a:cs typeface="IBM Plex Sans" pitchFamily="34" charset="-120"/>
              </a:rPr>
              <a:t>La recerca de fons i la revisió de les transparències s'han fet conjuntament; cada membre ha preparat el guió de la seva part i l'ha assajat amb la resta de l'equip.</a:t>
            </a:r>
            <a:endParaRPr lang="en-US" sz="1369" dirty="0"/>
          </a:p>
        </p:txBody>
      </p:sp>
      <p:sp>
        <p:nvSpPr>
          <p:cNvPr id="9" name="Text 6"/>
          <p:cNvSpPr/>
          <p:nvPr/>
        </p:nvSpPr>
        <p:spPr>
          <a:xfrm>
            <a:off x="812800" y="6238280"/>
            <a:ext cx="16297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Gràcies. Preguntes?</a:t>
            </a:r>
            <a:endParaRPr lang="en-US" sz="1200" dirty="0"/>
          </a:p>
        </p:txBody>
      </p:sp>
    </p:spTree>
  </p:cSld>
  <p:clrMapOvr>
    <a:masterClrMapping/>
  </p:clrMapOvr>
</p:sld>
</file>

<file path=ppt/theme/theme1.xml><?xml version="1.0" encoding="utf-8"?>
<a:theme xmlns:a="http://schemas.openxmlformats.org/drawingml/2006/main" name="WebSockets i Server-Sent Events">
  <a:themeElements>
    <a:clrScheme name="WebSockets i Server-Sent Events">
      <a:dk1>
        <a:srgbClr val="15202B"/>
      </a:dk1>
      <a:lt1>
        <a:srgbClr val="F7F8F6"/>
      </a:lt1>
      <a:dk2>
        <a:srgbClr val="4E565E"/>
      </a:dk2>
      <a:lt2>
        <a:srgbClr val="E0E2E2"/>
      </a:lt2>
      <a:accent1>
        <a:srgbClr val="B45309"/>
      </a:accent1>
      <a:accent2>
        <a:srgbClr val="2563EB"/>
      </a:accent2>
      <a:accent3>
        <a:srgbClr val="F59E0B"/>
      </a:accent3>
      <a:accent4>
        <a:srgbClr val="60A5FA"/>
      </a:accent4>
      <a:accent5>
        <a:srgbClr val="4A5568"/>
      </a:accent5>
      <a:accent6>
        <a:srgbClr val="9FB0C0"/>
      </a:accent6>
      <a:hlink>
        <a:srgbClr val="0563C1"/>
      </a:hlink>
      <a:folHlink>
        <a:srgbClr val="954F72"/>
      </a:folHlink>
    </a:clrScheme>
    <a:fontScheme name="WebSockets i Server-Sent Events">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WebSockets i Server-Sent Events</dc:title>
  <dc:subject/>
  <dc:creator/>
  <cp:lastModifiedBy/>
  <cp:revision>1</cp:revision>
  <dcterms:created xsi:type="dcterms:W3CDTF">2026-10-13T05:42:47Z</dcterms:created>
  <dcterms:modified xsi:type="dcterms:W3CDTF">2026-10-13T05:42:47Z</dcterms:modified>
</cp:coreProperties>
</file>