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1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9497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Presentar-nos i dir d'entrada de què va: dels dos mecanismes estàndard que tenim avui perquè el servidor pugui enviar coses al navegador sense que aquest les demani. Avisar que acabarem amb una regla pràctica per triar-ne un.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 és el punt de partida i surt literalment a les transparències del tema 2. HTTP és petició-resposta: el client pregunta i el servidor contesta, mai al revés. La pregunta que obre la xerrada: llavors com fem un xat, un dashboard que s'actualitza sol, o una notificació? Deixar la pregunta a l'aire i passar.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això no és història antiga: encara ho trobareu a molt codi. El polling és el més senzill i el més malgastador. El long polling va ser el que va fer possible el Gmail Chat i tota l'onada "Comet" dels 2000. Però tots dos fan el mateix truc: el client demana i el servidor es fa el remolo fins que té alguna cosa. La transició cap a la resta: ara tenim eines de debò.</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 idea clau: no hi ha cap protocol nou. És una petició GET normal i corrent on el servidor, en comptes de respondre i tancar, deixa la resposta oberta i hi va escrivint. Per això passa per qualsevol proxy, qualsevol firewall i qualsevol infraestructura HTTP que ja tinguis. El codi del client són quatre línies.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Aquesta és la diapositiva on es veu que SSE és trivialment simple: el protocol sencer són quatre noms de camp i una línia en blanc com a separador. Si no poses event, al client arriba com a onmessage. Es pot generar a mà des de qualsevol llenguatge, no cal cap llibreria. Fer notar el camp id, que enllaça amb la diapositiva següent.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 és l'argument de venda més fort d'SSE i el que la gent no sap. Amb WebSockets la reconnexió te l'has d'escriure tu, amb el seu backoff, i és una font d'errors coneguda. Aquí ve de sèrie i a més amb represa: el servidor rep Last-Event-ID i et pot enviar el que t'has perdut. El parany de les 6 connexions és real: si obres un SSE a cada pestanya, a la setena pestanya el navegador es penja. Val la pena dir-ho perquè és el típic error que es descobreix en producció.</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detall que agrada explicar: WebSockets no obre res de nou. Aprofita una petició HTTP normal i demana un canvi de protocol sobre la mateixa connexió TCP. Per això funciona al port 443 i travessa la majoria de firewalls. El Sec-WebSocket-Key no és seguretat, és només una comprovació que l'altre extrem entén el protocol i no és un proxy despistat. Si algú pregunta: la resposta 101 es calcula fent SHA-1 de la clau amb una constant fixa del RFC.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 important i el que més es confon: WebSockets no és "HTTP bidireccional". Un cop fet el handshake, HTTP desapareix. No hi ha peticions ni respostes, no hi ha codis d'estat, no hi ha correlació entre el que envies i el que reps. Si vols saber quina resposta correspon a quina pregunta, t'ho has de muntar tu posant identificadors als missatges. Aquesta llibertat és la seva força i també el seu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Aquesta és LA diapositiva de la xerrada. Si només se'n recorden d'una, que sigui aquesta. No llegir-la sencera: assenyalar les tres files que de debò decideixen. Sentit, perquè si només necessites un sentit no cal pagar per dos. Reconnexió, perquè és feina que t'estalvies. I complexitat, que és la conseqüència de tot plegat. Les altres quatre són matisos.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frase del final és la que es recorda. Molta gent dóna per fet que tot el que és "en temps real" són WebSockets, i resulta que el cas d'ús més visible d'aquests anys, el streaming de tokens d'un model de llenguatge, va amb SSE. El motiu és exactament el de la columna de l'esquerra: un cop has enviat la pregunta, només parla el servidor. Si algú pregunta per què no WebSockets: perquè pagaries complexitat i reconnexió manual per un canal que no faràs servir.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Aquesta diapositiva és la que connecta la xerrada amb l'assignatura, i probablement la que més valorarà el professor. La idea forta: tota l'escalabilitat d'HTTP ve de ser sense estat, i aquí la trenquem a posta. Recordar el patró de servidors replicats del tema 3 i les dues opcions per mantenir l'estat de sessió. Amb una connexió oberta ni tan sols pots migrar: si cau el node, cau la connexió. Per això el client sempre ha de saber reconnectar, i per això SSE regala aquesta part.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 de dalt és el que sorprèn i val la pena explicar bé: la Same-Origin Policy protegeix les peticions XHR i fetch, però el handshake de WebSocket se n'escapa. Això vol dir que una pàgina maliciosa pot obrir una connexió al teu servidor amb les cookies de l'usuari, i si no mires l'Origin, l'acceptes. És l'equivalent del CSRF però per a WebSockets. Si queda temps, comentar que per això molts dissenys passen un token al primer missatge en comptes de confiar en la cookie.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Tancar amb les tres frases i no afegir-hi res més. La tercera és la que lliga amb l'assignatura: la part difícil no és obrir la connexió, és tot el que se'n deriva a l'arquitectura. Deixar temps per a preguntes.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llegir-les. Deixar la diapositiva mentre es responen preguntes.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27"/>
            <a:ext cx="10566400" cy="4401873"/>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27"/>
            <a:ext cx="10566400" cy="4401873"/>
          </a:xfrm>
          <a:prstGeom prst="rect">
            <a:avLst/>
          </a:prstGeom>
          <a:noFill/>
          <a:ln/>
        </p:spPr>
        <p:txBody>
          <a:bodyPr wrap="square" lIns="0" tIns="0" rIns="0" bIns="0" rtlCol="0" anchor="t"/>
          <a:lstStyle>
            <a:lvl1pPr marL="0" indent="0" algn="l">
              <a:lnSpc>
                <a:spcPct val="140000"/>
              </a:lnSpc>
              <a:buNone/>
              <a:defRPr lang="en-US" sz="1600" dirty="0">
                <a:solidFill>
                  <a:srgbClr val="1520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kern="0" spc="110" dirty="0">
                <a:solidFill>
                  <a:srgbClr val="F59E0B"/>
                </a:solidFill>
                <a:latin typeface="JetBrains Mono" pitchFamily="49" charset="0"/>
                <a:ea typeface="JetBrains Mono" pitchFamily="49" charset="-122"/>
                <a:cs typeface="JetBrains Mono" pitchFamily="49" charset="-120"/>
              </a:rPr>
              <a:t>ASW · PRESENTACIÓ 1</a:t>
            </a:r>
            <a:endParaRPr lang="en-US" sz="1400" dirty="0"/>
          </a:p>
        </p:txBody>
      </p:sp>
      <p:sp>
        <p:nvSpPr>
          <p:cNvPr id="3" name="Text 1"/>
          <p:cNvSpPr>
            <a:spLocks noGrp="1"/>
          </p:cNvSpPr>
          <p:nvPr>
            <p:ph type="title"/>
          </p:nvPr>
        </p:nvSpPr>
        <p:spPr>
          <a:xfrm>
            <a:off x="812800" y="3650126"/>
            <a:ext cx="10883392" cy="1572154"/>
          </a:xfrm>
          <a:prstGeom prst="rect">
            <a:avLst/>
          </a:prstGeom>
          <a:noFill/>
          <a:ln/>
        </p:spPr>
        <p:txBody>
          <a:bodyPr wrap="square" lIns="0" tIns="0" rIns="0" bIns="0" rtlCol="0" anchor="t">
            <a:normAutofit/>
          </a:bodyPr>
          <a:lstStyle/>
          <a:p>
            <a:pPr marL="0" indent="0" algn="l">
              <a:lnSpc>
                <a:spcPts val="6090"/>
              </a:lnSpc>
              <a:buNone/>
            </a:pPr>
            <a:r>
              <a:rPr lang="en-US" sz="5800" b="1" i="0" dirty="0">
                <a:solidFill>
                  <a:srgbClr val="F7F8F6"/>
                </a:solidFill>
                <a:latin typeface="IBM Plex Sans" pitchFamily="34" charset="0"/>
                <a:ea typeface="IBM Plex Sans" pitchFamily="34" charset="-122"/>
                <a:cs typeface="IBM Plex Sans" pitchFamily="34" charset="-120"/>
              </a:rPr>
              <a:t>WebSockets i</a:t>
            </a:r>
            <a:endParaRPr lang="en-US" sz="5800" dirty="0"/>
          </a:p>
          <a:p>
            <a:pPr marL="0" indent="0" algn="l">
              <a:lnSpc>
                <a:spcPts val="6090"/>
              </a:lnSpc>
              <a:buNone/>
            </a:pPr>
            <a:r>
              <a:rPr lang="en-US" sz="5800" b="1" i="0" dirty="0">
                <a:solidFill>
                  <a:srgbClr val="F7F8F6"/>
                </a:solidFill>
                <a:latin typeface="IBM Plex Sans" pitchFamily="34" charset="0"/>
                <a:ea typeface="IBM Plex Sans" pitchFamily="34" charset="-122"/>
                <a:cs typeface="IBM Plex Sans" pitchFamily="34" charset="-120"/>
              </a:rPr>
              <a:t>Server-Sent Events</a:t>
            </a:r>
            <a:endParaRPr lang="en-US" sz="5800" dirty="0"/>
          </a:p>
        </p:txBody>
      </p:sp>
      <p:sp>
        <p:nvSpPr>
          <p:cNvPr id="4" name="Text 2"/>
          <p:cNvSpPr/>
          <p:nvPr/>
        </p:nvSpPr>
        <p:spPr>
          <a:xfrm>
            <a:off x="812800" y="5450880"/>
            <a:ext cx="8502650"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9FB0C0"/>
                </a:solidFill>
                <a:latin typeface="IBM Plex Sans" pitchFamily="34" charset="0"/>
                <a:ea typeface="IBM Plex Sans" pitchFamily="34" charset="-122"/>
                <a:cs typeface="IBM Plex Sans" pitchFamily="34" charset="-120"/>
              </a:rPr>
              <a:t>Com aconseguim que el servidor parli primer</a:t>
            </a:r>
            <a:endParaRPr lang="en-US" sz="2200" dirty="0"/>
          </a:p>
        </p:txBody>
      </p:sp>
      <p:sp>
        <p:nvSpPr>
          <p:cNvPr id="5" name="Text 3"/>
          <p:cNvSpPr/>
          <p:nvPr/>
        </p:nvSpPr>
        <p:spPr>
          <a:xfrm>
            <a:off x="812800" y="6238280"/>
            <a:ext cx="9722678" cy="238720"/>
          </a:xfrm>
          <a:prstGeom prst="rect">
            <a:avLst/>
          </a:prstGeom>
          <a:noFill/>
          <a:ln/>
        </p:spPr>
        <p:txBody>
          <a:bodyPr wrap="square" lIns="0" tIns="0" rIns="0" bIns="0" rtlCol="0" anchor="t">
            <a:normAutofit/>
          </a:bodyPr>
          <a:lstStyle/>
          <a:p>
            <a:pPr>
              <a:lnSpc>
                <a:spcPts val="1680"/>
              </a:lnSpc>
            </a:pPr>
            <a:r>
              <a:rPr lang="en-US" sz="1200" dirty="0" smtClean="0">
                <a:solidFill>
                  <a:srgbClr val="9FB0C0"/>
                </a:solidFill>
                <a:latin typeface="IBM Plex Sans" pitchFamily="34" charset="0"/>
                <a:ea typeface="IBM Plex Sans" pitchFamily="34" charset="-122"/>
                <a:cs typeface="IBM Plex Sans" pitchFamily="34" charset="-120"/>
              </a:rPr>
              <a:t>Alex Blanco </a:t>
            </a:r>
            <a:r>
              <a:rPr lang="en-US" sz="1200" dirty="0">
                <a:solidFill>
                  <a:srgbClr val="9FB0C0"/>
                </a:solidFill>
                <a:latin typeface="IBM Plex Sans" pitchFamily="34" charset="0"/>
                <a:ea typeface="IBM Plex Sans" pitchFamily="34" charset="-122"/>
                <a:cs typeface="IBM Plex Sans" pitchFamily="34" charset="-120"/>
              </a:rPr>
              <a:t>· Simona </a:t>
            </a:r>
            <a:r>
              <a:rPr lang="en-US" sz="1200" dirty="0" err="1" smtClean="0">
                <a:solidFill>
                  <a:srgbClr val="9FB0C0"/>
                </a:solidFill>
                <a:latin typeface="IBM Plex Sans" pitchFamily="34" charset="0"/>
                <a:ea typeface="IBM Plex Sans" pitchFamily="34" charset="-122"/>
                <a:cs typeface="IBM Plex Sans" pitchFamily="34" charset="-120"/>
              </a:rPr>
              <a:t>Duelt</a:t>
            </a:r>
            <a:r>
              <a:rPr lang="en-US" sz="1200" dirty="0" smtClean="0">
                <a:solidFill>
                  <a:srgbClr val="9FB0C0"/>
                </a:solidFill>
                <a:latin typeface="IBM Plex Sans" pitchFamily="34" charset="0"/>
                <a:ea typeface="IBM Plex Sans" pitchFamily="34" charset="-122"/>
                <a:cs typeface="IBM Plex Sans" pitchFamily="34" charset="-120"/>
              </a:rPr>
              <a:t> </a:t>
            </a:r>
            <a:r>
              <a:rPr lang="en-US" sz="1200" dirty="0">
                <a:solidFill>
                  <a:srgbClr val="9FB0C0"/>
                </a:solidFill>
                <a:latin typeface="IBM Plex Sans" pitchFamily="34" charset="0"/>
                <a:ea typeface="IBM Plex Sans" pitchFamily="34" charset="-122"/>
                <a:cs typeface="IBM Plex Sans" pitchFamily="34" charset="-120"/>
              </a:rPr>
              <a:t>· </a:t>
            </a:r>
            <a:r>
              <a:rPr lang="en-US" sz="1200" dirty="0" err="1">
                <a:solidFill>
                  <a:srgbClr val="9FB0C0"/>
                </a:solidFill>
                <a:latin typeface="IBM Plex Sans" pitchFamily="34" charset="0"/>
                <a:ea typeface="IBM Plex Sans" pitchFamily="34" charset="-122"/>
                <a:cs typeface="IBM Plex Sans" pitchFamily="34" charset="-120"/>
              </a:rPr>
              <a:t>Raúl</a:t>
            </a:r>
            <a:r>
              <a:rPr lang="en-US" sz="1200" dirty="0">
                <a:solidFill>
                  <a:srgbClr val="9FB0C0"/>
                </a:solidFill>
                <a:latin typeface="IBM Plex Sans" pitchFamily="34" charset="0"/>
                <a:ea typeface="IBM Plex Sans" pitchFamily="34" charset="-122"/>
                <a:cs typeface="IBM Plex Sans" pitchFamily="34" charset="-120"/>
              </a:rPr>
              <a:t> </a:t>
            </a:r>
            <a:r>
              <a:rPr lang="en-US" sz="1200" dirty="0" err="1">
                <a:solidFill>
                  <a:srgbClr val="9FB0C0"/>
                </a:solidFill>
                <a:latin typeface="IBM Plex Sans" pitchFamily="34" charset="0"/>
                <a:ea typeface="IBM Plex Sans" pitchFamily="34" charset="-122"/>
                <a:cs typeface="IBM Plex Sans" pitchFamily="34" charset="-120"/>
              </a:rPr>
              <a:t>Guasch</a:t>
            </a:r>
            <a:r>
              <a:rPr lang="en-US" sz="1200" dirty="0">
                <a:solidFill>
                  <a:srgbClr val="9FB0C0"/>
                </a:solidFill>
                <a:latin typeface="IBM Plex Sans" pitchFamily="34" charset="0"/>
                <a:ea typeface="IBM Plex Sans" pitchFamily="34" charset="-122"/>
                <a:cs typeface="IBM Plex Sans" pitchFamily="34" charset="-120"/>
              </a:rPr>
              <a:t> </a:t>
            </a:r>
            <a:r>
              <a:rPr lang="en-US" sz="1200" dirty="0" smtClean="0">
                <a:solidFill>
                  <a:srgbClr val="9FB0C0"/>
                </a:solidFill>
                <a:latin typeface="IBM Plex Sans" pitchFamily="34" charset="0"/>
                <a:ea typeface="IBM Plex Sans" pitchFamily="34" charset="-122"/>
                <a:cs typeface="IBM Plex Sans" pitchFamily="34" charset="-120"/>
              </a:rPr>
              <a:t>· Marc </a:t>
            </a:r>
            <a:r>
              <a:rPr lang="en-US" sz="1200" dirty="0" err="1" smtClean="0">
                <a:solidFill>
                  <a:srgbClr val="9FB0C0"/>
                </a:solidFill>
                <a:latin typeface="IBM Plex Sans" pitchFamily="34" charset="0"/>
                <a:ea typeface="IBM Plex Sans" pitchFamily="34" charset="-122"/>
                <a:cs typeface="IBM Plex Sans" pitchFamily="34" charset="-120"/>
              </a:rPr>
              <a:t>Planas</a:t>
            </a:r>
            <a:r>
              <a:rPr lang="en-US" sz="1200" dirty="0" smtClean="0">
                <a:solidFill>
                  <a:srgbClr val="9FB0C0"/>
                </a:solidFill>
                <a:latin typeface="IBM Plex Sans" pitchFamily="34" charset="0"/>
                <a:ea typeface="IBM Plex Sans" pitchFamily="34" charset="-122"/>
                <a:cs typeface="IBM Plex Sans" pitchFamily="34" charset="-120"/>
              </a:rPr>
              <a:t> · </a:t>
            </a:r>
            <a:r>
              <a:rPr lang="en-US" sz="1200" dirty="0">
                <a:solidFill>
                  <a:srgbClr val="9FB0C0"/>
                </a:solidFill>
                <a:latin typeface="IBM Plex Sans" pitchFamily="34" charset="0"/>
                <a:ea typeface="IBM Plex Sans" pitchFamily="34" charset="-122"/>
                <a:cs typeface="IBM Plex Sans" pitchFamily="34" charset="-120"/>
              </a:rPr>
              <a:t>Jan </a:t>
            </a:r>
            <a:r>
              <a:rPr lang="en-US" sz="1200" dirty="0" err="1" smtClean="0">
                <a:solidFill>
                  <a:srgbClr val="9FB0C0"/>
                </a:solidFill>
                <a:latin typeface="IBM Plex Sans" pitchFamily="34" charset="0"/>
                <a:ea typeface="IBM Plex Sans" pitchFamily="34" charset="-122"/>
                <a:cs typeface="IBM Plex Sans" pitchFamily="34" charset="-120"/>
              </a:rPr>
              <a:t>Santaliestra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HTTP només sap respondre</a:t>
            </a:r>
            <a:endParaRPr lang="en-US" sz="3600" dirty="0"/>
          </a:p>
        </p:txBody>
      </p:sp>
      <p:sp>
        <p:nvSpPr>
          <p:cNvPr id="3" name="Text 1"/>
          <p:cNvSpPr/>
          <p:nvPr/>
        </p:nvSpPr>
        <p:spPr>
          <a:xfrm>
            <a:off x="815975" y="1697303"/>
            <a:ext cx="2025650" cy="692944"/>
          </a:xfrm>
          <a:prstGeom prst="roundRect">
            <a:avLst>
              <a:gd name="adj" fmla="val 14204"/>
            </a:avLst>
          </a:prstGeom>
          <a:solidFill>
            <a:srgbClr val="ECEEE9"/>
          </a:solidFill>
          <a:ln w="6350">
            <a:solidFill>
              <a:srgbClr val="D7DBD4"/>
            </a:solidFill>
            <a:prstDash val="solid"/>
          </a:ln>
        </p:spPr>
        <p:txBody>
          <a:bodyPr wrap="square" lIns="150031" tIns="175431" rIns="150031" bIns="150031" rtlCol="0" anchor="t">
            <a:normAutofit/>
          </a:bodyPr>
          <a:lstStyle/>
          <a:p>
            <a:pPr marL="0" indent="0" algn="ctr">
              <a:lnSpc>
                <a:spcPts val="2240"/>
              </a:lnSpc>
              <a:buNone/>
            </a:pPr>
            <a:r>
              <a:rPr lang="en-US" sz="1600" b="1" dirty="0">
                <a:solidFill>
                  <a:srgbClr val="15202B"/>
                </a:solidFill>
                <a:latin typeface="IBM Plex Sans" pitchFamily="34" charset="0"/>
                <a:ea typeface="IBM Plex Sans" pitchFamily="34" charset="-122"/>
                <a:cs typeface="IBM Plex Sans" pitchFamily="34" charset="-120"/>
              </a:rPr>
              <a:t>Navegador</a:t>
            </a:r>
            <a:endParaRPr lang="en-US" sz="1600" dirty="0"/>
          </a:p>
        </p:txBody>
      </p:sp>
      <p:pic>
        <p:nvPicPr>
          <p:cNvPr id="4" name="Image 0" descr="arrow-right"/>
          <p:cNvPicPr>
            <a:picLocks noChangeAspect="1"/>
          </p:cNvPicPr>
          <p:nvPr/>
        </p:nvPicPr>
        <p:blipFill>
          <a:blip r:embed="rId3"/>
          <a:srcRect/>
          <a:stretch/>
        </p:blipFill>
        <p:spPr>
          <a:xfrm>
            <a:off x="3048000" y="1758024"/>
            <a:ext cx="1270000" cy="571500"/>
          </a:xfrm>
          <a:prstGeom prst="rect">
            <a:avLst/>
          </a:prstGeom>
        </p:spPr>
      </p:pic>
      <p:sp>
        <p:nvSpPr>
          <p:cNvPr id="5" name="Text 2"/>
          <p:cNvSpPr/>
          <p:nvPr/>
        </p:nvSpPr>
        <p:spPr>
          <a:xfrm>
            <a:off x="4524375" y="1697303"/>
            <a:ext cx="2025650" cy="692944"/>
          </a:xfrm>
          <a:prstGeom prst="roundRect">
            <a:avLst>
              <a:gd name="adj" fmla="val 14204"/>
            </a:avLst>
          </a:prstGeom>
          <a:solidFill>
            <a:srgbClr val="ECEEE9"/>
          </a:solidFill>
          <a:ln w="6350">
            <a:solidFill>
              <a:srgbClr val="D7DBD4"/>
            </a:solidFill>
            <a:prstDash val="solid"/>
          </a:ln>
        </p:spPr>
        <p:txBody>
          <a:bodyPr wrap="square" lIns="150031" tIns="175431" rIns="150030" bIns="150031" rtlCol="0" anchor="t">
            <a:normAutofit/>
          </a:bodyPr>
          <a:lstStyle/>
          <a:p>
            <a:pPr marL="0" indent="0" algn="ctr">
              <a:lnSpc>
                <a:spcPts val="2240"/>
              </a:lnSpc>
              <a:buNone/>
            </a:pPr>
            <a:r>
              <a:rPr lang="en-US" sz="1600" b="1" dirty="0">
                <a:solidFill>
                  <a:srgbClr val="15202B"/>
                </a:solidFill>
                <a:latin typeface="IBM Plex Sans" pitchFamily="34" charset="0"/>
                <a:ea typeface="IBM Plex Sans" pitchFamily="34" charset="-122"/>
                <a:cs typeface="IBM Plex Sans" pitchFamily="34" charset="-120"/>
              </a:rPr>
              <a:t>Servidor</a:t>
            </a:r>
            <a:endParaRPr lang="en-US" sz="1600" dirty="0"/>
          </a:p>
        </p:txBody>
      </p:sp>
      <p:sp>
        <p:nvSpPr>
          <p:cNvPr id="6" name="Text 3"/>
          <p:cNvSpPr/>
          <p:nvPr/>
        </p:nvSpPr>
        <p:spPr>
          <a:xfrm>
            <a:off x="6756400" y="1901561"/>
            <a:ext cx="405511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El client pregunta. </a:t>
            </a:r>
            <a:r>
              <a:rPr lang="en-US" sz="1600" b="1" dirty="0">
                <a:solidFill>
                  <a:srgbClr val="4A5568"/>
                </a:solidFill>
                <a:latin typeface="IBM Plex Sans" pitchFamily="34" charset="0"/>
                <a:ea typeface="IBM Plex Sans" pitchFamily="34" charset="-122"/>
                <a:cs typeface="IBM Plex Sans" pitchFamily="34" charset="-120"/>
              </a:rPr>
              <a:t>Sempre comença ell.</a:t>
            </a:r>
            <a:endParaRPr lang="en-US" sz="1600" dirty="0"/>
          </a:p>
        </p:txBody>
      </p:sp>
      <p:sp>
        <p:nvSpPr>
          <p:cNvPr id="7" name="Text 4"/>
          <p:cNvSpPr/>
          <p:nvPr/>
        </p:nvSpPr>
        <p:spPr>
          <a:xfrm>
            <a:off x="815975" y="2625196"/>
            <a:ext cx="2025650" cy="692944"/>
          </a:xfrm>
          <a:prstGeom prst="roundRect">
            <a:avLst>
              <a:gd name="adj" fmla="val 14204"/>
            </a:avLst>
          </a:prstGeom>
          <a:solidFill>
            <a:srgbClr val="ECEEE9">
              <a:alpha val="45000"/>
            </a:srgbClr>
          </a:solidFill>
          <a:ln w="6350">
            <a:solidFill>
              <a:srgbClr val="D7DBD4">
                <a:alpha val="45000"/>
              </a:srgbClr>
            </a:solidFill>
            <a:prstDash val="solid"/>
          </a:ln>
        </p:spPr>
        <p:txBody>
          <a:bodyPr wrap="square" lIns="150031" tIns="175431" rIns="150031" bIns="150031" rtlCol="0" anchor="t">
            <a:normAutofit/>
          </a:bodyPr>
          <a:lstStyle/>
          <a:p>
            <a:pPr marL="0" indent="0" algn="ctr">
              <a:lnSpc>
                <a:spcPts val="2240"/>
              </a:lnSpc>
              <a:buNone/>
            </a:pPr>
            <a:r>
              <a:rPr lang="en-US" sz="1600" b="1" dirty="0">
                <a:solidFill>
                  <a:srgbClr val="15202B">
                    <a:alpha val="45000"/>
                  </a:srgbClr>
                </a:solidFill>
                <a:latin typeface="IBM Plex Sans" pitchFamily="34" charset="0"/>
                <a:ea typeface="IBM Plex Sans" pitchFamily="34" charset="-122"/>
                <a:cs typeface="IBM Plex Sans" pitchFamily="34" charset="-120"/>
              </a:rPr>
              <a:t>Navegador</a:t>
            </a:r>
            <a:endParaRPr lang="en-US" sz="1600" dirty="0"/>
          </a:p>
        </p:txBody>
      </p:sp>
      <p:pic>
        <p:nvPicPr>
          <p:cNvPr id="8" name="Image 1" descr="arrow-left"/>
          <p:cNvPicPr>
            <a:picLocks noChangeAspect="1"/>
          </p:cNvPicPr>
          <p:nvPr/>
        </p:nvPicPr>
        <p:blipFill>
          <a:blip r:embed="rId4"/>
          <a:srcRect/>
          <a:stretch/>
        </p:blipFill>
        <p:spPr>
          <a:xfrm>
            <a:off x="3048000" y="2685918"/>
            <a:ext cx="1270000" cy="571500"/>
          </a:xfrm>
          <a:prstGeom prst="rect">
            <a:avLst/>
          </a:prstGeom>
        </p:spPr>
      </p:pic>
      <p:sp>
        <p:nvSpPr>
          <p:cNvPr id="9" name="Text 5"/>
          <p:cNvSpPr/>
          <p:nvPr/>
        </p:nvSpPr>
        <p:spPr>
          <a:xfrm>
            <a:off x="4524375" y="2625196"/>
            <a:ext cx="2025650" cy="692944"/>
          </a:xfrm>
          <a:prstGeom prst="roundRect">
            <a:avLst>
              <a:gd name="adj" fmla="val 14204"/>
            </a:avLst>
          </a:prstGeom>
          <a:solidFill>
            <a:srgbClr val="ECEEE9">
              <a:alpha val="45000"/>
            </a:srgbClr>
          </a:solidFill>
          <a:ln w="6350">
            <a:solidFill>
              <a:srgbClr val="D7DBD4">
                <a:alpha val="45000"/>
              </a:srgbClr>
            </a:solidFill>
            <a:prstDash val="solid"/>
          </a:ln>
        </p:spPr>
        <p:txBody>
          <a:bodyPr wrap="square" lIns="150031" tIns="175431" rIns="150030" bIns="150031" rtlCol="0" anchor="t">
            <a:normAutofit/>
          </a:bodyPr>
          <a:lstStyle/>
          <a:p>
            <a:pPr marL="0" indent="0" algn="ctr">
              <a:lnSpc>
                <a:spcPts val="2240"/>
              </a:lnSpc>
              <a:buNone/>
            </a:pPr>
            <a:r>
              <a:rPr lang="en-US" sz="1600" b="1" dirty="0">
                <a:solidFill>
                  <a:srgbClr val="15202B">
                    <a:alpha val="45000"/>
                  </a:srgbClr>
                </a:solidFill>
                <a:latin typeface="IBM Plex Sans" pitchFamily="34" charset="0"/>
                <a:ea typeface="IBM Plex Sans" pitchFamily="34" charset="-122"/>
                <a:cs typeface="IBM Plex Sans" pitchFamily="34" charset="-120"/>
              </a:rPr>
              <a:t>Servidor</a:t>
            </a:r>
            <a:endParaRPr lang="en-US" sz="1600" dirty="0"/>
          </a:p>
        </p:txBody>
      </p:sp>
      <p:sp>
        <p:nvSpPr>
          <p:cNvPr id="10" name="Text 6"/>
          <p:cNvSpPr/>
          <p:nvPr/>
        </p:nvSpPr>
        <p:spPr>
          <a:xfrm>
            <a:off x="6756400" y="2687241"/>
            <a:ext cx="4055110"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309"/>
                </a:solidFill>
                <a:latin typeface="IBM Plex Sans" pitchFamily="34" charset="0"/>
                <a:ea typeface="IBM Plex Sans" pitchFamily="34" charset="-122"/>
                <a:cs typeface="IBM Plex Sans" pitchFamily="34" charset="-120"/>
              </a:rPr>
              <a:t>Això no existeix.</a:t>
            </a:r>
            <a:r>
              <a:rPr lang="en-US" sz="1600" dirty="0">
                <a:solidFill>
                  <a:srgbClr val="B45309"/>
                </a:solidFill>
                <a:latin typeface="IBM Plex Sans" pitchFamily="34" charset="0"/>
                <a:ea typeface="IBM Plex Sans" pitchFamily="34" charset="-122"/>
                <a:cs typeface="IBM Plex Sans" pitchFamily="34" charset="-120"/>
              </a:rPr>
              <a:t> El servidor no pot iniciar res.</a:t>
            </a:r>
            <a:endParaRPr lang="en-US" sz="1600" dirty="0"/>
          </a:p>
        </p:txBody>
      </p:sp>
      <p:sp>
        <p:nvSpPr>
          <p:cNvPr id="11" name="Text 7"/>
          <p:cNvSpPr/>
          <p:nvPr/>
        </p:nvSpPr>
        <p:spPr>
          <a:xfrm>
            <a:off x="812800" y="3676915"/>
            <a:ext cx="10566400" cy="939800"/>
          </a:xfrm>
          <a:prstGeom prst="roundRect">
            <a:avLst>
              <a:gd name="adj" fmla="val 5405"/>
            </a:avLst>
          </a:prstGeom>
          <a:solidFill>
            <a:srgbClr val="ECEEE9"/>
          </a:solidFill>
          <a:ln/>
        </p:spPr>
        <p:txBody>
          <a:bodyPr wrap="square" lIns="277221" tIns="188321" rIns="0" bIns="162921" rtlCol="0" anchor="t">
            <a:normAutofit/>
          </a:bodyPr>
          <a:lstStyle/>
          <a:p>
            <a:pPr marL="0" indent="0" algn="l">
              <a:lnSpc>
                <a:spcPts val="2100"/>
              </a:lnSpc>
              <a:buNone/>
            </a:pPr>
            <a:r>
              <a:rPr lang="en-US" sz="1500" i="1" dirty="0">
                <a:solidFill>
                  <a:srgbClr val="4A5568"/>
                </a:solidFill>
                <a:latin typeface="IBM Plex Sans" pitchFamily="34" charset="0"/>
                <a:ea typeface="IBM Plex Sans" pitchFamily="34" charset="-122"/>
                <a:cs typeface="IBM Plex Sans" pitchFamily="34" charset="-120"/>
              </a:rPr>
              <a:t>«HTTP is one-way: clients make requests to servers, no vice versa.»</a:t>
            </a:r>
            <a:endParaRPr lang="en-US" sz="1500" dirty="0"/>
          </a:p>
          <a:p>
            <a:pPr marL="0" indent="0" algn="l">
              <a:lnSpc>
                <a:spcPts val="2100"/>
              </a:lnSpc>
              <a:buNone/>
            </a:pPr>
            <a:r>
              <a:rPr lang="en-US" sz="1500" i="1" dirty="0">
                <a:solidFill>
                  <a:srgbClr val="4A5568"/>
                </a:solidFill>
                <a:latin typeface="IBM Plex Sans" pitchFamily="34" charset="0"/>
                <a:ea typeface="IBM Plex Sans" pitchFamily="34" charset="-122"/>
                <a:cs typeface="IBM Plex Sans" pitchFamily="34" charset="-120"/>
              </a:rPr>
              <a:t>ASW, tema 2, diapositiva 26</a:t>
            </a:r>
            <a:endParaRPr lang="en-US" sz="1500" dirty="0"/>
          </a:p>
        </p:txBody>
      </p:sp>
      <p:sp>
        <p:nvSpPr>
          <p:cNvPr id="12" name="Shape 8"/>
          <p:cNvSpPr/>
          <p:nvPr/>
        </p:nvSpPr>
        <p:spPr>
          <a:xfrm>
            <a:off x="812800" y="3676915"/>
            <a:ext cx="10566400" cy="939800"/>
          </a:xfrm>
          <a:custGeom>
            <a:avLst/>
            <a:gdLst/>
            <a:ahLst/>
            <a:cxnLst/>
            <a:rect l="l" t="t" r="r" b="b"/>
            <a:pathLst>
              <a:path w="10566400" h="939800">
                <a:moveTo>
                  <a:pt x="50800" y="939800"/>
                </a:moveTo>
                <a:lnTo>
                  <a:pt x="50800" y="939800"/>
                </a:lnTo>
                <a:arcTo wR="50800" hR="50800" stAng="5400000" swAng="5400000"/>
                <a:lnTo>
                  <a:pt x="0" y="50800"/>
                </a:lnTo>
                <a:arcTo wR="50800" hR="50800" stAng="10800000" swAng="5400000"/>
                <a:lnTo>
                  <a:pt x="50800" y="0"/>
                </a:lnTo>
                <a:arcTo wR="12700" hR="50800" stAng="16200000" swAng="-5400000"/>
                <a:lnTo>
                  <a:pt x="38100" y="889000"/>
                </a:lnTo>
                <a:arcTo wR="12700" hR="50800" stAng="10800000" swAng="-5400000"/>
                <a:close/>
              </a:path>
            </a:pathLst>
          </a:custGeom>
          <a:solidFill>
            <a:srgbClr val="15202B"/>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Abans ho simulàvem</a:t>
            </a:r>
            <a:endParaRPr lang="en-US" sz="3600" dirty="0"/>
          </a:p>
        </p:txBody>
      </p:sp>
      <p:sp>
        <p:nvSpPr>
          <p:cNvPr id="3" name="Shape 1"/>
          <p:cNvSpPr/>
          <p:nvPr/>
        </p:nvSpPr>
        <p:spPr>
          <a:xfrm>
            <a:off x="11376025" y="1694128"/>
            <a:ext cx="0" cy="2042583"/>
          </a:xfrm>
          <a:prstGeom prst="line">
            <a:avLst/>
          </a:prstGeom>
          <a:noFill/>
          <a:ln w="6350">
            <a:solidFill>
              <a:srgbClr val="D7DBD4"/>
            </a:solidFill>
            <a:prstDash val="solid"/>
          </a:ln>
        </p:spPr>
      </p:sp>
      <p:sp>
        <p:nvSpPr>
          <p:cNvPr id="4" name="Shape 2"/>
          <p:cNvSpPr/>
          <p:nvPr/>
        </p:nvSpPr>
        <p:spPr>
          <a:xfrm>
            <a:off x="812800" y="3733536"/>
            <a:ext cx="10566400" cy="0"/>
          </a:xfrm>
          <a:prstGeom prst="line">
            <a:avLst/>
          </a:prstGeom>
          <a:noFill/>
          <a:ln w="6350">
            <a:solidFill>
              <a:srgbClr val="D7DBD4"/>
            </a:solidFill>
            <a:prstDash val="solid"/>
          </a:ln>
        </p:spPr>
      </p:sp>
      <p:sp>
        <p:nvSpPr>
          <p:cNvPr id="5" name="Shape 3"/>
          <p:cNvSpPr/>
          <p:nvPr/>
        </p:nvSpPr>
        <p:spPr>
          <a:xfrm>
            <a:off x="812800" y="1700478"/>
            <a:ext cx="10566400" cy="0"/>
          </a:xfrm>
          <a:prstGeom prst="line">
            <a:avLst/>
          </a:prstGeom>
          <a:noFill/>
          <a:ln w="12700">
            <a:solidFill>
              <a:srgbClr val="141413">
                <a:alpha val="22000"/>
              </a:srgbClr>
            </a:solidFill>
            <a:prstDash val="solid"/>
          </a:ln>
        </p:spPr>
      </p:sp>
      <p:sp>
        <p:nvSpPr>
          <p:cNvPr id="6" name="Shape 4"/>
          <p:cNvSpPr/>
          <p:nvPr/>
        </p:nvSpPr>
        <p:spPr>
          <a:xfrm>
            <a:off x="819150" y="1694128"/>
            <a:ext cx="0" cy="2042583"/>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77900" y="1833828"/>
          <a:ext cx="10244667" cy="1771650"/>
        </p:xfrm>
        <a:graphic>
          <a:graphicData uri="http://schemas.openxmlformats.org/drawingml/2006/table">
            <a:tbl>
              <a:tblPr/>
              <a:tblGrid>
                <a:gridCol w="2663613">
                  <a:extLst>
                    <a:ext uri="{9D8B030D-6E8A-4147-A177-3AD203B41FA5}">
                      <a16:colId xmlns:a16="http://schemas.microsoft.com/office/drawing/2014/main" val="20000"/>
                    </a:ext>
                  </a:extLst>
                </a:gridCol>
                <a:gridCol w="4097867">
                  <a:extLst>
                    <a:ext uri="{9D8B030D-6E8A-4147-A177-3AD203B41FA5}">
                      <a16:colId xmlns:a16="http://schemas.microsoft.com/office/drawing/2014/main" val="20001"/>
                    </a:ext>
                  </a:extLst>
                </a:gridCol>
                <a:gridCol w="3483187">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5202B"/>
                          </a:solidFill>
                          <a:latin typeface="IBM Plex Sans" pitchFamily="34" charset="0"/>
                          <a:ea typeface="IBM Plex Sans" pitchFamily="34" charset="-122"/>
                          <a:cs typeface="IBM Plex Sans" pitchFamily="34" charset="-120"/>
                        </a:rPr>
                        <a:t>Tècnica</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tc>
                  <a:txBody>
                    <a:bodyPr/>
                    <a:lstStyle/>
                    <a:p>
                      <a:pPr marL="0" indent="0">
                        <a:lnSpc>
                          <a:spcPts val="2100"/>
                        </a:lnSpc>
                        <a:buNone/>
                      </a:pPr>
                      <a:r>
                        <a:rPr lang="en-US" sz="1500" b="1" dirty="0">
                          <a:solidFill>
                            <a:srgbClr val="15202B"/>
                          </a:solidFill>
                          <a:latin typeface="IBM Plex Sans" pitchFamily="34" charset="0"/>
                          <a:ea typeface="IBM Plex Sans" pitchFamily="34" charset="-122"/>
                          <a:cs typeface="IBM Plex Sans" pitchFamily="34" charset="-120"/>
                        </a:rPr>
                        <a:t>Com funciona</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tc>
                  <a:txBody>
                    <a:bodyPr/>
                    <a:lstStyle/>
                    <a:p>
                      <a:pPr marL="0" indent="0">
                        <a:lnSpc>
                          <a:spcPts val="2100"/>
                        </a:lnSpc>
                        <a:buNone/>
                      </a:pPr>
                      <a:r>
                        <a:rPr lang="en-US" sz="1500" b="1" dirty="0">
                          <a:solidFill>
                            <a:srgbClr val="15202B"/>
                          </a:solidFill>
                          <a:latin typeface="IBM Plex Sans" pitchFamily="34" charset="0"/>
                          <a:ea typeface="IBM Plex Sans" pitchFamily="34" charset="-122"/>
                          <a:cs typeface="IBM Plex Sans" pitchFamily="34" charset="-120"/>
                        </a:rPr>
                        <a:t>El preu que pagues</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Polling</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El client pregunta cada N segons: hi ha res nou?</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Latència de fins a N segons, i la majoria de peticions tornen buides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679450">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Long polling</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El servidor reté la petició oberta fins que té alguna novetat</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100"/>
                        </a:lnSpc>
                        <a:buNone/>
                      </a:pPr>
                      <a:r>
                        <a:rPr lang="en-US" sz="1500" dirty="0">
                          <a:solidFill>
                            <a:srgbClr val="15202B"/>
                          </a:solidFill>
                          <a:latin typeface="IBM Plex Sans" pitchFamily="34" charset="0"/>
                          <a:ea typeface="IBM Plex Sans" pitchFamily="34" charset="-122"/>
                          <a:cs typeface="IBM Plex Sans" pitchFamily="34" charset="-120"/>
                        </a:rPr>
                        <a:t>Una connexió sencera per missatge, i molt estat retingut al servidor</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p:nvPr/>
        </p:nvSpPr>
        <p:spPr>
          <a:xfrm>
            <a:off x="812800" y="4092311"/>
            <a:ext cx="10566400" cy="975254"/>
          </a:xfrm>
          <a:prstGeom prst="roundRect">
            <a:avLst>
              <a:gd name="adj" fmla="val 5209"/>
            </a:avLst>
          </a:prstGeom>
          <a:solidFill>
            <a:srgbClr val="ECEEE9"/>
          </a:solidFill>
          <a:ln/>
        </p:spPr>
        <p:txBody>
          <a:bodyPr wrap="square" lIns="277221" tIns="188321" rIns="0" bIns="162921"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Totes dues imiten el </a:t>
            </a:r>
            <a:r>
              <a:rPr lang="en-US" sz="1600" i="1" dirty="0">
                <a:solidFill>
                  <a:srgbClr val="4A5568"/>
                </a:solidFill>
                <a:latin typeface="IBM Plex Sans" pitchFamily="34" charset="0"/>
                <a:ea typeface="IBM Plex Sans" pitchFamily="34" charset="-122"/>
                <a:cs typeface="IBM Plex Sans" pitchFamily="34" charset="-120"/>
              </a:rPr>
              <a:t>push</a:t>
            </a:r>
            <a:r>
              <a:rPr lang="en-US" sz="1600" dirty="0">
                <a:solidFill>
                  <a:srgbClr val="4A5568"/>
                </a:solidFill>
                <a:latin typeface="IBM Plex Sans" pitchFamily="34" charset="0"/>
                <a:ea typeface="IBM Plex Sans" pitchFamily="34" charset="-122"/>
                <a:cs typeface="IBM Plex Sans" pitchFamily="34" charset="-120"/>
              </a:rPr>
              <a:t> amb peticions del client. Funcionen, però són un pedaç. Avui tenim </a:t>
            </a:r>
            <a:r>
              <a:rPr lang="en-US" sz="1600" b="1" dirty="0">
                <a:solidFill>
                  <a:srgbClr val="4A5568"/>
                </a:solidFill>
                <a:latin typeface="IBM Plex Sans" pitchFamily="34" charset="0"/>
                <a:ea typeface="IBM Plex Sans" pitchFamily="34" charset="-122"/>
                <a:cs typeface="IBM Plex Sans" pitchFamily="34" charset="-120"/>
              </a:rPr>
              <a:t>dos protocols pensats expressament per a això</a:t>
            </a:r>
            <a:r>
              <a:rPr lang="en-US" sz="1600" dirty="0">
                <a:solidFill>
                  <a:srgbClr val="4A5568"/>
                </a:solidFill>
                <a:latin typeface="IBM Plex Sans" pitchFamily="34" charset="0"/>
                <a:ea typeface="IBM Plex Sans" pitchFamily="34" charset="-122"/>
                <a:cs typeface="IBM Plex Sans" pitchFamily="34" charset="-120"/>
              </a:rPr>
              <a:t>.</a:t>
            </a:r>
            <a:endParaRPr lang="en-US" sz="1600" dirty="0"/>
          </a:p>
        </p:txBody>
      </p:sp>
      <p:sp>
        <p:nvSpPr>
          <p:cNvPr id="9" name="Shape 6"/>
          <p:cNvSpPr/>
          <p:nvPr/>
        </p:nvSpPr>
        <p:spPr>
          <a:xfrm>
            <a:off x="812800" y="4092311"/>
            <a:ext cx="10566400" cy="975254"/>
          </a:xfrm>
          <a:custGeom>
            <a:avLst/>
            <a:gdLst/>
            <a:ahLst/>
            <a:cxnLst/>
            <a:rect l="l" t="t" r="r" b="b"/>
            <a:pathLst>
              <a:path w="10566400" h="975254">
                <a:moveTo>
                  <a:pt x="50800" y="975254"/>
                </a:moveTo>
                <a:lnTo>
                  <a:pt x="50800" y="975254"/>
                </a:lnTo>
                <a:arcTo wR="50800" hR="50800" stAng="5400000" swAng="5400000"/>
                <a:lnTo>
                  <a:pt x="0" y="50800"/>
                </a:lnTo>
                <a:arcTo wR="50800" hR="50800" stAng="10800000" swAng="5400000"/>
                <a:lnTo>
                  <a:pt x="50800" y="0"/>
                </a:lnTo>
                <a:arcTo wR="12700" hR="50800" stAng="16200000" swAng="-5400000"/>
                <a:lnTo>
                  <a:pt x="38100" y="924454"/>
                </a:lnTo>
                <a:arcTo wR="12700" hR="50800" stAng="10800000" swAng="-5400000"/>
                <a:close/>
              </a:path>
            </a:pathLst>
          </a:custGeom>
          <a:solidFill>
            <a:srgbClr val="D97706"/>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kern="0" spc="105" dirty="0">
                <a:solidFill>
                  <a:srgbClr val="B45309"/>
                </a:solidFill>
                <a:latin typeface="JetBrains Mono" pitchFamily="49" charset="0"/>
                <a:ea typeface="JetBrains Mono" pitchFamily="49" charset="-122"/>
                <a:cs typeface="JetBrains Mono" pitchFamily="49" charset="-120"/>
              </a:rPr>
              <a:t>PRIMERA OPCIÓ</a:t>
            </a:r>
            <a:endParaRPr lang="en-US" sz="1300" dirty="0"/>
          </a:p>
        </p:txBody>
      </p:sp>
      <p:sp>
        <p:nvSpPr>
          <p:cNvPr id="3" name="Text 1"/>
          <p:cNvSpPr>
            <a:spLocks noGrp="1"/>
          </p:cNvSpPr>
          <p:nvPr>
            <p:ph type="title"/>
          </p:nvPr>
        </p:nvSpPr>
        <p:spPr>
          <a:xfrm>
            <a:off x="812800" y="114551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Server-Sent Events</a:t>
            </a:r>
            <a:endParaRPr lang="en-US" sz="3600" dirty="0"/>
          </a:p>
        </p:txBody>
      </p:sp>
      <p:sp>
        <p:nvSpPr>
          <p:cNvPr id="4" name="Text 2"/>
          <p:cNvSpPr/>
          <p:nvPr/>
        </p:nvSpPr>
        <p:spPr>
          <a:xfrm>
            <a:off x="812800" y="1976041"/>
            <a:ext cx="5598668"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5202B"/>
                </a:solidFill>
                <a:latin typeface="IBM Plex Sans" pitchFamily="34" charset="0"/>
                <a:ea typeface="IBM Plex Sans" pitchFamily="34" charset="-122"/>
                <a:cs typeface="IBM Plex Sans" pitchFamily="34" charset="-120"/>
              </a:rPr>
              <a:t>Un sol canal, de servidor a client.</a:t>
            </a:r>
            <a:endParaRPr lang="en-US" sz="1700" dirty="0"/>
          </a:p>
        </p:txBody>
      </p:sp>
      <p:sp>
        <p:nvSpPr>
          <p:cNvPr id="5" name="Text 3"/>
          <p:cNvSpPr/>
          <p:nvPr/>
        </p:nvSpPr>
        <p:spPr>
          <a:xfrm>
            <a:off x="883920" y="2456061"/>
            <a:ext cx="5519928" cy="1739900"/>
          </a:xfrm>
          <a:prstGeom prst="rect">
            <a:avLst/>
          </a:prstGeom>
          <a:noFill/>
          <a:ln/>
        </p:spPr>
        <p:txBody>
          <a:bodyPr wrap="square" lIns="0" tIns="0" rIns="0" bIns="0" rtlCol="0" anchor="t">
            <a:normAutofit/>
          </a:bodyPr>
          <a:lstStyle/>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Sobre HTTP de tota la vida: és una resposta que no s'acaba mai</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El servidor va escrivint esdeveniments al cos de la resposta</a:t>
            </a:r>
            <a:endParaRPr lang="en-US" sz="1500" dirty="0"/>
          </a:p>
          <a:p>
            <a:pPr marL="182880" indent="-182880" algn="l">
              <a:lnSpc>
                <a:spcPts val="2250"/>
              </a:lnSpc>
              <a:buSzPct val="100000"/>
              <a:buChar char="•"/>
            </a:pPr>
            <a:r>
              <a:rPr lang="en-US" sz="1500" dirty="0">
                <a:solidFill>
                  <a:srgbClr val="B45309"/>
                </a:solidFill>
                <a:latin typeface="IBM Plex Sans" pitchFamily="34" charset="0"/>
                <a:ea typeface="IBM Plex Sans" pitchFamily="34" charset="-122"/>
                <a:cs typeface="IBM Plex Sans" pitchFamily="34" charset="-120"/>
              </a:rPr>
              <a:t>Content-Type: text/event-stream</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Només text UTF-8, res de binari</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Al navegador hi ha una API dedicada: EventSource</a:t>
            </a:r>
            <a:endParaRPr lang="en-US" sz="1500" dirty="0"/>
          </a:p>
        </p:txBody>
      </p:sp>
      <p:sp>
        <p:nvSpPr>
          <p:cNvPr id="6" name="Text 4"/>
          <p:cNvSpPr/>
          <p:nvPr/>
        </p:nvSpPr>
        <p:spPr>
          <a:xfrm>
            <a:off x="6553200" y="1976041"/>
            <a:ext cx="4826000" cy="3033911"/>
          </a:xfrm>
          <a:prstGeom prst="roundRect">
            <a:avLst>
              <a:gd name="adj" fmla="val 3349"/>
            </a:avLst>
          </a:prstGeom>
          <a:solidFill>
            <a:srgbClr val="1B2733"/>
          </a:solidFill>
          <a:ln/>
        </p:spPr>
        <p:txBody>
          <a:bodyPr wrap="none" lIns="224242" tIns="224242" rIns="94702" bIns="198842" rtlCol="0" anchor="t">
            <a:normAutofit/>
          </a:bodyPr>
          <a:lstStyle/>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const es = new EventSource("/avisos");</a:t>
            </a:r>
            <a:endParaRPr lang="en-US" sz="1300" dirty="0"/>
          </a:p>
          <a:p>
            <a:pPr marL="0" indent="0" algn="l">
              <a:lnSpc>
                <a:spcPts val="2210"/>
              </a:lnSpc>
              <a:buNone/>
            </a:pP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es.onmessage = e =&gt; {</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console.log(e.data);</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a:t>
            </a:r>
            <a:endParaRPr lang="en-US" sz="1300" dirty="0"/>
          </a:p>
          <a:p>
            <a:pPr marL="0" indent="0" algn="l">
              <a:lnSpc>
                <a:spcPts val="2210"/>
              </a:lnSpc>
              <a:buNone/>
            </a:pP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es.addEventListener("vot", e =&gt; {</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pinta(JSON.parse(e.data));</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El format del cable</a:t>
            </a:r>
            <a:endParaRPr lang="en-US" sz="3600" dirty="0"/>
          </a:p>
        </p:txBody>
      </p:sp>
      <p:sp>
        <p:nvSpPr>
          <p:cNvPr id="3" name="Text 1"/>
          <p:cNvSpPr/>
          <p:nvPr/>
        </p:nvSpPr>
        <p:spPr>
          <a:xfrm>
            <a:off x="812800" y="1643329"/>
            <a:ext cx="5715000" cy="3595225"/>
          </a:xfrm>
          <a:prstGeom prst="roundRect">
            <a:avLst>
              <a:gd name="adj" fmla="val 2826"/>
            </a:avLst>
          </a:prstGeom>
          <a:solidFill>
            <a:srgbClr val="1B2733"/>
          </a:solidFill>
          <a:ln/>
        </p:spPr>
        <p:txBody>
          <a:bodyPr wrap="none" lIns="224242" tIns="224242" rIns="68032" bIns="198843" rtlCol="0" anchor="t">
            <a:normAutofit/>
          </a:bodyPr>
          <a:lstStyle/>
          <a:p>
            <a:pPr marL="0" indent="0" algn="l">
              <a:lnSpc>
                <a:spcPts val="2210"/>
              </a:lnSpc>
              <a:buNone/>
            </a:pPr>
            <a:r>
              <a:rPr lang="en-US" sz="1300" dirty="0">
                <a:solidFill>
                  <a:srgbClr val="9FB0C0"/>
                </a:solidFill>
                <a:latin typeface="JetBrains Mono" pitchFamily="49" charset="0"/>
                <a:ea typeface="JetBrains Mono" pitchFamily="49" charset="-122"/>
                <a:cs typeface="JetBrains Mono" pitchFamily="49" charset="-120"/>
              </a:rPr>
              <a:t>HTTP/1.1 200 OK</a:t>
            </a:r>
            <a:endParaRPr lang="en-US" sz="1300" dirty="0"/>
          </a:p>
          <a:p>
            <a:pPr marL="0" indent="0" algn="l">
              <a:lnSpc>
                <a:spcPts val="2210"/>
              </a:lnSpc>
              <a:buNone/>
            </a:pPr>
            <a:r>
              <a:rPr lang="en-US" sz="1300" dirty="0">
                <a:solidFill>
                  <a:srgbClr val="9FB0C0"/>
                </a:solidFill>
                <a:latin typeface="JetBrains Mono" pitchFamily="49" charset="0"/>
                <a:ea typeface="JetBrains Mono" pitchFamily="49" charset="-122"/>
                <a:cs typeface="JetBrains Mono" pitchFamily="49" charset="-120"/>
              </a:rPr>
              <a:t>Content-Type: text/event-stream</a:t>
            </a:r>
            <a:endParaRPr lang="en-US" sz="1300" dirty="0"/>
          </a:p>
          <a:p>
            <a:pPr marL="0" indent="0" algn="l">
              <a:lnSpc>
                <a:spcPts val="2210"/>
              </a:lnSpc>
              <a:buNone/>
            </a:pPr>
            <a:r>
              <a:rPr lang="en-US" sz="1300" dirty="0">
                <a:solidFill>
                  <a:srgbClr val="9FB0C0"/>
                </a:solidFill>
                <a:latin typeface="JetBrains Mono" pitchFamily="49" charset="0"/>
                <a:ea typeface="JetBrains Mono" pitchFamily="49" charset="-122"/>
                <a:cs typeface="JetBrains Mono" pitchFamily="49" charset="-120"/>
              </a:rPr>
              <a:t>Cache-Control: no-cache</a:t>
            </a:r>
            <a:endParaRPr lang="en-US" sz="1300" dirty="0"/>
          </a:p>
          <a:p>
            <a:pPr marL="0" indent="0" algn="l">
              <a:lnSpc>
                <a:spcPts val="2210"/>
              </a:lnSpc>
              <a:buNone/>
            </a:pPr>
            <a:endParaRPr lang="en-US" sz="1300" dirty="0"/>
          </a:p>
          <a:p>
            <a:pPr marL="0" indent="0" algn="l">
              <a:lnSpc>
                <a:spcPts val="2210"/>
              </a:lnSpc>
              <a:buNone/>
            </a:pPr>
            <a:r>
              <a:rPr lang="en-US" sz="1300" dirty="0">
                <a:solidFill>
                  <a:srgbClr val="F59E0B"/>
                </a:solidFill>
                <a:latin typeface="JetBrains Mono" pitchFamily="49" charset="0"/>
                <a:ea typeface="JetBrains Mono" pitchFamily="49" charset="-122"/>
                <a:cs typeface="JetBrains Mono" pitchFamily="49" charset="-120"/>
              </a:rPr>
              <a:t>event:</a:t>
            </a:r>
            <a:r>
              <a:rPr lang="en-US" sz="1300" dirty="0">
                <a:solidFill>
                  <a:srgbClr val="E6EDF3"/>
                </a:solidFill>
                <a:latin typeface="JetBrains Mono" pitchFamily="49" charset="0"/>
                <a:ea typeface="JetBrains Mono" pitchFamily="49" charset="-122"/>
                <a:cs typeface="JetBrains Mono" pitchFamily="49" charset="-120"/>
              </a:rPr>
              <a:t> vot</a:t>
            </a:r>
            <a:endParaRPr lang="en-US" sz="1300" dirty="0"/>
          </a:p>
          <a:p>
            <a:pPr marL="0" indent="0" algn="l">
              <a:lnSpc>
                <a:spcPts val="2210"/>
              </a:lnSpc>
              <a:buNone/>
            </a:pPr>
            <a:r>
              <a:rPr lang="en-US" sz="1300" dirty="0">
                <a:solidFill>
                  <a:srgbClr val="F59E0B"/>
                </a:solidFill>
                <a:latin typeface="JetBrains Mono" pitchFamily="49" charset="0"/>
                <a:ea typeface="JetBrains Mono" pitchFamily="49" charset="-122"/>
                <a:cs typeface="JetBrains Mono" pitchFamily="49" charset="-120"/>
              </a:rPr>
              <a:t>data:</a:t>
            </a:r>
            <a:r>
              <a:rPr lang="en-US" sz="1300" dirty="0">
                <a:solidFill>
                  <a:srgbClr val="E6EDF3"/>
                </a:solidFill>
                <a:latin typeface="JetBrains Mono" pitchFamily="49" charset="0"/>
                <a:ea typeface="JetBrains Mono" pitchFamily="49" charset="-122"/>
                <a:cs typeface="JetBrains Mono" pitchFamily="49" charset="-120"/>
              </a:rPr>
              <a:t> {"id":27,"vots":42}</a:t>
            </a:r>
            <a:endParaRPr lang="en-US" sz="1300" dirty="0"/>
          </a:p>
          <a:p>
            <a:pPr marL="0" indent="0" algn="l">
              <a:lnSpc>
                <a:spcPts val="2210"/>
              </a:lnSpc>
              <a:buNone/>
            </a:pPr>
            <a:r>
              <a:rPr lang="en-US" sz="1300" dirty="0">
                <a:solidFill>
                  <a:srgbClr val="F59E0B"/>
                </a:solidFill>
                <a:latin typeface="JetBrains Mono" pitchFamily="49" charset="0"/>
                <a:ea typeface="JetBrains Mono" pitchFamily="49" charset="-122"/>
                <a:cs typeface="JetBrains Mono" pitchFamily="49" charset="-120"/>
              </a:rPr>
              <a:t>id:</a:t>
            </a:r>
            <a:r>
              <a:rPr lang="en-US" sz="1300" dirty="0">
                <a:solidFill>
                  <a:srgbClr val="E6EDF3"/>
                </a:solidFill>
                <a:latin typeface="JetBrains Mono" pitchFamily="49" charset="0"/>
                <a:ea typeface="JetBrains Mono" pitchFamily="49" charset="-122"/>
                <a:cs typeface="JetBrains Mono" pitchFamily="49" charset="-120"/>
              </a:rPr>
              <a:t> 1043</a:t>
            </a:r>
            <a:endParaRPr lang="en-US" sz="1300" dirty="0"/>
          </a:p>
          <a:p>
            <a:pPr marL="0" indent="0" algn="l">
              <a:lnSpc>
                <a:spcPts val="2210"/>
              </a:lnSpc>
              <a:buNone/>
            </a:pPr>
            <a:endParaRPr lang="en-US" sz="1300" dirty="0"/>
          </a:p>
          <a:p>
            <a:pPr marL="0" indent="0" algn="l">
              <a:lnSpc>
                <a:spcPts val="2210"/>
              </a:lnSpc>
              <a:buNone/>
            </a:pPr>
            <a:r>
              <a:rPr lang="en-US" sz="1300" dirty="0">
                <a:solidFill>
                  <a:srgbClr val="F59E0B"/>
                </a:solidFill>
                <a:latin typeface="JetBrains Mono" pitchFamily="49" charset="0"/>
                <a:ea typeface="JetBrains Mono" pitchFamily="49" charset="-122"/>
                <a:cs typeface="JetBrains Mono" pitchFamily="49" charset="-120"/>
              </a:rPr>
              <a:t>data:</a:t>
            </a:r>
            <a:r>
              <a:rPr lang="en-US" sz="1300" dirty="0">
                <a:solidFill>
                  <a:srgbClr val="E6EDF3"/>
                </a:solidFill>
                <a:latin typeface="JetBrains Mono" pitchFamily="49" charset="0"/>
                <a:ea typeface="JetBrains Mono" pitchFamily="49" charset="-122"/>
                <a:cs typeface="JetBrains Mono" pitchFamily="49" charset="-120"/>
              </a:rPr>
              <a:t> sense nom d'esdeveniment</a:t>
            </a:r>
            <a:endParaRPr lang="en-US" sz="1300" dirty="0"/>
          </a:p>
          <a:p>
            <a:pPr marL="0" indent="0" algn="l">
              <a:lnSpc>
                <a:spcPts val="2210"/>
              </a:lnSpc>
              <a:buNone/>
            </a:pPr>
            <a:endParaRPr lang="en-US" sz="1300" dirty="0"/>
          </a:p>
          <a:p>
            <a:pPr marL="0" indent="0" algn="l">
              <a:lnSpc>
                <a:spcPts val="2210"/>
              </a:lnSpc>
              <a:buNone/>
            </a:pPr>
            <a:r>
              <a:rPr lang="en-US" sz="1300" dirty="0">
                <a:solidFill>
                  <a:srgbClr val="F59E0B"/>
                </a:solidFill>
                <a:latin typeface="JetBrains Mono" pitchFamily="49" charset="0"/>
                <a:ea typeface="JetBrains Mono" pitchFamily="49" charset="-122"/>
                <a:cs typeface="JetBrains Mono" pitchFamily="49" charset="-120"/>
              </a:rPr>
              <a:t>retry:</a:t>
            </a:r>
            <a:r>
              <a:rPr lang="en-US" sz="1300" dirty="0">
                <a:solidFill>
                  <a:srgbClr val="E6EDF3"/>
                </a:solidFill>
                <a:latin typeface="JetBrains Mono" pitchFamily="49" charset="0"/>
                <a:ea typeface="JetBrains Mono" pitchFamily="49" charset="-122"/>
                <a:cs typeface="JetBrains Mono" pitchFamily="49" charset="-120"/>
              </a:rPr>
              <a:t> 5000</a:t>
            </a:r>
            <a:endParaRPr lang="en-US" sz="1300" dirty="0"/>
          </a:p>
        </p:txBody>
      </p:sp>
      <p:sp>
        <p:nvSpPr>
          <p:cNvPr id="4" name="Text 2"/>
          <p:cNvSpPr/>
          <p:nvPr/>
        </p:nvSpPr>
        <p:spPr>
          <a:xfrm>
            <a:off x="6832600" y="1643329"/>
            <a:ext cx="4682998"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5202B"/>
                </a:solidFill>
                <a:latin typeface="IBM Plex Sans" pitchFamily="34" charset="0"/>
                <a:ea typeface="IBM Plex Sans" pitchFamily="34" charset="-122"/>
                <a:cs typeface="IBM Plex Sans" pitchFamily="34" charset="-120"/>
              </a:rPr>
              <a:t>Una línia en blanc</a:t>
            </a:r>
            <a:r>
              <a:rPr lang="en-US" sz="1500" dirty="0">
                <a:solidFill>
                  <a:srgbClr val="4A5568"/>
                </a:solidFill>
                <a:latin typeface="IBM Plex Sans" pitchFamily="34" charset="0"/>
                <a:ea typeface="IBM Plex Sans" pitchFamily="34" charset="-122"/>
                <a:cs typeface="IBM Plex Sans" pitchFamily="34" charset="-120"/>
              </a:rPr>
              <a:t> tanca cada esdeveniment. Res més.</a:t>
            </a:r>
            <a:endParaRPr lang="en-US" sz="1500" dirty="0"/>
          </a:p>
        </p:txBody>
      </p:sp>
      <p:sp>
        <p:nvSpPr>
          <p:cNvPr id="5" name="Shape 3"/>
          <p:cNvSpPr/>
          <p:nvPr/>
        </p:nvSpPr>
        <p:spPr>
          <a:xfrm>
            <a:off x="11376025" y="2329129"/>
            <a:ext cx="0" cy="2149938"/>
          </a:xfrm>
          <a:prstGeom prst="line">
            <a:avLst/>
          </a:prstGeom>
          <a:noFill/>
          <a:ln w="6350">
            <a:solidFill>
              <a:srgbClr val="D7DBD4"/>
            </a:solidFill>
            <a:prstDash val="solid"/>
          </a:ln>
        </p:spPr>
      </p:sp>
      <p:sp>
        <p:nvSpPr>
          <p:cNvPr id="6" name="Shape 4"/>
          <p:cNvSpPr/>
          <p:nvPr/>
        </p:nvSpPr>
        <p:spPr>
          <a:xfrm>
            <a:off x="6832600" y="4475892"/>
            <a:ext cx="4546600" cy="0"/>
          </a:xfrm>
          <a:prstGeom prst="line">
            <a:avLst/>
          </a:prstGeom>
          <a:noFill/>
          <a:ln w="6350">
            <a:solidFill>
              <a:srgbClr val="D7DBD4"/>
            </a:solidFill>
            <a:prstDash val="solid"/>
          </a:ln>
        </p:spPr>
      </p:sp>
      <p:sp>
        <p:nvSpPr>
          <p:cNvPr id="7" name="Shape 5"/>
          <p:cNvSpPr/>
          <p:nvPr/>
        </p:nvSpPr>
        <p:spPr>
          <a:xfrm>
            <a:off x="6832600" y="2335479"/>
            <a:ext cx="4546600" cy="0"/>
          </a:xfrm>
          <a:prstGeom prst="line">
            <a:avLst/>
          </a:prstGeom>
          <a:noFill/>
          <a:ln w="12700">
            <a:solidFill>
              <a:srgbClr val="141413">
                <a:alpha val="22000"/>
              </a:srgbClr>
            </a:solidFill>
            <a:prstDash val="solid"/>
          </a:ln>
        </p:spPr>
      </p:sp>
      <p:sp>
        <p:nvSpPr>
          <p:cNvPr id="8" name="Shape 6"/>
          <p:cNvSpPr/>
          <p:nvPr/>
        </p:nvSpPr>
        <p:spPr>
          <a:xfrm>
            <a:off x="6838950" y="2329129"/>
            <a:ext cx="0" cy="2149938"/>
          </a:xfrm>
          <a:prstGeom prst="line">
            <a:avLst/>
          </a:prstGeom>
          <a:noFill/>
          <a:ln w="12700">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72300" y="2443429"/>
          <a:ext cx="4275667" cy="1929805"/>
        </p:xfrm>
        <a:graphic>
          <a:graphicData uri="http://schemas.openxmlformats.org/drawingml/2006/table">
            <a:tbl>
              <a:tblPr/>
              <a:tblGrid>
                <a:gridCol w="1282700">
                  <a:extLst>
                    <a:ext uri="{9D8B030D-6E8A-4147-A177-3AD203B41FA5}">
                      <a16:colId xmlns:a16="http://schemas.microsoft.com/office/drawing/2014/main" val="20000"/>
                    </a:ext>
                  </a:extLst>
                </a:gridCol>
                <a:gridCol w="2992967">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5202B"/>
                          </a:solidFill>
                          <a:latin typeface="IBM Plex Sans" pitchFamily="34" charset="0"/>
                          <a:ea typeface="IBM Plex Sans" pitchFamily="34" charset="-122"/>
                          <a:cs typeface="IBM Plex Sans" pitchFamily="34" charset="-120"/>
                        </a:rPr>
                        <a:t>Camp</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tc>
                  <a:txBody>
                    <a:bodyPr/>
                    <a:lstStyle/>
                    <a:p>
                      <a:pPr marL="0" indent="0">
                        <a:lnSpc>
                          <a:spcPts val="1960"/>
                        </a:lnSpc>
                        <a:buNone/>
                      </a:pPr>
                      <a:r>
                        <a:rPr lang="en-US" sz="1400" b="1" dirty="0">
                          <a:solidFill>
                            <a:srgbClr val="15202B"/>
                          </a:solidFill>
                          <a:latin typeface="IBM Plex Sans" pitchFamily="34" charset="0"/>
                          <a:ea typeface="IBM Plex Sans" pitchFamily="34" charset="-122"/>
                          <a:cs typeface="IBM Plex Sans" pitchFamily="34" charset="-120"/>
                        </a:rPr>
                        <a:t>Per a què serveix</a:t>
                      </a:r>
                      <a:endParaRPr lang="en-US" sz="1400" dirty="0">
                        <a:latin typeface="IBM Plex Sans" charset="0"/>
                        <a:ea typeface="IBM Plex Sans" charset="0"/>
                        <a:cs typeface="IBM Plex Sans" charset="0"/>
                      </a:endParaRPr>
                    </a:p>
                  </a:txBody>
                  <a:tcPr marL="62230" marR="62230" marT="62230" marB="62230">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event</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Nom, per escoltar-lo a part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data</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El contingut</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id</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Marca per reprendre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retry</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1960"/>
                        </a:lnSpc>
                        <a:buNone/>
                      </a:pPr>
                      <a:r>
                        <a:rPr lang="en-US" sz="1400" dirty="0">
                          <a:solidFill>
                            <a:srgbClr val="15202B"/>
                          </a:solidFill>
                          <a:latin typeface="IBM Plex Sans" pitchFamily="34" charset="0"/>
                          <a:ea typeface="IBM Plex Sans" pitchFamily="34" charset="-122"/>
                          <a:cs typeface="IBM Plex Sans" pitchFamily="34" charset="-120"/>
                        </a:rPr>
                        <a:t>Espera abans de reconnectar</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La reconnexió ve de regal</a:t>
            </a:r>
            <a:endParaRPr lang="en-US" sz="3600" dirty="0"/>
          </a:p>
        </p:txBody>
      </p:sp>
      <p:sp>
        <p:nvSpPr>
          <p:cNvPr id="3" name="Shape 1"/>
          <p:cNvSpPr/>
          <p:nvPr/>
        </p:nvSpPr>
        <p:spPr>
          <a:xfrm>
            <a:off x="815975" y="1646504"/>
            <a:ext cx="3380317" cy="1388930"/>
          </a:xfrm>
          <a:prstGeom prst="roundRect">
            <a:avLst>
              <a:gd name="adj" fmla="val 7086"/>
            </a:avLst>
          </a:prstGeom>
          <a:solidFill>
            <a:srgbClr val="ECEEE9"/>
          </a:solidFill>
          <a:ln w="6350">
            <a:solidFill>
              <a:srgbClr val="D7DBD4"/>
            </a:solidFill>
            <a:prstDash val="solid"/>
          </a:ln>
        </p:spPr>
      </p:sp>
      <p:sp>
        <p:nvSpPr>
          <p:cNvPr id="4" name="Text 2"/>
          <p:cNvSpPr/>
          <p:nvPr/>
        </p:nvSpPr>
        <p:spPr>
          <a:xfrm>
            <a:off x="1071033" y="1901561"/>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IBM Plex Sans" pitchFamily="34" charset="0"/>
                <a:ea typeface="IBM Plex Sans" pitchFamily="34" charset="-122"/>
                <a:cs typeface="IBM Plex Sans" pitchFamily="34" charset="-120"/>
              </a:rPr>
              <a:t>1 · Cau la connexió</a:t>
            </a:r>
            <a:endParaRPr lang="en-US" sz="1600" dirty="0"/>
          </a:p>
        </p:txBody>
      </p:sp>
      <p:sp>
        <p:nvSpPr>
          <p:cNvPr id="5" name="Text 3"/>
          <p:cNvSpPr/>
          <p:nvPr/>
        </p:nvSpPr>
        <p:spPr>
          <a:xfrm>
            <a:off x="1071033" y="2246976"/>
            <a:ext cx="2956306"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8"/>
                </a:solidFill>
                <a:latin typeface="IBM Plex Sans" pitchFamily="34" charset="0"/>
                <a:ea typeface="IBM Plex Sans" pitchFamily="34" charset="-122"/>
                <a:cs typeface="IBM Plex Sans" pitchFamily="34" charset="-120"/>
              </a:rPr>
              <a:t>Wi-Fi, túnel, proxy que talla per inactivitat. Passa constantment.</a:t>
            </a:r>
            <a:endParaRPr lang="en-US" sz="1400" dirty="0"/>
          </a:p>
        </p:txBody>
      </p:sp>
      <p:sp>
        <p:nvSpPr>
          <p:cNvPr id="6" name="Shape 4"/>
          <p:cNvSpPr/>
          <p:nvPr/>
        </p:nvSpPr>
        <p:spPr>
          <a:xfrm>
            <a:off x="4405842" y="1646504"/>
            <a:ext cx="3380317" cy="1388930"/>
          </a:xfrm>
          <a:prstGeom prst="roundRect">
            <a:avLst>
              <a:gd name="adj" fmla="val 7086"/>
            </a:avLst>
          </a:prstGeom>
          <a:solidFill>
            <a:srgbClr val="ECEEE9"/>
          </a:solidFill>
          <a:ln w="6350">
            <a:solidFill>
              <a:srgbClr val="D7DBD4"/>
            </a:solidFill>
            <a:prstDash val="solid"/>
          </a:ln>
        </p:spPr>
      </p:sp>
      <p:sp>
        <p:nvSpPr>
          <p:cNvPr id="7" name="Text 5"/>
          <p:cNvSpPr/>
          <p:nvPr/>
        </p:nvSpPr>
        <p:spPr>
          <a:xfrm>
            <a:off x="4660900" y="1901561"/>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IBM Plex Sans" pitchFamily="34" charset="0"/>
                <a:ea typeface="IBM Plex Sans" pitchFamily="34" charset="-122"/>
                <a:cs typeface="IBM Plex Sans" pitchFamily="34" charset="-120"/>
              </a:rPr>
              <a:t>2 · El navegador torna sol</a:t>
            </a:r>
            <a:endParaRPr lang="en-US" sz="1600" dirty="0"/>
          </a:p>
        </p:txBody>
      </p:sp>
      <p:sp>
        <p:nvSpPr>
          <p:cNvPr id="8" name="Text 6"/>
          <p:cNvSpPr/>
          <p:nvPr/>
        </p:nvSpPr>
        <p:spPr>
          <a:xfrm>
            <a:off x="4660900" y="2246976"/>
            <a:ext cx="2956306"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8"/>
                </a:solidFill>
                <a:latin typeface="IBM Plex Sans" pitchFamily="34" charset="0"/>
                <a:ea typeface="IBM Plex Sans" pitchFamily="34" charset="-122"/>
                <a:cs typeface="IBM Plex Sans" pitchFamily="34" charset="-120"/>
              </a:rPr>
              <a:t>No has d'escriure ni una línia. El temps d'espera el fixa retry.</a:t>
            </a:r>
            <a:endParaRPr lang="en-US" sz="1400" dirty="0"/>
          </a:p>
        </p:txBody>
      </p:sp>
      <p:sp>
        <p:nvSpPr>
          <p:cNvPr id="9" name="Shape 7"/>
          <p:cNvSpPr/>
          <p:nvPr/>
        </p:nvSpPr>
        <p:spPr>
          <a:xfrm>
            <a:off x="7995709" y="1646504"/>
            <a:ext cx="3380317" cy="1388930"/>
          </a:xfrm>
          <a:prstGeom prst="roundRect">
            <a:avLst>
              <a:gd name="adj" fmla="val 7086"/>
            </a:avLst>
          </a:prstGeom>
          <a:solidFill>
            <a:srgbClr val="ECEEE9"/>
          </a:solidFill>
          <a:ln w="6350">
            <a:solidFill>
              <a:srgbClr val="D7DBD4"/>
            </a:solidFill>
            <a:prstDash val="solid"/>
          </a:ln>
        </p:spPr>
      </p:sp>
      <p:sp>
        <p:nvSpPr>
          <p:cNvPr id="10" name="Text 8"/>
          <p:cNvSpPr/>
          <p:nvPr/>
        </p:nvSpPr>
        <p:spPr>
          <a:xfrm>
            <a:off x="8250767" y="1901561"/>
            <a:ext cx="295630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IBM Plex Sans" pitchFamily="34" charset="0"/>
                <a:ea typeface="IBM Plex Sans" pitchFamily="34" charset="-122"/>
                <a:cs typeface="IBM Plex Sans" pitchFamily="34" charset="-120"/>
              </a:rPr>
              <a:t>3 · Reprèn on era</a:t>
            </a:r>
            <a:endParaRPr lang="en-US" sz="1600" dirty="0"/>
          </a:p>
        </p:txBody>
      </p:sp>
      <p:sp>
        <p:nvSpPr>
          <p:cNvPr id="11" name="Text 9"/>
          <p:cNvSpPr/>
          <p:nvPr/>
        </p:nvSpPr>
        <p:spPr>
          <a:xfrm>
            <a:off x="8250767" y="2246976"/>
            <a:ext cx="2956306"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8"/>
                </a:solidFill>
                <a:latin typeface="IBM Plex Sans" pitchFamily="34" charset="0"/>
                <a:ea typeface="IBM Plex Sans" pitchFamily="34" charset="-122"/>
                <a:cs typeface="IBM Plex Sans" pitchFamily="34" charset="-120"/>
              </a:rPr>
              <a:t>Envia la capçalera Last-Event-ID amb l'últim id que va rebre.</a:t>
            </a:r>
            <a:endParaRPr lang="en-US" sz="1400" dirty="0"/>
          </a:p>
        </p:txBody>
      </p:sp>
      <p:sp>
        <p:nvSpPr>
          <p:cNvPr id="12" name="Text 10"/>
          <p:cNvSpPr/>
          <p:nvPr/>
        </p:nvSpPr>
        <p:spPr>
          <a:xfrm>
            <a:off x="812800" y="3343408"/>
            <a:ext cx="10566400" cy="955014"/>
          </a:xfrm>
          <a:prstGeom prst="roundRect">
            <a:avLst>
              <a:gd name="adj" fmla="val 10639"/>
            </a:avLst>
          </a:prstGeom>
          <a:solidFill>
            <a:srgbClr val="1B2733"/>
          </a:solidFill>
          <a:ln/>
        </p:spPr>
        <p:txBody>
          <a:bodyPr wrap="none" lIns="224242" tIns="198842" rIns="0" bIns="173442" rtlCol="0" anchor="t">
            <a:normAutofit/>
          </a:bodyPr>
          <a:lstStyle/>
          <a:p>
            <a:pPr marL="0" indent="0" algn="l">
              <a:lnSpc>
                <a:spcPts val="1960"/>
              </a:lnSpc>
              <a:buNone/>
            </a:pPr>
            <a:r>
              <a:rPr lang="en-US" sz="1400" dirty="0">
                <a:solidFill>
                  <a:srgbClr val="E6EDF3"/>
                </a:solidFill>
                <a:latin typeface="JetBrains Mono" pitchFamily="49" charset="0"/>
                <a:ea typeface="JetBrains Mono" pitchFamily="49" charset="-122"/>
                <a:cs typeface="JetBrains Mono" pitchFamily="49" charset="-120"/>
              </a:rPr>
              <a:t>GET /avisos HTTP/1.1</a:t>
            </a:r>
            <a:endParaRPr lang="en-US" sz="1400" dirty="0"/>
          </a:p>
          <a:p>
            <a:pPr marL="0" indent="0" algn="l">
              <a:lnSpc>
                <a:spcPts val="1960"/>
              </a:lnSpc>
              <a:buNone/>
            </a:pPr>
            <a:r>
              <a:rPr lang="en-US" sz="1400" dirty="0">
                <a:solidFill>
                  <a:srgbClr val="F59E0B"/>
                </a:solidFill>
                <a:latin typeface="JetBrains Mono" pitchFamily="49" charset="0"/>
                <a:ea typeface="JetBrains Mono" pitchFamily="49" charset="-122"/>
                <a:cs typeface="JetBrains Mono" pitchFamily="49" charset="-120"/>
              </a:rPr>
              <a:t>Last-Event-ID: 1043</a:t>
            </a:r>
            <a:r>
              <a:rPr lang="en-US" sz="1400" dirty="0">
                <a:solidFill>
                  <a:srgbClr val="E6EDF3"/>
                </a:solidFill>
                <a:latin typeface="JetBrains Mono" pitchFamily="49" charset="0"/>
                <a:ea typeface="JetBrains Mono" pitchFamily="49" charset="-122"/>
                <a:cs typeface="JetBrains Mono" pitchFamily="49" charset="-120"/>
              </a:rPr>
              <a:t>   </a:t>
            </a:r>
            <a:r>
              <a:rPr lang="en-US" sz="1400" dirty="0">
                <a:solidFill>
                  <a:srgbClr val="9FB0C0"/>
                </a:solidFill>
                <a:latin typeface="JetBrains Mono" pitchFamily="49" charset="0"/>
                <a:ea typeface="JetBrains Mono" pitchFamily="49" charset="-122"/>
                <a:cs typeface="JetBrains Mono" pitchFamily="49" charset="-120"/>
              </a:rPr>
              <a:t>// el servidor sap per on continuar</a:t>
            </a:r>
            <a:endParaRPr lang="en-US" sz="1400" dirty="0"/>
          </a:p>
        </p:txBody>
      </p:sp>
      <p:sp>
        <p:nvSpPr>
          <p:cNvPr id="13" name="Text 11"/>
          <p:cNvSpPr/>
          <p:nvPr/>
        </p:nvSpPr>
        <p:spPr>
          <a:xfrm>
            <a:off x="812800" y="4603223"/>
            <a:ext cx="10566400" cy="853414"/>
          </a:xfrm>
          <a:prstGeom prst="roundRect">
            <a:avLst>
              <a:gd name="adj" fmla="val 5953"/>
            </a:avLst>
          </a:prstGeom>
          <a:solidFill>
            <a:srgbClr val="ECEEE9"/>
          </a:solidFill>
          <a:ln/>
        </p:spPr>
        <p:txBody>
          <a:bodyPr wrap="square" lIns="277221" tIns="162921" rIns="0" bIns="137521" rtlCol="0" anchor="t">
            <a:normAutofit/>
          </a:bodyPr>
          <a:lstStyle/>
          <a:p>
            <a:pPr marL="0" indent="0" algn="l">
              <a:lnSpc>
                <a:spcPts val="1960"/>
              </a:lnSpc>
              <a:buNone/>
            </a:pPr>
            <a:r>
              <a:rPr lang="en-US" sz="1400" b="1" dirty="0">
                <a:solidFill>
                  <a:srgbClr val="15202B"/>
                </a:solidFill>
                <a:latin typeface="IBM Plex Sans" pitchFamily="34" charset="0"/>
                <a:ea typeface="IBM Plex Sans" pitchFamily="34" charset="-122"/>
                <a:cs typeface="IBM Plex Sans" pitchFamily="34" charset="-120"/>
              </a:rPr>
              <a:t>Un parany:</a:t>
            </a:r>
            <a:r>
              <a:rPr lang="en-US" sz="1400" dirty="0">
                <a:solidFill>
                  <a:srgbClr val="4A5568"/>
                </a:solidFill>
                <a:latin typeface="IBM Plex Sans" pitchFamily="34" charset="0"/>
                <a:ea typeface="IBM Plex Sans" pitchFamily="34" charset="-122"/>
                <a:cs typeface="IBM Plex Sans" pitchFamily="34" charset="-120"/>
              </a:rPr>
              <a:t> amb HTTP/1.1 el navegador només obre unes 6 connexions per domini, i un SSE n'ocupa una de fixa. Amb HTTP/2 el multiplexatge ho resol.</a:t>
            </a:r>
            <a:endParaRPr lang="en-US" sz="1400" dirty="0"/>
          </a:p>
        </p:txBody>
      </p:sp>
      <p:sp>
        <p:nvSpPr>
          <p:cNvPr id="14" name="Shape 12"/>
          <p:cNvSpPr/>
          <p:nvPr/>
        </p:nvSpPr>
        <p:spPr>
          <a:xfrm>
            <a:off x="812800" y="4603223"/>
            <a:ext cx="10566400" cy="853414"/>
          </a:xfrm>
          <a:custGeom>
            <a:avLst/>
            <a:gdLst/>
            <a:ahLst/>
            <a:cxnLst/>
            <a:rect l="l" t="t" r="r" b="b"/>
            <a:pathLst>
              <a:path w="10566400" h="853414">
                <a:moveTo>
                  <a:pt x="50800" y="853414"/>
                </a:moveTo>
                <a:lnTo>
                  <a:pt x="50800" y="853414"/>
                </a:lnTo>
                <a:arcTo wR="50800" hR="50800" stAng="5400000" swAng="5400000"/>
                <a:lnTo>
                  <a:pt x="0" y="50800"/>
                </a:lnTo>
                <a:arcTo wR="50800" hR="50800" stAng="10800000" swAng="5400000"/>
                <a:lnTo>
                  <a:pt x="50800" y="0"/>
                </a:lnTo>
                <a:arcTo wR="12700" hR="50800" stAng="16200000" swAng="-5400000"/>
                <a:lnTo>
                  <a:pt x="38100" y="802614"/>
                </a:lnTo>
                <a:arcTo wR="12700" hR="50800" stAng="10800000" swAng="-5400000"/>
                <a:close/>
              </a:path>
            </a:pathLst>
          </a:custGeom>
          <a:solidFill>
            <a:srgbClr val="B45309"/>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kern="0" spc="105" dirty="0">
                <a:solidFill>
                  <a:srgbClr val="2563EB"/>
                </a:solidFill>
                <a:latin typeface="JetBrains Mono" pitchFamily="49" charset="0"/>
                <a:ea typeface="JetBrains Mono" pitchFamily="49" charset="-122"/>
                <a:cs typeface="JetBrains Mono" pitchFamily="49" charset="-120"/>
              </a:rPr>
              <a:t>SEGONA OPCIÓ</a:t>
            </a:r>
            <a:endParaRPr lang="en-US" sz="1300" dirty="0"/>
          </a:p>
        </p:txBody>
      </p:sp>
      <p:sp>
        <p:nvSpPr>
          <p:cNvPr id="3" name="Text 1"/>
          <p:cNvSpPr>
            <a:spLocks noGrp="1"/>
          </p:cNvSpPr>
          <p:nvPr>
            <p:ph type="title"/>
          </p:nvPr>
        </p:nvSpPr>
        <p:spPr>
          <a:xfrm>
            <a:off x="812800" y="114551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WebSockets comença parlant HTTP</a:t>
            </a:r>
            <a:endParaRPr lang="en-US" sz="3600" dirty="0"/>
          </a:p>
        </p:txBody>
      </p:sp>
      <p:sp>
        <p:nvSpPr>
          <p:cNvPr id="4" name="Text 2"/>
          <p:cNvSpPr/>
          <p:nvPr/>
        </p:nvSpPr>
        <p:spPr>
          <a:xfrm>
            <a:off x="812800" y="1925241"/>
            <a:ext cx="53108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4A5568"/>
                </a:solidFill>
                <a:latin typeface="IBM Plex Sans" pitchFamily="34" charset="0"/>
                <a:ea typeface="IBM Plex Sans" pitchFamily="34" charset="-122"/>
                <a:cs typeface="IBM Plex Sans" pitchFamily="34" charset="-120"/>
              </a:rPr>
              <a:t>El client demana canviar de protocol</a:t>
            </a:r>
            <a:endParaRPr lang="en-US" sz="1500" dirty="0"/>
          </a:p>
        </p:txBody>
      </p:sp>
      <p:sp>
        <p:nvSpPr>
          <p:cNvPr id="5" name="Text 3"/>
          <p:cNvSpPr/>
          <p:nvPr/>
        </p:nvSpPr>
        <p:spPr>
          <a:xfrm>
            <a:off x="812800" y="2255441"/>
            <a:ext cx="5156200" cy="2076450"/>
          </a:xfrm>
          <a:prstGeom prst="roundRect">
            <a:avLst>
              <a:gd name="adj" fmla="val 4893"/>
            </a:avLst>
          </a:prstGeom>
          <a:solidFill>
            <a:srgbClr val="1B2733"/>
          </a:solidFill>
          <a:ln/>
        </p:spPr>
        <p:txBody>
          <a:bodyPr wrap="none" lIns="198842" tIns="198842" rIns="57872" bIns="173442" rtlCol="0" anchor="t">
            <a:normAutofit/>
          </a:bodyPr>
          <a:lstStyle/>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GET /xat HTTP/1.1</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Host: example.com</a:t>
            </a:r>
            <a:endParaRPr lang="en-US" sz="1250" dirty="0"/>
          </a:p>
          <a:p>
            <a:pPr marL="0" indent="0" algn="l">
              <a:lnSpc>
                <a:spcPts val="2125"/>
              </a:lnSpc>
              <a:buNone/>
            </a:pPr>
            <a:r>
              <a:rPr lang="en-US" sz="1250" dirty="0">
                <a:solidFill>
                  <a:srgbClr val="60A5FA"/>
                </a:solidFill>
                <a:latin typeface="JetBrains Mono" pitchFamily="49" charset="0"/>
                <a:ea typeface="JetBrains Mono" pitchFamily="49" charset="-122"/>
                <a:cs typeface="JetBrains Mono" pitchFamily="49" charset="-120"/>
              </a:rPr>
              <a:t>Upgrade: websocket</a:t>
            </a:r>
            <a:endParaRPr lang="en-US" sz="1250" dirty="0"/>
          </a:p>
          <a:p>
            <a:pPr marL="0" indent="0" algn="l">
              <a:lnSpc>
                <a:spcPts val="2125"/>
              </a:lnSpc>
              <a:buNone/>
            </a:pPr>
            <a:r>
              <a:rPr lang="en-US" sz="1250" dirty="0">
                <a:solidFill>
                  <a:srgbClr val="60A5FA"/>
                </a:solidFill>
                <a:latin typeface="JetBrains Mono" pitchFamily="49" charset="0"/>
                <a:ea typeface="JetBrains Mono" pitchFamily="49" charset="-122"/>
                <a:cs typeface="JetBrains Mono" pitchFamily="49" charset="-120"/>
              </a:rPr>
              <a:t>Connection: Upgrade</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Sec-WebSocket-Key: dGhlIHNhbXBsZQ==</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Sec-WebSocket-Version: 13</a:t>
            </a:r>
            <a:endParaRPr lang="en-US" sz="1250" dirty="0"/>
          </a:p>
        </p:txBody>
      </p:sp>
      <p:sp>
        <p:nvSpPr>
          <p:cNvPr id="6" name="Text 4"/>
          <p:cNvSpPr/>
          <p:nvPr/>
        </p:nvSpPr>
        <p:spPr>
          <a:xfrm>
            <a:off x="6223000" y="1925241"/>
            <a:ext cx="53108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4A5568"/>
                </a:solidFill>
                <a:latin typeface="IBM Plex Sans" pitchFamily="34" charset="0"/>
                <a:ea typeface="IBM Plex Sans" pitchFamily="34" charset="-122"/>
                <a:cs typeface="IBM Plex Sans" pitchFamily="34" charset="-120"/>
              </a:rPr>
              <a:t>El servidor accepta</a:t>
            </a:r>
            <a:endParaRPr lang="en-US" sz="1500" dirty="0"/>
          </a:p>
        </p:txBody>
      </p:sp>
      <p:sp>
        <p:nvSpPr>
          <p:cNvPr id="7" name="Text 5"/>
          <p:cNvSpPr/>
          <p:nvPr/>
        </p:nvSpPr>
        <p:spPr>
          <a:xfrm>
            <a:off x="6223000" y="2255441"/>
            <a:ext cx="5156200" cy="2076450"/>
          </a:xfrm>
          <a:prstGeom prst="roundRect">
            <a:avLst>
              <a:gd name="adj" fmla="val 4893"/>
            </a:avLst>
          </a:prstGeom>
          <a:solidFill>
            <a:srgbClr val="1B2733"/>
          </a:solidFill>
          <a:ln/>
        </p:spPr>
        <p:txBody>
          <a:bodyPr wrap="none" lIns="198842" tIns="198842" rIns="57872" bIns="173442" rtlCol="0" anchor="t">
            <a:normAutofit/>
          </a:bodyPr>
          <a:lstStyle/>
          <a:p>
            <a:pPr marL="0" indent="0" algn="l">
              <a:lnSpc>
                <a:spcPts val="2125"/>
              </a:lnSpc>
              <a:buNone/>
            </a:pPr>
            <a:r>
              <a:rPr lang="en-US" sz="1250" dirty="0">
                <a:solidFill>
                  <a:srgbClr val="60A5FA"/>
                </a:solidFill>
                <a:latin typeface="JetBrains Mono" pitchFamily="49" charset="0"/>
                <a:ea typeface="JetBrains Mono" pitchFamily="49" charset="-122"/>
                <a:cs typeface="JetBrains Mono" pitchFamily="49" charset="-120"/>
              </a:rPr>
              <a:t>HTTP/1.1 101 Switching Protocols</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Upgrade: websocket</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Connection: Upgrade</a:t>
            </a:r>
            <a:endParaRPr lang="en-US" sz="1250" dirty="0"/>
          </a:p>
          <a:p>
            <a:pPr marL="0" indent="0" algn="l">
              <a:lnSpc>
                <a:spcPts val="2125"/>
              </a:lnSpc>
              <a:buNone/>
            </a:pPr>
            <a:r>
              <a:rPr lang="en-US" sz="1250" dirty="0">
                <a:solidFill>
                  <a:srgbClr val="E6EDF3"/>
                </a:solidFill>
                <a:latin typeface="JetBrains Mono" pitchFamily="49" charset="0"/>
                <a:ea typeface="JetBrains Mono" pitchFamily="49" charset="-122"/>
                <a:cs typeface="JetBrains Mono" pitchFamily="49" charset="-120"/>
              </a:rPr>
              <a:t>Sec-WebSocket-Accept: s3pPLMBi...</a:t>
            </a:r>
            <a:endParaRPr lang="en-US" sz="1250" dirty="0"/>
          </a:p>
          <a:p>
            <a:pPr marL="0" indent="0" algn="l">
              <a:lnSpc>
                <a:spcPts val="2125"/>
              </a:lnSpc>
              <a:buNone/>
            </a:pPr>
            <a:endParaRPr lang="en-US" sz="1250" dirty="0"/>
          </a:p>
          <a:p>
            <a:pPr marL="0" indent="0" algn="l">
              <a:lnSpc>
                <a:spcPts val="2125"/>
              </a:lnSpc>
              <a:buNone/>
            </a:pPr>
            <a:r>
              <a:rPr lang="en-US" sz="1250" dirty="0">
                <a:solidFill>
                  <a:srgbClr val="9FB0C0"/>
                </a:solidFill>
                <a:latin typeface="JetBrains Mono" pitchFamily="49" charset="0"/>
                <a:ea typeface="JetBrains Mono" pitchFamily="49" charset="-122"/>
                <a:cs typeface="JetBrains Mono" pitchFamily="49" charset="-120"/>
              </a:rPr>
              <a:t>// d'aquí endavant, ja no hi ha HTTP</a:t>
            </a:r>
            <a:endParaRPr lang="en-US" sz="1250" dirty="0"/>
          </a:p>
        </p:txBody>
      </p:sp>
      <p:sp>
        <p:nvSpPr>
          <p:cNvPr id="8" name="Text 6"/>
          <p:cNvSpPr/>
          <p:nvPr/>
        </p:nvSpPr>
        <p:spPr>
          <a:xfrm>
            <a:off x="812800" y="4585891"/>
            <a:ext cx="10566400" cy="889000"/>
          </a:xfrm>
          <a:prstGeom prst="roundRect">
            <a:avLst>
              <a:gd name="adj" fmla="val 5714"/>
            </a:avLst>
          </a:prstGeom>
          <a:solidFill>
            <a:srgbClr val="ECEEE9"/>
          </a:solidFill>
          <a:ln/>
        </p:spPr>
        <p:txBody>
          <a:bodyPr wrap="square" lIns="277221" tIns="162921" rIns="0" bIns="137521"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El codi </a:t>
            </a:r>
            <a:r>
              <a:rPr lang="en-US" sz="1500" b="1" dirty="0">
                <a:solidFill>
                  <a:srgbClr val="15202B"/>
                </a:solidFill>
                <a:latin typeface="IBM Plex Sans" pitchFamily="34" charset="0"/>
                <a:ea typeface="IBM Plex Sans" pitchFamily="34" charset="-122"/>
                <a:cs typeface="IBM Plex Sans" pitchFamily="34" charset="-120"/>
              </a:rPr>
              <a:t>101</a:t>
            </a:r>
            <a:r>
              <a:rPr lang="en-US" sz="1500" dirty="0">
                <a:solidFill>
                  <a:srgbClr val="4A5568"/>
                </a:solidFill>
                <a:latin typeface="IBM Plex Sans" pitchFamily="34" charset="0"/>
                <a:ea typeface="IBM Plex Sans" pitchFamily="34" charset="-122"/>
                <a:cs typeface="IBM Plex Sans" pitchFamily="34" charset="-120"/>
              </a:rPr>
              <a:t> és la frontera: la connexió TCP ja estava oberta i es queda oberta, però a partir d'aquí hi viatja un altre protocol.</a:t>
            </a:r>
            <a:endParaRPr lang="en-US" sz="1500" dirty="0"/>
          </a:p>
        </p:txBody>
      </p:sp>
      <p:sp>
        <p:nvSpPr>
          <p:cNvPr id="9" name="Shape 7"/>
          <p:cNvSpPr/>
          <p:nvPr/>
        </p:nvSpPr>
        <p:spPr>
          <a:xfrm>
            <a:off x="812800" y="4585891"/>
            <a:ext cx="10566400" cy="889000"/>
          </a:xfrm>
          <a:custGeom>
            <a:avLst/>
            <a:gdLst/>
            <a:ahLst/>
            <a:cxnLst/>
            <a:rect l="l" t="t" r="r" b="b"/>
            <a:pathLst>
              <a:path w="10566400" h="889000">
                <a:moveTo>
                  <a:pt x="50800" y="889000"/>
                </a:moveTo>
                <a:lnTo>
                  <a:pt x="50800" y="889000"/>
                </a:lnTo>
                <a:arcTo wR="50800" hR="50800" stAng="5400000" swAng="5400000"/>
                <a:lnTo>
                  <a:pt x="0" y="50800"/>
                </a:lnTo>
                <a:arcTo wR="50800" hR="50800" stAng="10800000" swAng="5400000"/>
                <a:lnTo>
                  <a:pt x="50800" y="0"/>
                </a:lnTo>
                <a:arcTo wR="12700" hR="50800" stAng="16200000" swAng="-5400000"/>
                <a:lnTo>
                  <a:pt x="38100" y="838200"/>
                </a:lnTo>
                <a:arcTo wR="12700" hR="50800" stAng="10800000" swAng="-5400000"/>
                <a:close/>
              </a:path>
            </a:pathLst>
          </a:custGeom>
          <a:solidFill>
            <a:srgbClr val="2563E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Després del 101 ja no és HTTP</a:t>
            </a:r>
            <a:endParaRPr lang="en-US" sz="3600" dirty="0"/>
          </a:p>
        </p:txBody>
      </p:sp>
      <p:sp>
        <p:nvSpPr>
          <p:cNvPr id="3" name="Text 1"/>
          <p:cNvSpPr/>
          <p:nvPr/>
        </p:nvSpPr>
        <p:spPr>
          <a:xfrm>
            <a:off x="883920" y="1643329"/>
            <a:ext cx="5650738" cy="2025650"/>
          </a:xfrm>
          <a:prstGeom prst="rect">
            <a:avLst/>
          </a:prstGeom>
          <a:noFill/>
          <a:ln/>
        </p:spPr>
        <p:txBody>
          <a:bodyPr wrap="square" lIns="0" tIns="0" rIns="0" bIns="0" rtlCol="0" anchor="t">
            <a:normAutofit fontScale="77500" lnSpcReduction="20000"/>
          </a:bodyPr>
          <a:lstStyle/>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La mateixa connexió TCP transporta ara </a:t>
            </a:r>
            <a:r>
              <a:rPr lang="en-US" sz="1500" b="1" dirty="0">
                <a:solidFill>
                  <a:srgbClr val="15202B"/>
                </a:solidFill>
                <a:latin typeface="IBM Plex Sans" pitchFamily="34" charset="0"/>
                <a:ea typeface="IBM Plex Sans" pitchFamily="34" charset="-122"/>
                <a:cs typeface="IBM Plex Sans" pitchFamily="34" charset="-120"/>
              </a:rPr>
              <a:t>frames</a:t>
            </a:r>
            <a:r>
              <a:rPr lang="en-US" sz="1500" dirty="0">
                <a:solidFill>
                  <a:srgbClr val="4A5568"/>
                </a:solidFill>
                <a:latin typeface="IBM Plex Sans" pitchFamily="34" charset="0"/>
                <a:ea typeface="IBM Plex Sans" pitchFamily="34" charset="-122"/>
                <a:cs typeface="IBM Plex Sans" pitchFamily="34" charset="-120"/>
              </a:rPr>
              <a:t> binaris</a:t>
            </a:r>
            <a:endParaRPr lang="en-US" sz="1500" dirty="0"/>
          </a:p>
          <a:p>
            <a:pPr marL="182880" indent="-182880" algn="l">
              <a:lnSpc>
                <a:spcPts val="2250"/>
              </a:lnSpc>
              <a:buSzPct val="100000"/>
              <a:buChar char="•"/>
            </a:pPr>
            <a:r>
              <a:rPr lang="en-US" sz="1500" b="1" dirty="0">
                <a:solidFill>
                  <a:srgbClr val="15202B"/>
                </a:solidFill>
                <a:latin typeface="IBM Plex Sans" pitchFamily="34" charset="0"/>
                <a:ea typeface="IBM Plex Sans" pitchFamily="34" charset="-122"/>
                <a:cs typeface="IBM Plex Sans" pitchFamily="34" charset="-120"/>
              </a:rPr>
              <a:t>Full duplex:</a:t>
            </a:r>
            <a:r>
              <a:rPr lang="en-US" sz="1500" dirty="0">
                <a:solidFill>
                  <a:srgbClr val="4A5568"/>
                </a:solidFill>
                <a:latin typeface="IBM Plex Sans" pitchFamily="34" charset="0"/>
                <a:ea typeface="IBM Plex Sans" pitchFamily="34" charset="-122"/>
                <a:cs typeface="IBM Plex Sans" pitchFamily="34" charset="-120"/>
              </a:rPr>
              <a:t> els dos extrems envien quan volen, alhora</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Text </a:t>
            </a:r>
            <a:r>
              <a:rPr lang="en-US" sz="1500" b="1" dirty="0">
                <a:solidFill>
                  <a:srgbClr val="15202B"/>
                </a:solidFill>
                <a:latin typeface="IBM Plex Sans" pitchFamily="34" charset="0"/>
                <a:ea typeface="IBM Plex Sans" pitchFamily="34" charset="-122"/>
                <a:cs typeface="IBM Plex Sans" pitchFamily="34" charset="-120"/>
              </a:rPr>
              <a:t>i</a:t>
            </a:r>
            <a:r>
              <a:rPr lang="en-US" sz="1500" dirty="0">
                <a:solidFill>
                  <a:srgbClr val="4A5568"/>
                </a:solidFill>
                <a:latin typeface="IBM Plex Sans" pitchFamily="34" charset="0"/>
                <a:ea typeface="IBM Plex Sans" pitchFamily="34" charset="-122"/>
                <a:cs typeface="IBM Plex Sans" pitchFamily="34" charset="-120"/>
              </a:rPr>
              <a:t> binari: imatges, àudio, protocols propis</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Ni URLs, ni mètodes, ni codis d'estat: </a:t>
            </a:r>
            <a:r>
              <a:rPr lang="en-US" sz="1500" dirty="0">
                <a:solidFill>
                  <a:srgbClr val="2563EB"/>
                </a:solidFill>
                <a:latin typeface="IBM Plex Sans" pitchFamily="34" charset="0"/>
                <a:ea typeface="IBM Plex Sans" pitchFamily="34" charset="-122"/>
                <a:cs typeface="IBM Plex Sans" pitchFamily="34" charset="-120"/>
              </a:rPr>
              <a:t>el protocol de missatges te'l dissenyes tu</a:t>
            </a:r>
            <a:endParaRPr lang="en-US" sz="1500" dirty="0"/>
          </a:p>
          <a:p>
            <a:pPr marL="182880" indent="-182880" algn="l">
              <a:lnSpc>
                <a:spcPts val="2250"/>
              </a:lnSpc>
              <a:buSzPct val="100000"/>
              <a:buChar char="•"/>
            </a:pPr>
            <a:r>
              <a:rPr lang="en-US" sz="1500" dirty="0">
                <a:solidFill>
                  <a:srgbClr val="4A5568"/>
                </a:solidFill>
                <a:latin typeface="IBM Plex Sans" pitchFamily="34" charset="0"/>
                <a:ea typeface="IBM Plex Sans" pitchFamily="34" charset="-122"/>
                <a:cs typeface="IBM Plex Sans" pitchFamily="34" charset="-120"/>
              </a:rPr>
              <a:t>Frames de ping i pong per mantenir viva la connexió</a:t>
            </a:r>
            <a:endParaRPr lang="en-US" sz="1500" dirty="0"/>
          </a:p>
          <a:p>
            <a:pPr marL="182880" indent="-182880" algn="l">
              <a:lnSpc>
                <a:spcPts val="2250"/>
              </a:lnSpc>
              <a:buSzPct val="100000"/>
              <a:buChar char="•"/>
            </a:pPr>
            <a:r>
              <a:rPr lang="en-US" sz="1500" dirty="0">
                <a:solidFill>
                  <a:srgbClr val="2563EB"/>
                </a:solidFill>
                <a:latin typeface="IBM Plex Sans" pitchFamily="34" charset="0"/>
                <a:ea typeface="IBM Plex Sans" pitchFamily="34" charset="-122"/>
                <a:cs typeface="IBM Plex Sans" pitchFamily="34" charset="-120"/>
              </a:rPr>
              <a:t>ws://</a:t>
            </a:r>
            <a:r>
              <a:rPr lang="en-US" sz="1500" dirty="0">
                <a:solidFill>
                  <a:srgbClr val="4A5568"/>
                </a:solidFill>
                <a:latin typeface="IBM Plex Sans" pitchFamily="34" charset="0"/>
                <a:ea typeface="IBM Plex Sans" pitchFamily="34" charset="-122"/>
                <a:cs typeface="IBM Plex Sans" pitchFamily="34" charset="-120"/>
              </a:rPr>
              <a:t> i </a:t>
            </a:r>
            <a:r>
              <a:rPr lang="en-US" sz="1500" dirty="0">
                <a:solidFill>
                  <a:srgbClr val="2563EB"/>
                </a:solidFill>
                <a:latin typeface="IBM Plex Sans" pitchFamily="34" charset="0"/>
                <a:ea typeface="IBM Plex Sans" pitchFamily="34" charset="-122"/>
                <a:cs typeface="IBM Plex Sans" pitchFamily="34" charset="-120"/>
              </a:rPr>
              <a:t>wss://</a:t>
            </a:r>
            <a:r>
              <a:rPr lang="en-US" sz="1500" dirty="0">
                <a:solidFill>
                  <a:srgbClr val="4A5568"/>
                </a:solidFill>
                <a:latin typeface="IBM Plex Sans" pitchFamily="34" charset="0"/>
                <a:ea typeface="IBM Plex Sans" pitchFamily="34" charset="-122"/>
                <a:cs typeface="IBM Plex Sans" pitchFamily="34" charset="-120"/>
              </a:rPr>
              <a:t>, que és el mateix sobre TLS</a:t>
            </a:r>
            <a:endParaRPr lang="en-US" sz="1500" dirty="0"/>
          </a:p>
        </p:txBody>
      </p:sp>
      <p:sp>
        <p:nvSpPr>
          <p:cNvPr id="4" name="Text 2"/>
          <p:cNvSpPr/>
          <p:nvPr/>
        </p:nvSpPr>
        <p:spPr>
          <a:xfrm>
            <a:off x="6680200" y="1643329"/>
            <a:ext cx="4699000" cy="4156538"/>
          </a:xfrm>
          <a:prstGeom prst="roundRect">
            <a:avLst>
              <a:gd name="adj" fmla="val 2444"/>
            </a:avLst>
          </a:prstGeom>
          <a:solidFill>
            <a:srgbClr val="1B2733"/>
          </a:solidFill>
          <a:ln/>
        </p:spPr>
        <p:txBody>
          <a:bodyPr wrap="none" lIns="224242" tIns="224242" rIns="98512" bIns="198842" rtlCol="0" anchor="t">
            <a:normAutofit/>
          </a:bodyPr>
          <a:lstStyle/>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const ws = new WebSocket(</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"wss://example.com/xat"</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a:t>
            </a:r>
            <a:endParaRPr lang="en-US" sz="1300" dirty="0"/>
          </a:p>
          <a:p>
            <a:pPr marL="0" indent="0" algn="l">
              <a:lnSpc>
                <a:spcPts val="2210"/>
              </a:lnSpc>
              <a:buNone/>
            </a:pP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ws.onopen = () =&gt; {</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ws.send(JSON.stringify(</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{tipus: "hola"}</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a:t>
            </a:r>
            <a:endParaRPr lang="en-US" sz="1300" dirty="0"/>
          </a:p>
          <a:p>
            <a:pPr marL="0" indent="0" algn="l">
              <a:lnSpc>
                <a:spcPts val="2210"/>
              </a:lnSpc>
              <a:buNone/>
            </a:pP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ws.onmessage = e =&gt; {</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  pinta(JSON.parse(e.data));</a:t>
            </a:r>
            <a:endParaRPr lang="en-US" sz="1300" dirty="0"/>
          </a:p>
          <a:p>
            <a:pPr marL="0" indent="0" algn="l">
              <a:lnSpc>
                <a:spcPts val="2210"/>
              </a:lnSpc>
              <a:buNone/>
            </a:pPr>
            <a:r>
              <a:rPr lang="en-US" sz="1300" dirty="0">
                <a:solidFill>
                  <a:srgbClr val="E6EDF3"/>
                </a:solidFill>
                <a:latin typeface="JetBrains Mono" pitchFamily="49" charset="0"/>
                <a:ea typeface="JetBrains Mono" pitchFamily="49" charset="-122"/>
                <a:cs typeface="JetBrains Mono" pitchFamily="49" charset="-120"/>
              </a:rPr>
              <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Un al costat de l'altre</a:t>
            </a:r>
            <a:endParaRPr lang="en-US" sz="3600" dirty="0"/>
          </a:p>
        </p:txBody>
      </p:sp>
      <p:sp>
        <p:nvSpPr>
          <p:cNvPr id="3" name="Shape 1"/>
          <p:cNvSpPr/>
          <p:nvPr/>
        </p:nvSpPr>
        <p:spPr>
          <a:xfrm>
            <a:off x="11376025" y="1643329"/>
            <a:ext cx="0" cy="3440113"/>
          </a:xfrm>
          <a:prstGeom prst="line">
            <a:avLst/>
          </a:prstGeom>
          <a:noFill/>
          <a:ln w="6350">
            <a:solidFill>
              <a:srgbClr val="D7DBD4"/>
            </a:solidFill>
            <a:prstDash val="solid"/>
          </a:ln>
        </p:spPr>
      </p:sp>
      <p:sp>
        <p:nvSpPr>
          <p:cNvPr id="4" name="Shape 2"/>
          <p:cNvSpPr/>
          <p:nvPr/>
        </p:nvSpPr>
        <p:spPr>
          <a:xfrm>
            <a:off x="812800" y="5080267"/>
            <a:ext cx="10566400" cy="0"/>
          </a:xfrm>
          <a:prstGeom prst="line">
            <a:avLst/>
          </a:prstGeom>
          <a:noFill/>
          <a:ln w="6350">
            <a:solidFill>
              <a:srgbClr val="D7DBD4"/>
            </a:solidFill>
            <a:prstDash val="solid"/>
          </a:ln>
        </p:spPr>
      </p:sp>
      <p:sp>
        <p:nvSpPr>
          <p:cNvPr id="5" name="Shape 3"/>
          <p:cNvSpPr/>
          <p:nvPr/>
        </p:nvSpPr>
        <p:spPr>
          <a:xfrm>
            <a:off x="812800" y="1649679"/>
            <a:ext cx="10566400" cy="0"/>
          </a:xfrm>
          <a:prstGeom prst="line">
            <a:avLst/>
          </a:prstGeom>
          <a:noFill/>
          <a:ln w="12700">
            <a:solidFill>
              <a:srgbClr val="141413">
                <a:alpha val="22000"/>
              </a:srgbClr>
            </a:solidFill>
            <a:prstDash val="solid"/>
          </a:ln>
        </p:spPr>
      </p:sp>
      <p:sp>
        <p:nvSpPr>
          <p:cNvPr id="6" name="Shape 4"/>
          <p:cNvSpPr/>
          <p:nvPr/>
        </p:nvSpPr>
        <p:spPr>
          <a:xfrm>
            <a:off x="819150" y="1643329"/>
            <a:ext cx="0" cy="3440113"/>
          </a:xfrm>
          <a:prstGeom prst="line">
            <a:avLst/>
          </a:prstGeom>
          <a:noFill/>
          <a:ln w="1270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77900" y="1770329"/>
          <a:ext cx="10244667" cy="3194579"/>
        </p:xfrm>
        <a:graphic>
          <a:graphicData uri="http://schemas.openxmlformats.org/drawingml/2006/table">
            <a:tbl>
              <a:tblPr/>
              <a:tblGrid>
                <a:gridCol w="2458720">
                  <a:extLst>
                    <a:ext uri="{9D8B030D-6E8A-4147-A177-3AD203B41FA5}">
                      <a16:colId xmlns:a16="http://schemas.microsoft.com/office/drawing/2014/main" val="20000"/>
                    </a:ext>
                  </a:extLst>
                </a:gridCol>
                <a:gridCol w="3892973">
                  <a:extLst>
                    <a:ext uri="{9D8B030D-6E8A-4147-A177-3AD203B41FA5}">
                      <a16:colId xmlns:a16="http://schemas.microsoft.com/office/drawing/2014/main" val="20001"/>
                    </a:ext>
                  </a:extLst>
                </a:gridCol>
                <a:gridCol w="3892973">
                  <a:extLst>
                    <a:ext uri="{9D8B030D-6E8A-4147-A177-3AD203B41FA5}">
                      <a16:colId xmlns:a16="http://schemas.microsoft.com/office/drawing/2014/main" val="20002"/>
                    </a:ext>
                  </a:extLst>
                </a:gridCol>
              </a:tblGrid>
              <a:tr h="399322">
                <a:tc>
                  <a:txBody>
                    <a:bodyPr/>
                    <a:lstStyle/>
                    <a:p>
                      <a:pPr marL="0" indent="0">
                        <a:lnSpc>
                          <a:spcPts val="2030"/>
                        </a:lnSpc>
                        <a:buNone/>
                      </a:pP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tc>
                  <a:txBody>
                    <a:bodyPr/>
                    <a:lstStyle/>
                    <a:p>
                      <a:pPr marL="0" indent="0">
                        <a:lnSpc>
                          <a:spcPts val="2030"/>
                        </a:lnSpc>
                        <a:buNone/>
                      </a:pPr>
                      <a:r>
                        <a:rPr lang="en-US" sz="1450" b="1" dirty="0">
                          <a:solidFill>
                            <a:srgbClr val="B45309"/>
                          </a:solidFill>
                          <a:latin typeface="IBM Plex Sans" pitchFamily="34" charset="0"/>
                          <a:ea typeface="IBM Plex Sans" pitchFamily="34" charset="-122"/>
                          <a:cs typeface="IBM Plex Sans" pitchFamily="34" charset="-120"/>
                        </a:rPr>
                        <a:t>Server-Sent Events</a:t>
                      </a:r>
                      <a:endParaRPr lang="en-US" sz="1450" dirty="0">
                        <a:latin typeface="IBM Plex Sans" charset="0"/>
                        <a:ea typeface="IBM Plex Sans" charset="0"/>
                        <a:cs typeface="IBM Plex Sans" charset="0"/>
                      </a:endParaRPr>
                    </a:p>
                  </a:txBody>
                  <a:tcPr marL="64452" marR="64452" marT="64452" marB="64452">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tc>
                  <a:txBody>
                    <a:bodyPr/>
                    <a:lstStyle/>
                    <a:p>
                      <a:pPr marL="0" indent="0">
                        <a:lnSpc>
                          <a:spcPts val="2030"/>
                        </a:lnSpc>
                        <a:buNone/>
                      </a:pPr>
                      <a:r>
                        <a:rPr lang="en-US" sz="1450" b="1" dirty="0">
                          <a:solidFill>
                            <a:srgbClr val="2563EB"/>
                          </a:solidFill>
                          <a:latin typeface="IBM Plex Sans" pitchFamily="34" charset="0"/>
                          <a:ea typeface="IBM Plex Sans" pitchFamily="34" charset="-122"/>
                          <a:cs typeface="IBM Plex Sans" pitchFamily="34" charset="-120"/>
                        </a:rPr>
                        <a:t>WebSockets</a:t>
                      </a:r>
                      <a:endParaRPr lang="en-US" sz="1450" dirty="0">
                        <a:latin typeface="IBM Plex Sans" charset="0"/>
                        <a:ea typeface="IBM Plex Sans" charset="0"/>
                        <a:cs typeface="IBM Plex Sans" charset="0"/>
                      </a:endParaRPr>
                    </a:p>
                  </a:txBody>
                  <a:tcPr marL="64452" marR="64452" marT="64452" marB="64452">
                    <a:lnL w="12700" cap="flat" cmpd="sng" algn="ctr">
                      <a:solidFill>
                        <a:srgbClr val="BCBEBA"/>
                      </a:solidFill>
                      <a:prstDash val="solid"/>
                      <a:round/>
                      <a:headEnd type="none" w="med" len="med"/>
                      <a:tailEnd type="none" w="med" len="med"/>
                    </a:lnL>
                    <a:lnR w="12700" cap="flat" cmpd="sng" algn="ctr">
                      <a:solidFill>
                        <a:srgbClr val="BCBEBA"/>
                      </a:solidFill>
                      <a:prstDash val="solid"/>
                      <a:round/>
                      <a:headEnd type="none" w="med" len="med"/>
                      <a:tailEnd type="none" w="med" len="med"/>
                    </a:lnR>
                    <a:lnT w="0" cap="flat" cmpd="sng" algn="ctr">
                      <a:noFill/>
                    </a:lnT>
                    <a:lnB w="12700" cap="flat" cmpd="sng" algn="ctr">
                      <a:solidFill>
                        <a:srgbClr val="BCBEBA"/>
                      </a:solidFill>
                      <a:prstDash val="solid"/>
                      <a:round/>
                      <a:headEnd type="none" w="med" len="med"/>
                      <a:tailEnd type="none" w="med" len="med"/>
                    </a:lnB>
                    <a:solidFill>
                      <a:srgbClr val="ECEEE9"/>
                    </a:solidFill>
                  </a:tcPr>
                </a:tc>
                <a:extLst>
                  <a:ext uri="{0D108BD9-81ED-4DB2-BD59-A6C34878D82A}">
                    <a16:rowId xmlns:a16="http://schemas.microsoft.com/office/drawing/2014/main" val="10000"/>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Sentit</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Servidor cap a client</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Bidireccional, i alhora</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BCBEBA"/>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1"/>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Protocol</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HTTP, sense res més</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Propi, després del handshake</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2"/>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Dades</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Només text UTF-8</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Text i binari</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3"/>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Reconnexió</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Automàtica, i reprèn</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Te l'has d'escriure tu</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4"/>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API</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EventSource</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WebSocket</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5"/>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Proxies i firewalls</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Hi passa: és HTTP normal</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De vegades el bloquegen</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6"/>
                  </a:ext>
                </a:extLst>
              </a:tr>
              <a:tr h="399322">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Complexitat</a:t>
                      </a:r>
                      <a:endParaRPr lang="en-US" sz="1450" dirty="0">
                        <a:latin typeface="IBM Plex Sans" charset="0"/>
                        <a:ea typeface="IBM Plex Sans" charset="0"/>
                        <a:cs typeface="IBM Plex Sans" charset="0"/>
                      </a:endParaRPr>
                    </a:p>
                  </a:txBody>
                  <a:tcPr marL="64452" marR="64452" marT="64452" marB="64452">
                    <a:lnL w="0" cap="flat" cmpd="sng" algn="ctr">
                      <a:noFill/>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Baixa</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tc>
                  <a:txBody>
                    <a:bodyPr/>
                    <a:lstStyle/>
                    <a:p>
                      <a:pPr marL="0" indent="0">
                        <a:lnSpc>
                          <a:spcPts val="2030"/>
                        </a:lnSpc>
                        <a:buNone/>
                      </a:pPr>
                      <a:r>
                        <a:rPr lang="en-US" sz="1450" dirty="0">
                          <a:solidFill>
                            <a:srgbClr val="15202B"/>
                          </a:solidFill>
                          <a:latin typeface="IBM Plex Sans" pitchFamily="34" charset="0"/>
                          <a:ea typeface="IBM Plex Sans" pitchFamily="34" charset="-122"/>
                          <a:cs typeface="IBM Plex Sans" pitchFamily="34" charset="-120"/>
                        </a:rPr>
                        <a:t>Alta</a:t>
                      </a:r>
                      <a:endParaRPr lang="en-US" sz="1450" dirty="0">
                        <a:latin typeface="IBM Plex Sans" charset="0"/>
                        <a:ea typeface="IBM Plex Sans" charset="0"/>
                        <a:cs typeface="IBM Plex Sans" charset="0"/>
                      </a:endParaRPr>
                    </a:p>
                  </a:txBody>
                  <a:tcPr marL="64452" marR="64452" marT="64452" marB="64452">
                    <a:lnL w="12700" cap="flat" cmpd="sng" algn="ctr">
                      <a:solidFill>
                        <a:srgbClr val="C5C6C4"/>
                      </a:solidFill>
                      <a:prstDash val="solid"/>
                      <a:round/>
                      <a:headEnd type="none" w="med" len="med"/>
                      <a:tailEnd type="none" w="med" len="med"/>
                    </a:lnL>
                    <a:lnR w="12700" cap="flat" cmpd="sng" algn="ctr">
                      <a:solidFill>
                        <a:srgbClr val="C5C6C4"/>
                      </a:solidFill>
                      <a:prstDash val="solid"/>
                      <a:round/>
                      <a:headEnd type="none" w="med" len="med"/>
                      <a:tailEnd type="none" w="med" len="med"/>
                    </a:lnR>
                    <a:lnT w="12700" cap="flat" cmpd="sng" algn="ctr">
                      <a:solidFill>
                        <a:srgbClr val="C5C6C4"/>
                      </a:solidFill>
                      <a:prstDash val="solid"/>
                      <a:round/>
                      <a:headEnd type="none" w="med" len="med"/>
                      <a:tailEnd type="none" w="med" len="med"/>
                    </a:lnT>
                    <a:lnB w="12700" cap="flat" cmpd="sng" algn="ctr">
                      <a:solidFill>
                        <a:srgbClr val="C5C6C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Quan fer servir cadascun</a:t>
            </a:r>
            <a:endParaRPr lang="en-US" sz="3600" dirty="0"/>
          </a:p>
        </p:txBody>
      </p:sp>
      <p:sp>
        <p:nvSpPr>
          <p:cNvPr id="3" name="Shape 1"/>
          <p:cNvSpPr/>
          <p:nvPr/>
        </p:nvSpPr>
        <p:spPr>
          <a:xfrm>
            <a:off x="815975" y="1646504"/>
            <a:ext cx="5149850" cy="3102041"/>
          </a:xfrm>
          <a:prstGeom prst="roundRect">
            <a:avLst>
              <a:gd name="adj" fmla="val 3173"/>
            </a:avLst>
          </a:prstGeom>
          <a:solidFill>
            <a:srgbClr val="ECEEE9"/>
          </a:solidFill>
          <a:ln w="6350">
            <a:solidFill>
              <a:srgbClr val="D7DBD4"/>
            </a:solidFill>
            <a:prstDash val="solid"/>
          </a:ln>
        </p:spPr>
      </p:sp>
      <p:sp>
        <p:nvSpPr>
          <p:cNvPr id="4" name="Text 2"/>
          <p:cNvSpPr/>
          <p:nvPr/>
        </p:nvSpPr>
        <p:spPr>
          <a:xfrm>
            <a:off x="1121833" y="1952365"/>
            <a:ext cx="467427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09"/>
                </a:solidFill>
                <a:latin typeface="IBM Plex Sans" pitchFamily="34" charset="0"/>
                <a:ea typeface="IBM Plex Sans" pitchFamily="34" charset="-122"/>
                <a:cs typeface="IBM Plex Sans" pitchFamily="34" charset="-120"/>
              </a:rPr>
              <a:t>SSE</a:t>
            </a:r>
            <a:endParaRPr lang="en-US" sz="1800" dirty="0"/>
          </a:p>
        </p:txBody>
      </p:sp>
      <p:sp>
        <p:nvSpPr>
          <p:cNvPr id="5" name="Text 3"/>
          <p:cNvSpPr/>
          <p:nvPr/>
        </p:nvSpPr>
        <p:spPr>
          <a:xfrm>
            <a:off x="1121833" y="2379067"/>
            <a:ext cx="467427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5202B"/>
                </a:solidFill>
                <a:latin typeface="IBM Plex Sans" pitchFamily="34" charset="0"/>
                <a:ea typeface="IBM Plex Sans" pitchFamily="34" charset="-122"/>
                <a:cs typeface="IBM Plex Sans" pitchFamily="34" charset="-120"/>
              </a:rPr>
              <a:t>Quan </a:t>
            </a:r>
            <a:r>
              <a:rPr lang="en-US" sz="1500" b="1" dirty="0">
                <a:solidFill>
                  <a:srgbClr val="15202B"/>
                </a:solidFill>
                <a:latin typeface="IBM Plex Sans" pitchFamily="34" charset="0"/>
                <a:ea typeface="IBM Plex Sans" pitchFamily="34" charset="-122"/>
                <a:cs typeface="IBM Plex Sans" pitchFamily="34" charset="-120"/>
              </a:rPr>
              <a:t>només el servidor té novetats</a:t>
            </a:r>
            <a:r>
              <a:rPr lang="en-US" sz="1500" dirty="0">
                <a:solidFill>
                  <a:srgbClr val="15202B"/>
                </a:solidFill>
                <a:latin typeface="IBM Plex Sans" pitchFamily="34" charset="0"/>
                <a:ea typeface="IBM Plex Sans" pitchFamily="34" charset="-122"/>
                <a:cs typeface="IBM Plex Sans" pitchFamily="34" charset="-120"/>
              </a:rPr>
              <a:t>.</a:t>
            </a:r>
            <a:endParaRPr lang="en-US" sz="1500" dirty="0"/>
          </a:p>
        </p:txBody>
      </p:sp>
      <p:sp>
        <p:nvSpPr>
          <p:cNvPr id="6" name="Text 4"/>
          <p:cNvSpPr/>
          <p:nvPr/>
        </p:nvSpPr>
        <p:spPr>
          <a:xfrm>
            <a:off x="1200065" y="2798167"/>
            <a:ext cx="4588425" cy="1403218"/>
          </a:xfrm>
          <a:prstGeom prst="rect">
            <a:avLst/>
          </a:prstGeom>
          <a:noFill/>
          <a:ln/>
        </p:spPr>
        <p:txBody>
          <a:bodyPr wrap="square" lIns="0" tIns="0" rIns="0" bIns="0" rtlCol="0" anchor="t">
            <a:normAutofit/>
          </a:bodyPr>
          <a:lstStyle/>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Notificacions i avisos</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Dashboards i mètriques en viu</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Barres de progrés d'una tasca llarga</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Cotitzacions i marcadors</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Seguiment de logs</a:t>
            </a:r>
            <a:endParaRPr lang="en-US" sz="1400" dirty="0"/>
          </a:p>
        </p:txBody>
      </p:sp>
      <p:sp>
        <p:nvSpPr>
          <p:cNvPr id="7" name="Shape 5"/>
          <p:cNvSpPr/>
          <p:nvPr/>
        </p:nvSpPr>
        <p:spPr>
          <a:xfrm>
            <a:off x="6226175" y="1646504"/>
            <a:ext cx="5149850" cy="3102041"/>
          </a:xfrm>
          <a:prstGeom prst="roundRect">
            <a:avLst>
              <a:gd name="adj" fmla="val 3173"/>
            </a:avLst>
          </a:prstGeom>
          <a:solidFill>
            <a:srgbClr val="ECEEE9"/>
          </a:solidFill>
          <a:ln w="6350">
            <a:solidFill>
              <a:srgbClr val="D7DBD4"/>
            </a:solidFill>
            <a:prstDash val="solid"/>
          </a:ln>
        </p:spPr>
      </p:sp>
      <p:sp>
        <p:nvSpPr>
          <p:cNvPr id="8" name="Text 6"/>
          <p:cNvSpPr/>
          <p:nvPr/>
        </p:nvSpPr>
        <p:spPr>
          <a:xfrm>
            <a:off x="6532034" y="1952365"/>
            <a:ext cx="4674277"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563EB"/>
                </a:solidFill>
                <a:latin typeface="IBM Plex Sans" pitchFamily="34" charset="0"/>
                <a:ea typeface="IBM Plex Sans" pitchFamily="34" charset="-122"/>
                <a:cs typeface="IBM Plex Sans" pitchFamily="34" charset="-120"/>
              </a:rPr>
              <a:t>WebSockets</a:t>
            </a:r>
            <a:endParaRPr lang="en-US" sz="1800" dirty="0"/>
          </a:p>
        </p:txBody>
      </p:sp>
      <p:sp>
        <p:nvSpPr>
          <p:cNvPr id="9" name="Text 7"/>
          <p:cNvSpPr/>
          <p:nvPr/>
        </p:nvSpPr>
        <p:spPr>
          <a:xfrm>
            <a:off x="6532034" y="2379067"/>
            <a:ext cx="467427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5202B"/>
                </a:solidFill>
                <a:latin typeface="IBM Plex Sans" pitchFamily="34" charset="0"/>
                <a:ea typeface="IBM Plex Sans" pitchFamily="34" charset="-122"/>
                <a:cs typeface="IBM Plex Sans" pitchFamily="34" charset="-120"/>
              </a:rPr>
              <a:t>Quan </a:t>
            </a:r>
            <a:r>
              <a:rPr lang="en-US" sz="1500" b="1" dirty="0">
                <a:solidFill>
                  <a:srgbClr val="15202B"/>
                </a:solidFill>
                <a:latin typeface="IBM Plex Sans" pitchFamily="34" charset="0"/>
                <a:ea typeface="IBM Plex Sans" pitchFamily="34" charset="-122"/>
                <a:cs typeface="IBM Plex Sans" pitchFamily="34" charset="-120"/>
              </a:rPr>
              <a:t>el client també parla sovint</a:t>
            </a:r>
            <a:r>
              <a:rPr lang="en-US" sz="1500" dirty="0">
                <a:solidFill>
                  <a:srgbClr val="15202B"/>
                </a:solidFill>
                <a:latin typeface="IBM Plex Sans" pitchFamily="34" charset="0"/>
                <a:ea typeface="IBM Plex Sans" pitchFamily="34" charset="-122"/>
                <a:cs typeface="IBM Plex Sans" pitchFamily="34" charset="-120"/>
              </a:rPr>
              <a:t> i la latència importa.</a:t>
            </a:r>
            <a:endParaRPr lang="en-US" sz="1500" dirty="0"/>
          </a:p>
        </p:txBody>
      </p:sp>
      <p:sp>
        <p:nvSpPr>
          <p:cNvPr id="10" name="Text 8"/>
          <p:cNvSpPr/>
          <p:nvPr/>
        </p:nvSpPr>
        <p:spPr>
          <a:xfrm>
            <a:off x="6610266" y="3064867"/>
            <a:ext cx="4588425" cy="1403218"/>
          </a:xfrm>
          <a:prstGeom prst="rect">
            <a:avLst/>
          </a:prstGeom>
          <a:noFill/>
          <a:ln/>
        </p:spPr>
        <p:txBody>
          <a:bodyPr wrap="square" lIns="0" tIns="0" rIns="0" bIns="0" rtlCol="0" anchor="t">
            <a:normAutofit/>
          </a:bodyPr>
          <a:lstStyle/>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Xats i missatgeria</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Jocs multijugador</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Edició col·laborativa</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Trading i subhastes</a:t>
            </a:r>
            <a:endParaRPr lang="en-US" sz="1400" dirty="0"/>
          </a:p>
          <a:p>
            <a:pPr marL="175768" indent="-175768" algn="l">
              <a:lnSpc>
                <a:spcPts val="2170"/>
              </a:lnSpc>
              <a:buSzPct val="100000"/>
              <a:buChar char="•"/>
            </a:pPr>
            <a:r>
              <a:rPr lang="en-US" sz="1400" dirty="0">
                <a:solidFill>
                  <a:srgbClr val="4A5568"/>
                </a:solidFill>
                <a:latin typeface="IBM Plex Sans" pitchFamily="34" charset="0"/>
                <a:ea typeface="IBM Plex Sans" pitchFamily="34" charset="-122"/>
                <a:cs typeface="IBM Plex Sans" pitchFamily="34" charset="-120"/>
              </a:rPr>
              <a:t>Pissarres compartides</a:t>
            </a:r>
            <a:endParaRPr lang="en-US" sz="1400" dirty="0"/>
          </a:p>
        </p:txBody>
      </p:sp>
      <p:sp>
        <p:nvSpPr>
          <p:cNvPr id="11" name="Text 9"/>
          <p:cNvSpPr/>
          <p:nvPr/>
        </p:nvSpPr>
        <p:spPr>
          <a:xfrm>
            <a:off x="812800" y="5056522"/>
            <a:ext cx="10566400" cy="975254"/>
          </a:xfrm>
          <a:prstGeom prst="roundRect">
            <a:avLst>
              <a:gd name="adj" fmla="val 10418"/>
            </a:avLst>
          </a:prstGeom>
          <a:solidFill>
            <a:srgbClr val="1B2733"/>
          </a:solidFill>
          <a:ln/>
        </p:spPr>
        <p:txBody>
          <a:bodyPr wrap="square" lIns="224242" tIns="173442" rIns="0" bIns="148042" rtlCol="0" anchor="t">
            <a:normAutofit/>
          </a:bodyPr>
          <a:lstStyle/>
          <a:p>
            <a:pPr marL="0" indent="0" algn="l">
              <a:lnSpc>
                <a:spcPts val="2240"/>
              </a:lnSpc>
              <a:buNone/>
            </a:pPr>
            <a:r>
              <a:rPr lang="en-US" sz="1600" dirty="0">
                <a:solidFill>
                  <a:srgbClr val="E6EDF3"/>
                </a:solidFill>
                <a:latin typeface="IBM Plex Sans" pitchFamily="34" charset="0"/>
                <a:ea typeface="IBM Plex Sans" pitchFamily="34" charset="-122"/>
                <a:cs typeface="IBM Plex Sans" pitchFamily="34" charset="-120"/>
              </a:rPr>
              <a:t>Quan ChatGPT o Claude t'escriuen paraula a paraula, això és </a:t>
            </a:r>
            <a:r>
              <a:rPr lang="en-US" sz="1600" b="1" dirty="0">
                <a:solidFill>
                  <a:srgbClr val="F59E0B"/>
                </a:solidFill>
                <a:latin typeface="IBM Plex Sans" pitchFamily="34" charset="0"/>
                <a:ea typeface="IBM Plex Sans" pitchFamily="34" charset="-122"/>
                <a:cs typeface="IBM Plex Sans" pitchFamily="34" charset="-120"/>
              </a:rPr>
              <a:t>SSE</a:t>
            </a:r>
            <a:r>
              <a:rPr lang="en-US" sz="1600" dirty="0">
                <a:solidFill>
                  <a:srgbClr val="E6EDF3"/>
                </a:solidFill>
                <a:latin typeface="IBM Plex Sans" pitchFamily="34" charset="0"/>
                <a:ea typeface="IBM Plex Sans" pitchFamily="34" charset="-122"/>
                <a:cs typeface="IBM Plex Sans" pitchFamily="34" charset="-120"/>
              </a:rPr>
              <a:t>, no WebSockets. Només cal que parli un dels dos costats.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Què li fa això a l'arquitectura</a:t>
            </a:r>
            <a:endParaRPr lang="en-US" sz="3600" dirty="0"/>
          </a:p>
        </p:txBody>
      </p:sp>
      <p:sp>
        <p:nvSpPr>
          <p:cNvPr id="3" name="Text 1"/>
          <p:cNvSpPr/>
          <p:nvPr/>
        </p:nvSpPr>
        <p:spPr>
          <a:xfrm>
            <a:off x="812800" y="1617929"/>
            <a:ext cx="9810750"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5202B"/>
                </a:solidFill>
                <a:latin typeface="IBM Plex Sans" pitchFamily="34" charset="0"/>
                <a:ea typeface="IBM Plex Sans" pitchFamily="34" charset="-122"/>
                <a:cs typeface="IBM Plex Sans" pitchFamily="34" charset="-120"/>
              </a:rPr>
              <a:t>Tots dos mantenen una </a:t>
            </a:r>
            <a:r>
              <a:rPr lang="en-US" sz="1700" b="1" dirty="0">
                <a:solidFill>
                  <a:srgbClr val="15202B"/>
                </a:solidFill>
                <a:latin typeface="IBM Plex Sans" pitchFamily="34" charset="0"/>
                <a:ea typeface="IBM Plex Sans" pitchFamily="34" charset="-122"/>
                <a:cs typeface="IBM Plex Sans" pitchFamily="34" charset="-120"/>
              </a:rPr>
              <a:t>connexió oberta</a:t>
            </a:r>
            <a:r>
              <a:rPr lang="en-US" sz="1700" dirty="0">
                <a:solidFill>
                  <a:srgbClr val="15202B"/>
                </a:solidFill>
                <a:latin typeface="IBM Plex Sans" pitchFamily="34" charset="0"/>
                <a:ea typeface="IBM Plex Sans" pitchFamily="34" charset="-122"/>
                <a:cs typeface="IBM Plex Sans" pitchFamily="34" charset="-120"/>
              </a:rPr>
              <a:t>. El servidor deixa de ser sense estat: ara té estat </a:t>
            </a:r>
            <a:r>
              <a:rPr lang="en-US" sz="1700" i="1" dirty="0">
                <a:solidFill>
                  <a:srgbClr val="15202B"/>
                </a:solidFill>
                <a:latin typeface="IBM Plex Sans" pitchFamily="34" charset="0"/>
                <a:ea typeface="IBM Plex Sans" pitchFamily="34" charset="-122"/>
                <a:cs typeface="IBM Plex Sans" pitchFamily="34" charset="-120"/>
              </a:rPr>
              <a:t>per cada client connectat</a:t>
            </a:r>
            <a:r>
              <a:rPr lang="en-US" sz="1700" dirty="0">
                <a:solidFill>
                  <a:srgbClr val="15202B"/>
                </a:solidFill>
                <a:latin typeface="IBM Plex Sans" pitchFamily="34" charset="0"/>
                <a:ea typeface="IBM Plex Sans" pitchFamily="34" charset="-122"/>
                <a:cs typeface="IBM Plex Sans" pitchFamily="34" charset="-120"/>
              </a:rPr>
              <a:t>.</a:t>
            </a:r>
            <a:endParaRPr lang="en-US" sz="1700" dirty="0"/>
          </a:p>
        </p:txBody>
      </p:sp>
      <p:sp>
        <p:nvSpPr>
          <p:cNvPr id="4" name="Shape 2"/>
          <p:cNvSpPr/>
          <p:nvPr/>
        </p:nvSpPr>
        <p:spPr>
          <a:xfrm>
            <a:off x="815975" y="2504945"/>
            <a:ext cx="3380317" cy="1805517"/>
          </a:xfrm>
          <a:prstGeom prst="roundRect">
            <a:avLst>
              <a:gd name="adj" fmla="val 5451"/>
            </a:avLst>
          </a:prstGeom>
          <a:solidFill>
            <a:srgbClr val="ECEEE9"/>
          </a:solidFill>
          <a:ln w="6350">
            <a:solidFill>
              <a:srgbClr val="D7DBD4"/>
            </a:solidFill>
            <a:prstDash val="solid"/>
          </a:ln>
        </p:spPr>
      </p:sp>
      <p:sp>
        <p:nvSpPr>
          <p:cNvPr id="5" name="Text 3"/>
          <p:cNvSpPr/>
          <p:nvPr/>
        </p:nvSpPr>
        <p:spPr>
          <a:xfrm>
            <a:off x="1045633" y="2734605"/>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5202B"/>
                </a:solidFill>
                <a:latin typeface="IBM Plex Sans" pitchFamily="34" charset="0"/>
                <a:ea typeface="IBM Plex Sans" pitchFamily="34" charset="-122"/>
                <a:cs typeface="IBM Plex Sans" pitchFamily="34" charset="-120"/>
              </a:rPr>
              <a:t>Servidors replicats</a:t>
            </a:r>
            <a:endParaRPr lang="en-US" sz="1500" dirty="0"/>
          </a:p>
        </p:txBody>
      </p:sp>
      <p:sp>
        <p:nvSpPr>
          <p:cNvPr id="6" name="Text 4"/>
          <p:cNvSpPr/>
          <p:nvPr/>
        </p:nvSpPr>
        <p:spPr>
          <a:xfrm>
            <a:off x="1045633" y="3052105"/>
            <a:ext cx="3008630" cy="105410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Quin node té la connexió d'aquest usuari? Cal un bus de publicació i subscripció (Redis, Kafka) per difondre entre nodes.</a:t>
            </a:r>
            <a:endParaRPr lang="en-US" sz="1350" dirty="0"/>
          </a:p>
        </p:txBody>
      </p:sp>
      <p:sp>
        <p:nvSpPr>
          <p:cNvPr id="7" name="Shape 5"/>
          <p:cNvSpPr/>
          <p:nvPr/>
        </p:nvSpPr>
        <p:spPr>
          <a:xfrm>
            <a:off x="4405842" y="2504945"/>
            <a:ext cx="3380317" cy="1805517"/>
          </a:xfrm>
          <a:prstGeom prst="roundRect">
            <a:avLst>
              <a:gd name="adj" fmla="val 5451"/>
            </a:avLst>
          </a:prstGeom>
          <a:solidFill>
            <a:srgbClr val="ECEEE9"/>
          </a:solidFill>
          <a:ln w="6350">
            <a:solidFill>
              <a:srgbClr val="D7DBD4"/>
            </a:solidFill>
            <a:prstDash val="solid"/>
          </a:ln>
        </p:spPr>
      </p:sp>
      <p:sp>
        <p:nvSpPr>
          <p:cNvPr id="8" name="Text 6"/>
          <p:cNvSpPr/>
          <p:nvPr/>
        </p:nvSpPr>
        <p:spPr>
          <a:xfrm>
            <a:off x="4635500" y="2734605"/>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5202B"/>
                </a:solidFill>
                <a:latin typeface="IBM Plex Sans" pitchFamily="34" charset="0"/>
                <a:ea typeface="IBM Plex Sans" pitchFamily="34" charset="-122"/>
                <a:cs typeface="IBM Plex Sans" pitchFamily="34" charset="-120"/>
              </a:rPr>
              <a:t>Balancejador</a:t>
            </a:r>
            <a:endParaRPr lang="en-US" sz="1500" dirty="0"/>
          </a:p>
        </p:txBody>
      </p:sp>
      <p:sp>
        <p:nvSpPr>
          <p:cNvPr id="9" name="Text 7"/>
          <p:cNvSpPr/>
          <p:nvPr/>
        </p:nvSpPr>
        <p:spPr>
          <a:xfrm>
            <a:off x="4635500" y="3052105"/>
            <a:ext cx="3008630"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Ha de saber mantenir connexions llargues i enviar-te sempre al mateix node.</a:t>
            </a:r>
            <a:endParaRPr lang="en-US" sz="1350" dirty="0"/>
          </a:p>
        </p:txBody>
      </p:sp>
      <p:sp>
        <p:nvSpPr>
          <p:cNvPr id="10" name="Shape 8"/>
          <p:cNvSpPr/>
          <p:nvPr/>
        </p:nvSpPr>
        <p:spPr>
          <a:xfrm>
            <a:off x="7995709" y="2504945"/>
            <a:ext cx="3380317" cy="1805517"/>
          </a:xfrm>
          <a:prstGeom prst="roundRect">
            <a:avLst>
              <a:gd name="adj" fmla="val 5451"/>
            </a:avLst>
          </a:prstGeom>
          <a:solidFill>
            <a:srgbClr val="ECEEE9"/>
          </a:solidFill>
          <a:ln w="6350">
            <a:solidFill>
              <a:srgbClr val="D7DBD4"/>
            </a:solidFill>
            <a:prstDash val="solid"/>
          </a:ln>
        </p:spPr>
      </p:sp>
      <p:sp>
        <p:nvSpPr>
          <p:cNvPr id="11" name="Text 9"/>
          <p:cNvSpPr/>
          <p:nvPr/>
        </p:nvSpPr>
        <p:spPr>
          <a:xfrm>
            <a:off x="8225367" y="2734605"/>
            <a:ext cx="300863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5202B"/>
                </a:solidFill>
                <a:latin typeface="IBM Plex Sans" pitchFamily="34" charset="0"/>
                <a:ea typeface="IBM Plex Sans" pitchFamily="34" charset="-122"/>
                <a:cs typeface="IBM Plex Sans" pitchFamily="34" charset="-120"/>
              </a:rPr>
              <a:t>Límits reals</a:t>
            </a:r>
            <a:endParaRPr lang="en-US" sz="1500" dirty="0"/>
          </a:p>
        </p:txBody>
      </p:sp>
      <p:sp>
        <p:nvSpPr>
          <p:cNvPr id="12" name="Text 10"/>
          <p:cNvSpPr/>
          <p:nvPr/>
        </p:nvSpPr>
        <p:spPr>
          <a:xfrm>
            <a:off x="8225367" y="3052105"/>
            <a:ext cx="3008630" cy="1054100"/>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Cada connexió és memòria i un descriptor de fitxer. I els proxies tallen el que està inactiu: cal keepalive.</a:t>
            </a:r>
            <a:endParaRPr lang="en-US" sz="1350" dirty="0"/>
          </a:p>
        </p:txBody>
      </p:sp>
      <p:sp>
        <p:nvSpPr>
          <p:cNvPr id="13" name="Text 11"/>
          <p:cNvSpPr/>
          <p:nvPr/>
        </p:nvSpPr>
        <p:spPr>
          <a:xfrm>
            <a:off x="812800" y="4593034"/>
            <a:ext cx="10566400" cy="896541"/>
          </a:xfrm>
          <a:prstGeom prst="roundRect">
            <a:avLst>
              <a:gd name="adj" fmla="val 5666"/>
            </a:avLst>
          </a:prstGeom>
          <a:solidFill>
            <a:srgbClr val="ECEEE9"/>
          </a:solidFill>
          <a:ln/>
        </p:spPr>
        <p:txBody>
          <a:bodyPr wrap="square" lIns="277221" tIns="175621" rIns="0" bIns="150221"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Enllaç amb el tema 3:</a:t>
            </a:r>
            <a:r>
              <a:rPr lang="en-US" sz="1450" dirty="0">
                <a:solidFill>
                  <a:srgbClr val="4A5568"/>
                </a:solidFill>
                <a:latin typeface="IBM Plex Sans" pitchFamily="34" charset="0"/>
                <a:ea typeface="IBM Plex Sans" pitchFamily="34" charset="-122"/>
                <a:cs typeface="IBM Plex Sans" pitchFamily="34" charset="-120"/>
              </a:rPr>
              <a:t> és el mateix problema de </a:t>
            </a:r>
            <a:r>
              <a:rPr lang="en-US" sz="1450" i="1" dirty="0">
                <a:solidFill>
                  <a:srgbClr val="4A5568"/>
                </a:solidFill>
                <a:latin typeface="IBM Plex Sans" pitchFamily="34" charset="0"/>
                <a:ea typeface="IBM Plex Sans" pitchFamily="34" charset="-122"/>
                <a:cs typeface="IBM Plex Sans" pitchFamily="34" charset="-120"/>
              </a:rPr>
              <a:t>state maintenance</a:t>
            </a:r>
            <a:r>
              <a:rPr lang="en-US" sz="1450" dirty="0">
                <a:solidFill>
                  <a:srgbClr val="4A5568"/>
                </a:solidFill>
                <a:latin typeface="IBM Plex Sans" pitchFamily="34" charset="0"/>
                <a:ea typeface="IBM Plex Sans" pitchFamily="34" charset="-122"/>
                <a:cs typeface="IBM Plex Sans" pitchFamily="34" charset="-120"/>
              </a:rPr>
              <a:t> amb servidors replicats — session affinity o session migration — però ara amb connexions obertes, que no es poden migrar.</a:t>
            </a:r>
            <a:endParaRPr lang="en-US" sz="1450" dirty="0"/>
          </a:p>
        </p:txBody>
      </p:sp>
      <p:sp>
        <p:nvSpPr>
          <p:cNvPr id="14" name="Shape 12"/>
          <p:cNvSpPr/>
          <p:nvPr/>
        </p:nvSpPr>
        <p:spPr>
          <a:xfrm>
            <a:off x="812800" y="4593034"/>
            <a:ext cx="10566400" cy="896541"/>
          </a:xfrm>
          <a:custGeom>
            <a:avLst/>
            <a:gdLst/>
            <a:ahLst/>
            <a:cxnLst/>
            <a:rect l="l" t="t" r="r" b="b"/>
            <a:pathLst>
              <a:path w="10566400" h="896541">
                <a:moveTo>
                  <a:pt x="50800" y="896541"/>
                </a:moveTo>
                <a:lnTo>
                  <a:pt x="50800" y="896541"/>
                </a:lnTo>
                <a:arcTo wR="50800" hR="50800" stAng="5400000" swAng="5400000"/>
                <a:lnTo>
                  <a:pt x="0" y="50800"/>
                </a:lnTo>
                <a:arcTo wR="50800" hR="50800" stAng="10800000" swAng="5400000"/>
                <a:lnTo>
                  <a:pt x="50800" y="0"/>
                </a:lnTo>
                <a:arcTo wR="12700" hR="50800" stAng="16200000" swAng="-5400000"/>
                <a:lnTo>
                  <a:pt x="38100" y="845741"/>
                </a:lnTo>
                <a:arcTo wR="12700" hR="50800" stAng="10800000" swAng="-5400000"/>
                <a:close/>
              </a:path>
            </a:pathLst>
          </a:custGeom>
          <a:solidFill>
            <a:srgbClr val="15202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Seguretat</a:t>
            </a:r>
            <a:endParaRPr lang="en-US" sz="3600" dirty="0"/>
          </a:p>
        </p:txBody>
      </p:sp>
      <p:sp>
        <p:nvSpPr>
          <p:cNvPr id="3" name="Shape 1"/>
          <p:cNvSpPr/>
          <p:nvPr/>
        </p:nvSpPr>
        <p:spPr>
          <a:xfrm>
            <a:off x="812800" y="1617929"/>
            <a:ext cx="10566400" cy="1319477"/>
          </a:xfrm>
          <a:prstGeom prst="roundRect">
            <a:avLst>
              <a:gd name="adj" fmla="val 7700"/>
            </a:avLst>
          </a:prstGeom>
          <a:solidFill>
            <a:srgbClr val="1B2733"/>
          </a:solidFill>
          <a:ln/>
        </p:spPr>
      </p:sp>
      <p:sp>
        <p:nvSpPr>
          <p:cNvPr id="4" name="Shape 2"/>
          <p:cNvSpPr/>
          <p:nvPr/>
        </p:nvSpPr>
        <p:spPr>
          <a:xfrm>
            <a:off x="812800" y="1617929"/>
            <a:ext cx="10566400" cy="1319477"/>
          </a:xfrm>
          <a:custGeom>
            <a:avLst/>
            <a:gdLst/>
            <a:ahLst/>
            <a:cxnLst/>
            <a:rect l="l" t="t" r="r" b="b"/>
            <a:pathLst>
              <a:path w="10566400" h="1319477">
                <a:moveTo>
                  <a:pt x="101600" y="1319477"/>
                </a:moveTo>
                <a:lnTo>
                  <a:pt x="101600" y="1319477"/>
                </a:lnTo>
                <a:arcTo wR="101600" hR="101600" stAng="5400000" swAng="5400000"/>
                <a:lnTo>
                  <a:pt x="0" y="101600"/>
                </a:lnTo>
                <a:arcTo wR="101600" hR="101600" stAng="10800000" swAng="5400000"/>
                <a:lnTo>
                  <a:pt x="101600" y="0"/>
                </a:lnTo>
                <a:arcTo wR="50800" hR="101600" stAng="16200000" swAng="-5400000"/>
                <a:lnTo>
                  <a:pt x="50800" y="1217877"/>
                </a:lnTo>
                <a:arcTo wR="50800" hR="101600" stAng="10800000" swAng="-5400000"/>
                <a:close/>
              </a:path>
            </a:pathLst>
          </a:custGeom>
          <a:solidFill>
            <a:srgbClr val="F59E0B"/>
          </a:solidFill>
          <a:ln/>
        </p:spPr>
      </p:sp>
      <p:sp>
        <p:nvSpPr>
          <p:cNvPr id="5" name="Text 3"/>
          <p:cNvSpPr/>
          <p:nvPr/>
        </p:nvSpPr>
        <p:spPr>
          <a:xfrm>
            <a:off x="1117600" y="1871929"/>
            <a:ext cx="10307828"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59E0B"/>
                </a:solidFill>
                <a:latin typeface="IBM Plex Sans" pitchFamily="34" charset="0"/>
                <a:ea typeface="IBM Plex Sans" pitchFamily="34" charset="-122"/>
                <a:cs typeface="IBM Plex Sans" pitchFamily="34" charset="-120"/>
              </a:rPr>
              <a:t>El handshake de WebSocket no el protegeix la Same-Origin Policy</a:t>
            </a:r>
            <a:endParaRPr lang="en-US" sz="1700" dirty="0"/>
          </a:p>
        </p:txBody>
      </p:sp>
      <p:sp>
        <p:nvSpPr>
          <p:cNvPr id="6" name="Text 4"/>
          <p:cNvSpPr/>
          <p:nvPr/>
        </p:nvSpPr>
        <p:spPr>
          <a:xfrm>
            <a:off x="1117600" y="2130958"/>
            <a:ext cx="10307828" cy="577850"/>
          </a:xfrm>
          <a:prstGeom prst="rect">
            <a:avLst/>
          </a:prstGeom>
          <a:noFill/>
          <a:ln/>
        </p:spPr>
        <p:txBody>
          <a:bodyPr wrap="square" lIns="0" tIns="0" rIns="0" bIns="0" rtlCol="0" anchor="t">
            <a:normAutofit/>
          </a:bodyPr>
          <a:lstStyle/>
          <a:p>
            <a:pPr marL="0" indent="0" algn="l">
              <a:lnSpc>
                <a:spcPts val="2175"/>
              </a:lnSpc>
              <a:buNone/>
            </a:pPr>
            <a:r>
              <a:rPr lang="en-US" sz="1450" dirty="0">
                <a:solidFill>
                  <a:srgbClr val="E6EDF3"/>
                </a:solidFill>
                <a:latin typeface="IBM Plex Sans" pitchFamily="34" charset="0"/>
                <a:ea typeface="IBM Plex Sans" pitchFamily="34" charset="-122"/>
                <a:cs typeface="IBM Plex Sans" pitchFamily="34" charset="-120"/>
              </a:rPr>
              <a:t>Qualsevol pàgina pot obrir un WebSocket cap al teu servidor, i les cookies hi viatgen. El servidor </a:t>
            </a:r>
            <a:r>
              <a:rPr lang="en-US" sz="1450" b="1" dirty="0">
                <a:solidFill>
                  <a:srgbClr val="E6EDF3"/>
                </a:solidFill>
                <a:latin typeface="IBM Plex Sans" pitchFamily="34" charset="0"/>
                <a:ea typeface="IBM Plex Sans" pitchFamily="34" charset="-122"/>
                <a:cs typeface="IBM Plex Sans" pitchFamily="34" charset="-120"/>
              </a:rPr>
              <a:t>ha de validar la capçalera Origin</a:t>
            </a:r>
            <a:r>
              <a:rPr lang="en-US" sz="1450" dirty="0">
                <a:solidFill>
                  <a:srgbClr val="E6EDF3"/>
                </a:solidFill>
                <a:latin typeface="IBM Plex Sans" pitchFamily="34" charset="0"/>
                <a:ea typeface="IBM Plex Sans" pitchFamily="34" charset="-122"/>
                <a:cs typeface="IBM Plex Sans" pitchFamily="34" charset="-120"/>
              </a:rPr>
              <a:t>, o tens </a:t>
            </a:r>
            <a:r>
              <a:rPr lang="en-US" sz="1450" i="1" dirty="0">
                <a:solidFill>
                  <a:srgbClr val="E6EDF3"/>
                </a:solidFill>
                <a:latin typeface="IBM Plex Sans" pitchFamily="34" charset="0"/>
                <a:ea typeface="IBM Plex Sans" pitchFamily="34" charset="-122"/>
                <a:cs typeface="IBM Plex Sans" pitchFamily="34" charset="-120"/>
              </a:rPr>
              <a:t>Cross-Site WebSocket Hijacking</a:t>
            </a:r>
            <a:r>
              <a:rPr lang="en-US" sz="1450" dirty="0">
                <a:solidFill>
                  <a:srgbClr val="E6EDF3"/>
                </a:solidFill>
                <a:latin typeface="IBM Plex Sans" pitchFamily="34" charset="0"/>
                <a:ea typeface="IBM Plex Sans" pitchFamily="34" charset="-122"/>
                <a:cs typeface="IBM Plex Sans" pitchFamily="34" charset="-120"/>
              </a:rPr>
              <a:t>.</a:t>
            </a:r>
            <a:endParaRPr lang="en-US" sz="1450" dirty="0"/>
          </a:p>
        </p:txBody>
      </p:sp>
      <p:sp>
        <p:nvSpPr>
          <p:cNvPr id="7" name="Shape 5"/>
          <p:cNvSpPr/>
          <p:nvPr/>
        </p:nvSpPr>
        <p:spPr>
          <a:xfrm>
            <a:off x="815975" y="3219983"/>
            <a:ext cx="3380317" cy="1540669"/>
          </a:xfrm>
          <a:prstGeom prst="roundRect">
            <a:avLst>
              <a:gd name="adj" fmla="val 6388"/>
            </a:avLst>
          </a:prstGeom>
          <a:solidFill>
            <a:srgbClr val="ECEEE9"/>
          </a:solidFill>
          <a:ln w="6350">
            <a:solidFill>
              <a:srgbClr val="D7DBD4"/>
            </a:solidFill>
            <a:prstDash val="solid"/>
          </a:ln>
        </p:spPr>
      </p:sp>
      <p:sp>
        <p:nvSpPr>
          <p:cNvPr id="8" name="Text 6"/>
          <p:cNvSpPr/>
          <p:nvPr/>
        </p:nvSpPr>
        <p:spPr>
          <a:xfrm>
            <a:off x="1045633" y="3449638"/>
            <a:ext cx="3008630" cy="246327"/>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5202B"/>
                </a:solidFill>
                <a:latin typeface="IBM Plex Sans" pitchFamily="34" charset="0"/>
                <a:ea typeface="IBM Plex Sans" pitchFamily="34" charset="-122"/>
                <a:cs typeface="IBM Plex Sans" pitchFamily="34" charset="-120"/>
              </a:rPr>
              <a:t>Sempre xifrat</a:t>
            </a:r>
            <a:endParaRPr lang="en-US" sz="1450" dirty="0"/>
          </a:p>
        </p:txBody>
      </p:sp>
      <p:sp>
        <p:nvSpPr>
          <p:cNvPr id="9" name="Text 7"/>
          <p:cNvSpPr/>
          <p:nvPr/>
        </p:nvSpPr>
        <p:spPr>
          <a:xfrm>
            <a:off x="1045633" y="3759467"/>
            <a:ext cx="3008630"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wss:// i HTTPS. En clar, qualsevol xarxa pel mig ho llegeix i ho pot modificar.</a:t>
            </a:r>
            <a:endParaRPr lang="en-US" sz="1350" dirty="0"/>
          </a:p>
        </p:txBody>
      </p:sp>
      <p:sp>
        <p:nvSpPr>
          <p:cNvPr id="10" name="Shape 8"/>
          <p:cNvSpPr/>
          <p:nvPr/>
        </p:nvSpPr>
        <p:spPr>
          <a:xfrm>
            <a:off x="4405842" y="3219983"/>
            <a:ext cx="3380317" cy="1540669"/>
          </a:xfrm>
          <a:prstGeom prst="roundRect">
            <a:avLst>
              <a:gd name="adj" fmla="val 6388"/>
            </a:avLst>
          </a:prstGeom>
          <a:solidFill>
            <a:srgbClr val="ECEEE9"/>
          </a:solidFill>
          <a:ln w="6350">
            <a:solidFill>
              <a:srgbClr val="D7DBD4"/>
            </a:solidFill>
            <a:prstDash val="solid"/>
          </a:ln>
        </p:spPr>
      </p:sp>
      <p:sp>
        <p:nvSpPr>
          <p:cNvPr id="11" name="Text 9"/>
          <p:cNvSpPr/>
          <p:nvPr/>
        </p:nvSpPr>
        <p:spPr>
          <a:xfrm>
            <a:off x="4635500" y="3449638"/>
            <a:ext cx="3008630" cy="246327"/>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5202B"/>
                </a:solidFill>
                <a:latin typeface="IBM Plex Sans" pitchFamily="34" charset="0"/>
                <a:ea typeface="IBM Plex Sans" pitchFamily="34" charset="-122"/>
                <a:cs typeface="IBM Plex Sans" pitchFamily="34" charset="-120"/>
              </a:rPr>
              <a:t>Autentica al handshake</a:t>
            </a:r>
            <a:endParaRPr lang="en-US" sz="1450" dirty="0"/>
          </a:p>
        </p:txBody>
      </p:sp>
      <p:sp>
        <p:nvSpPr>
          <p:cNvPr id="12" name="Text 10"/>
          <p:cNvSpPr/>
          <p:nvPr/>
        </p:nvSpPr>
        <p:spPr>
          <a:xfrm>
            <a:off x="4635500" y="3759467"/>
            <a:ext cx="3008630"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És l'únic moment on encara parles HTTP. Després no hi ha capçaleres on posar res.</a:t>
            </a:r>
            <a:endParaRPr lang="en-US" sz="1350" dirty="0"/>
          </a:p>
        </p:txBody>
      </p:sp>
      <p:sp>
        <p:nvSpPr>
          <p:cNvPr id="13" name="Shape 11"/>
          <p:cNvSpPr/>
          <p:nvPr/>
        </p:nvSpPr>
        <p:spPr>
          <a:xfrm>
            <a:off x="7995709" y="3219983"/>
            <a:ext cx="3380317" cy="1540669"/>
          </a:xfrm>
          <a:prstGeom prst="roundRect">
            <a:avLst>
              <a:gd name="adj" fmla="val 6388"/>
            </a:avLst>
          </a:prstGeom>
          <a:solidFill>
            <a:srgbClr val="ECEEE9"/>
          </a:solidFill>
          <a:ln w="6350">
            <a:solidFill>
              <a:srgbClr val="D7DBD4"/>
            </a:solidFill>
            <a:prstDash val="solid"/>
          </a:ln>
        </p:spPr>
      </p:sp>
      <p:sp>
        <p:nvSpPr>
          <p:cNvPr id="14" name="Text 12"/>
          <p:cNvSpPr/>
          <p:nvPr/>
        </p:nvSpPr>
        <p:spPr>
          <a:xfrm>
            <a:off x="8225367" y="3449638"/>
            <a:ext cx="3008630" cy="246327"/>
          </a:xfrm>
          <a:prstGeom prst="rect">
            <a:avLst/>
          </a:prstGeom>
          <a:noFill/>
          <a:ln/>
        </p:spPr>
        <p:txBody>
          <a:bodyPr wrap="square" lIns="0" tIns="0" rIns="0" bIns="0" rtlCol="0" anchor="t">
            <a:normAutofit/>
          </a:bodyPr>
          <a:lstStyle/>
          <a:p>
            <a:pPr marL="0" indent="0" algn="l">
              <a:lnSpc>
                <a:spcPts val="1740"/>
              </a:lnSpc>
              <a:buNone/>
            </a:pPr>
            <a:r>
              <a:rPr lang="en-US" sz="1450" b="1" dirty="0">
                <a:solidFill>
                  <a:srgbClr val="15202B"/>
                </a:solidFill>
                <a:latin typeface="IBM Plex Sans" pitchFamily="34" charset="0"/>
                <a:ea typeface="IBM Plex Sans" pitchFamily="34" charset="-122"/>
                <a:cs typeface="IBM Plex Sans" pitchFamily="34" charset="-120"/>
              </a:rPr>
              <a:t>SSE sí que passa per CORS</a:t>
            </a:r>
            <a:endParaRPr lang="en-US" sz="1450" dirty="0"/>
          </a:p>
        </p:txBody>
      </p:sp>
      <p:sp>
        <p:nvSpPr>
          <p:cNvPr id="15" name="Text 13"/>
          <p:cNvSpPr/>
          <p:nvPr/>
        </p:nvSpPr>
        <p:spPr>
          <a:xfrm>
            <a:off x="8225367" y="3759467"/>
            <a:ext cx="3008630"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4A5568"/>
                </a:solidFill>
                <a:latin typeface="IBM Plex Sans" pitchFamily="34" charset="0"/>
                <a:ea typeface="IBM Plex Sans" pitchFamily="34" charset="-122"/>
                <a:cs typeface="IBM Plex Sans" pitchFamily="34" charset="-120"/>
              </a:rPr>
              <a:t>Però EventSource no deixa posar capçaleres: l'autenticació va per cookie.</a:t>
            </a:r>
            <a:endParaRPr lang="en-US" sz="1350" dirty="0"/>
          </a:p>
        </p:txBody>
      </p:sp>
      <p:sp>
        <p:nvSpPr>
          <p:cNvPr id="16" name="Text 14"/>
          <p:cNvSpPr/>
          <p:nvPr/>
        </p:nvSpPr>
        <p:spPr>
          <a:xfrm>
            <a:off x="812800" y="5043227"/>
            <a:ext cx="10566400" cy="604507"/>
          </a:xfrm>
          <a:prstGeom prst="roundRect">
            <a:avLst>
              <a:gd name="adj" fmla="val 8404"/>
            </a:avLst>
          </a:prstGeom>
          <a:solidFill>
            <a:srgbClr val="ECEEE9"/>
          </a:solidFill>
          <a:ln/>
        </p:spPr>
        <p:txBody>
          <a:bodyPr wrap="square" lIns="277221" tIns="162921" rIns="0" bIns="137521"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 el de sempre del tema 6: </a:t>
            </a:r>
            <a:r>
              <a:rPr lang="en-US" sz="1400" b="1" dirty="0">
                <a:solidFill>
                  <a:srgbClr val="15202B"/>
                </a:solidFill>
                <a:latin typeface="IBM Plex Sans" pitchFamily="34" charset="0"/>
                <a:ea typeface="IBM Plex Sans" pitchFamily="34" charset="-122"/>
                <a:cs typeface="IBM Plex Sans" pitchFamily="34" charset="-120"/>
              </a:rPr>
              <a:t>valida cada missatge al servidor</a:t>
            </a:r>
            <a:r>
              <a:rPr lang="en-US" sz="1400" dirty="0">
                <a:solidFill>
                  <a:srgbClr val="4A5568"/>
                </a:solidFill>
                <a:latin typeface="IBM Plex Sans" pitchFamily="34" charset="0"/>
                <a:ea typeface="IBM Plex Sans" pitchFamily="34" charset="-122"/>
                <a:cs typeface="IBM Plex Sans" pitchFamily="34" charset="-120"/>
              </a:rPr>
              <a:t>. Una connexió oberta no és una connexió de confiança.</a:t>
            </a:r>
            <a:endParaRPr lang="en-US" sz="1400" dirty="0"/>
          </a:p>
        </p:txBody>
      </p:sp>
      <p:sp>
        <p:nvSpPr>
          <p:cNvPr id="17" name="Shape 15"/>
          <p:cNvSpPr/>
          <p:nvPr/>
        </p:nvSpPr>
        <p:spPr>
          <a:xfrm>
            <a:off x="812800" y="5043227"/>
            <a:ext cx="10566400" cy="604507"/>
          </a:xfrm>
          <a:custGeom>
            <a:avLst/>
            <a:gdLst/>
            <a:ahLst/>
            <a:cxnLst/>
            <a:rect l="l" t="t" r="r" b="b"/>
            <a:pathLst>
              <a:path w="10566400" h="604507">
                <a:moveTo>
                  <a:pt x="50800" y="604507"/>
                </a:moveTo>
                <a:lnTo>
                  <a:pt x="50800" y="604507"/>
                </a:lnTo>
                <a:arcTo wR="50800" hR="50800" stAng="5400000" swAng="5400000"/>
                <a:lnTo>
                  <a:pt x="0" y="50800"/>
                </a:lnTo>
                <a:arcTo wR="50800" hR="50800" stAng="10800000" swAng="5400000"/>
                <a:lnTo>
                  <a:pt x="50800" y="0"/>
                </a:lnTo>
                <a:arcTo wR="12700" hR="50800" stAng="16200000" swAng="-5400000"/>
                <a:lnTo>
                  <a:pt x="38100" y="553707"/>
                </a:lnTo>
                <a:arcTo wR="12700" hR="50800" stAng="10800000" swAng="-5400000"/>
                <a:close/>
              </a:path>
            </a:pathLst>
          </a:custGeom>
          <a:solidFill>
            <a:srgbClr val="B45309"/>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02B"/>
        </a:solidFill>
        <a:effectLst/>
      </p:bgPr>
    </p:bg>
    <p:spTree>
      <p:nvGrpSpPr>
        <p:cNvPr id="1" name=""/>
        <p:cNvGrpSpPr/>
        <p:nvPr/>
      </p:nvGrpSpPr>
      <p:grpSpPr>
        <a:xfrm>
          <a:off x="0" y="0"/>
          <a:ext cx="0" cy="0"/>
          <a:chOff x="0" y="0"/>
          <a:chExt cx="0" cy="0"/>
        </a:xfrm>
      </p:grpSpPr>
      <p:sp>
        <p:nvSpPr>
          <p:cNvPr id="2" name="Text 0"/>
          <p:cNvSpPr/>
          <p:nvPr/>
        </p:nvSpPr>
        <p:spPr>
          <a:xfrm>
            <a:off x="812800" y="1678651"/>
            <a:ext cx="10883392" cy="256514"/>
          </a:xfrm>
          <a:prstGeom prst="rect">
            <a:avLst/>
          </a:prstGeom>
          <a:noFill/>
          <a:ln/>
        </p:spPr>
        <p:txBody>
          <a:bodyPr wrap="square" lIns="0" tIns="0" rIns="0" bIns="0" rtlCol="0" anchor="t">
            <a:normAutofit/>
          </a:bodyPr>
          <a:lstStyle/>
          <a:p>
            <a:pPr marL="0" indent="0" algn="l">
              <a:lnSpc>
                <a:spcPts val="1820"/>
              </a:lnSpc>
              <a:buNone/>
            </a:pPr>
            <a:r>
              <a:rPr lang="en-US" sz="1300" kern="0" spc="105" dirty="0">
                <a:solidFill>
                  <a:srgbClr val="F59E0B"/>
                </a:solidFill>
                <a:latin typeface="JetBrains Mono" pitchFamily="49" charset="0"/>
                <a:ea typeface="JetBrains Mono" pitchFamily="49" charset="-122"/>
                <a:cs typeface="JetBrains Mono" pitchFamily="49" charset="-120"/>
              </a:rPr>
              <a:t>PER EMPORTAR-SE</a:t>
            </a:r>
            <a:endParaRPr lang="en-US" sz="1300" dirty="0"/>
          </a:p>
        </p:txBody>
      </p:sp>
      <p:sp>
        <p:nvSpPr>
          <p:cNvPr id="3" name="Text 1"/>
          <p:cNvSpPr/>
          <p:nvPr/>
        </p:nvSpPr>
        <p:spPr>
          <a:xfrm>
            <a:off x="812800" y="2265363"/>
            <a:ext cx="10464800" cy="848254"/>
          </a:xfrm>
          <a:prstGeom prst="rect">
            <a:avLst/>
          </a:prstGeom>
          <a:noFill/>
          <a:ln/>
        </p:spPr>
        <p:txBody>
          <a:bodyPr wrap="square" lIns="0" tIns="0" rIns="0" bIns="0" rtlCol="0" anchor="t">
            <a:normAutofit/>
          </a:bodyPr>
          <a:lstStyle/>
          <a:p>
            <a:pPr marL="0" indent="0" algn="l">
              <a:lnSpc>
                <a:spcPts val="3240"/>
              </a:lnSpc>
              <a:buNone/>
            </a:pPr>
            <a:r>
              <a:rPr lang="en-US" sz="2400" dirty="0">
                <a:solidFill>
                  <a:srgbClr val="F7F8F6"/>
                </a:solidFill>
                <a:latin typeface="IBM Plex Sans" pitchFamily="34" charset="0"/>
                <a:ea typeface="IBM Plex Sans" pitchFamily="34" charset="-122"/>
                <a:cs typeface="IBM Plex Sans" pitchFamily="34" charset="-120"/>
              </a:rPr>
              <a:t>Si només ha de parlar el servidor, fes servir </a:t>
            </a:r>
            <a:r>
              <a:rPr lang="en-US" sz="2400" b="1" dirty="0">
                <a:solidFill>
                  <a:srgbClr val="F59E0B"/>
                </a:solidFill>
                <a:latin typeface="IBM Plex Sans" pitchFamily="34" charset="0"/>
                <a:ea typeface="IBM Plex Sans" pitchFamily="34" charset="-122"/>
                <a:cs typeface="IBM Plex Sans" pitchFamily="34" charset="-120"/>
              </a:rPr>
              <a:t>SSE</a:t>
            </a:r>
            <a:r>
              <a:rPr lang="en-US" sz="2400" dirty="0">
                <a:solidFill>
                  <a:srgbClr val="F7F8F6"/>
                </a:solidFill>
                <a:latin typeface="IBM Plex Sans" pitchFamily="34" charset="0"/>
                <a:ea typeface="IBM Plex Sans" pitchFamily="34" charset="-122"/>
                <a:cs typeface="IBM Plex Sans" pitchFamily="34" charset="-120"/>
              </a:rPr>
              <a:t>. És més simple, passa per tot arreu i la reconnexió ve de regal.</a:t>
            </a:r>
            <a:endParaRPr lang="en-US" sz="2400" dirty="0"/>
          </a:p>
        </p:txBody>
      </p:sp>
      <p:sp>
        <p:nvSpPr>
          <p:cNvPr id="4" name="Text 2"/>
          <p:cNvSpPr/>
          <p:nvPr/>
        </p:nvSpPr>
        <p:spPr>
          <a:xfrm>
            <a:off x="812800" y="3316821"/>
            <a:ext cx="10464800" cy="848254"/>
          </a:xfrm>
          <a:prstGeom prst="rect">
            <a:avLst/>
          </a:prstGeom>
          <a:noFill/>
          <a:ln/>
        </p:spPr>
        <p:txBody>
          <a:bodyPr wrap="square" lIns="0" tIns="0" rIns="0" bIns="0" rtlCol="0" anchor="t">
            <a:normAutofit/>
          </a:bodyPr>
          <a:lstStyle/>
          <a:p>
            <a:pPr marL="0" indent="0" algn="l">
              <a:lnSpc>
                <a:spcPts val="3240"/>
              </a:lnSpc>
              <a:buNone/>
            </a:pPr>
            <a:r>
              <a:rPr lang="en-US" sz="2400" dirty="0">
                <a:solidFill>
                  <a:srgbClr val="F7F8F6"/>
                </a:solidFill>
                <a:latin typeface="IBM Plex Sans" pitchFamily="34" charset="0"/>
                <a:ea typeface="IBM Plex Sans" pitchFamily="34" charset="-122"/>
                <a:cs typeface="IBM Plex Sans" pitchFamily="34" charset="-120"/>
              </a:rPr>
              <a:t>Si han de parlar tots dos, fes servir </a:t>
            </a:r>
            <a:r>
              <a:rPr lang="en-US" sz="2400" b="1" dirty="0">
                <a:solidFill>
                  <a:srgbClr val="60A5FA"/>
                </a:solidFill>
                <a:latin typeface="IBM Plex Sans" pitchFamily="34" charset="0"/>
                <a:ea typeface="IBM Plex Sans" pitchFamily="34" charset="-122"/>
                <a:cs typeface="IBM Plex Sans" pitchFamily="34" charset="-120"/>
              </a:rPr>
              <a:t>WebSockets</a:t>
            </a:r>
            <a:r>
              <a:rPr lang="en-US" sz="2400" dirty="0">
                <a:solidFill>
                  <a:srgbClr val="F7F8F6"/>
                </a:solidFill>
                <a:latin typeface="IBM Plex Sans" pitchFamily="34" charset="0"/>
                <a:ea typeface="IBM Plex Sans" pitchFamily="34" charset="-122"/>
                <a:cs typeface="IBM Plex Sans" pitchFamily="34" charset="-120"/>
              </a:rPr>
              <a:t>, i assumeix que el protocol de missatges te'l dissenyes tu.</a:t>
            </a:r>
            <a:endParaRPr lang="en-US" sz="2400" dirty="0"/>
          </a:p>
        </p:txBody>
      </p:sp>
      <p:pic>
        <p:nvPicPr>
          <p:cNvPr id="5" name="Image 0" descr="line"/>
          <p:cNvPicPr>
            <a:picLocks noChangeAspect="1"/>
          </p:cNvPicPr>
          <p:nvPr/>
        </p:nvPicPr>
        <p:blipFill>
          <a:blip r:embed="rId3"/>
          <a:srcRect t="-16669" b="-16669"/>
          <a:stretch/>
        </p:blipFill>
        <p:spPr>
          <a:xfrm>
            <a:off x="812800" y="4495273"/>
            <a:ext cx="10566400" cy="8467"/>
          </a:xfrm>
          <a:prstGeom prst="rect">
            <a:avLst/>
          </a:prstGeom>
        </p:spPr>
      </p:pic>
      <p:sp>
        <p:nvSpPr>
          <p:cNvPr id="6" name="Text 3"/>
          <p:cNvSpPr/>
          <p:nvPr/>
        </p:nvSpPr>
        <p:spPr>
          <a:xfrm>
            <a:off x="812800" y="4859338"/>
            <a:ext cx="11379200"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9FB0C0"/>
                </a:solidFill>
                <a:latin typeface="IBM Plex Sans" pitchFamily="34" charset="0"/>
                <a:ea typeface="IBM Plex Sans" pitchFamily="34" charset="-122"/>
                <a:cs typeface="IBM Plex Sans" pitchFamily="34" charset="-120"/>
              </a:rPr>
              <a:t>El que et costarà no serà el codi del navegador: serà que el servidor ha deixat de ser sense estat.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5202B"/>
                </a:solidFill>
                <a:latin typeface="IBM Plex Sans" pitchFamily="34" charset="0"/>
                <a:ea typeface="IBM Plex Sans" pitchFamily="34" charset="-122"/>
                <a:cs typeface="IBM Plex Sans" pitchFamily="34" charset="-120"/>
              </a:rPr>
              <a:t>Referències</a:t>
            </a:r>
            <a:endParaRPr lang="en-US" sz="3600" dirty="0"/>
          </a:p>
        </p:txBody>
      </p:sp>
      <p:sp>
        <p:nvSpPr>
          <p:cNvPr id="3" name="Text 1"/>
          <p:cNvSpPr/>
          <p:nvPr/>
        </p:nvSpPr>
        <p:spPr>
          <a:xfrm>
            <a:off x="815975" y="1646504"/>
            <a:ext cx="10560050" cy="615487"/>
          </a:xfrm>
          <a:prstGeom prst="roundRect">
            <a:avLst>
              <a:gd name="adj" fmla="val 11865"/>
            </a:avLst>
          </a:prstGeom>
          <a:solidFill>
            <a:srgbClr val="ECEEE9"/>
          </a:solidFill>
          <a:ln w="6350">
            <a:solidFill>
              <a:srgbClr val="D7DBD4"/>
            </a:solidFill>
            <a:prstDash val="solid"/>
          </a:ln>
        </p:spPr>
        <p:txBody>
          <a:bodyPr wrap="square" lIns="208270" tIns="157470" rIns="0" bIns="132070"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RFC 6455</a:t>
            </a:r>
            <a:r>
              <a:rPr lang="en-US" sz="1450" dirty="0">
                <a:solidFill>
                  <a:srgbClr val="15202B"/>
                </a:solidFill>
                <a:latin typeface="IBM Plex Sans" pitchFamily="34" charset="0"/>
                <a:ea typeface="IBM Plex Sans" pitchFamily="34" charset="-122"/>
                <a:cs typeface="IBM Plex Sans" pitchFamily="34" charset="-120"/>
              </a:rPr>
              <a:t> — The WebSocket Protocol. IETF, 2011.</a:t>
            </a:r>
            <a:endParaRPr lang="en-US" sz="1450" dirty="0"/>
          </a:p>
        </p:txBody>
      </p:sp>
      <p:sp>
        <p:nvSpPr>
          <p:cNvPr id="4" name="Text 2"/>
          <p:cNvSpPr/>
          <p:nvPr/>
        </p:nvSpPr>
        <p:spPr>
          <a:xfrm>
            <a:off x="815975" y="2395339"/>
            <a:ext cx="10560050" cy="615487"/>
          </a:xfrm>
          <a:prstGeom prst="roundRect">
            <a:avLst>
              <a:gd name="adj" fmla="val 11865"/>
            </a:avLst>
          </a:prstGeom>
          <a:solidFill>
            <a:srgbClr val="ECEEE9"/>
          </a:solidFill>
          <a:ln w="6350">
            <a:solidFill>
              <a:srgbClr val="D7DBD4"/>
            </a:solidFill>
            <a:prstDash val="solid"/>
          </a:ln>
        </p:spPr>
        <p:txBody>
          <a:bodyPr wrap="square" lIns="208270" tIns="157470" rIns="0" bIns="132070"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HTML Living Standard</a:t>
            </a:r>
            <a:r>
              <a:rPr lang="en-US" sz="1450" dirty="0">
                <a:solidFill>
                  <a:srgbClr val="15202B"/>
                </a:solidFill>
                <a:latin typeface="IBM Plex Sans" pitchFamily="34" charset="0"/>
                <a:ea typeface="IBM Plex Sans" pitchFamily="34" charset="-122"/>
                <a:cs typeface="IBM Plex Sans" pitchFamily="34" charset="-120"/>
              </a:rPr>
              <a:t> — secció Server-Sent Events. WHATWG.</a:t>
            </a:r>
            <a:endParaRPr lang="en-US" sz="1450" dirty="0"/>
          </a:p>
        </p:txBody>
      </p:sp>
      <p:sp>
        <p:nvSpPr>
          <p:cNvPr id="5" name="Text 3"/>
          <p:cNvSpPr/>
          <p:nvPr/>
        </p:nvSpPr>
        <p:spPr>
          <a:xfrm>
            <a:off x="815975" y="3144180"/>
            <a:ext cx="10560050" cy="615487"/>
          </a:xfrm>
          <a:prstGeom prst="roundRect">
            <a:avLst>
              <a:gd name="adj" fmla="val 11865"/>
            </a:avLst>
          </a:prstGeom>
          <a:solidFill>
            <a:srgbClr val="ECEEE9"/>
          </a:solidFill>
          <a:ln w="6350">
            <a:solidFill>
              <a:srgbClr val="D7DBD4"/>
            </a:solidFill>
            <a:prstDash val="solid"/>
          </a:ln>
        </p:spPr>
        <p:txBody>
          <a:bodyPr wrap="square" lIns="208270" tIns="157470" rIns="0" bIns="132070"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MDN Web Docs</a:t>
            </a:r>
            <a:r>
              <a:rPr lang="en-US" sz="1450" dirty="0">
                <a:solidFill>
                  <a:srgbClr val="15202B"/>
                </a:solidFill>
                <a:latin typeface="IBM Plex Sans" pitchFamily="34" charset="0"/>
                <a:ea typeface="IBM Plex Sans" pitchFamily="34" charset="-122"/>
                <a:cs typeface="IBM Plex Sans" pitchFamily="34" charset="-120"/>
              </a:rPr>
              <a:t> — EventSource i WebSocket API.</a:t>
            </a:r>
            <a:endParaRPr lang="en-US" sz="1450" dirty="0"/>
          </a:p>
        </p:txBody>
      </p:sp>
      <p:sp>
        <p:nvSpPr>
          <p:cNvPr id="6" name="Text 4"/>
          <p:cNvSpPr/>
          <p:nvPr/>
        </p:nvSpPr>
        <p:spPr>
          <a:xfrm>
            <a:off x="815975" y="3893015"/>
            <a:ext cx="10560050" cy="615487"/>
          </a:xfrm>
          <a:prstGeom prst="roundRect">
            <a:avLst>
              <a:gd name="adj" fmla="val 11865"/>
            </a:avLst>
          </a:prstGeom>
          <a:solidFill>
            <a:srgbClr val="ECEEE9"/>
          </a:solidFill>
          <a:ln w="6350">
            <a:solidFill>
              <a:srgbClr val="D7DBD4"/>
            </a:solidFill>
            <a:prstDash val="solid"/>
          </a:ln>
        </p:spPr>
        <p:txBody>
          <a:bodyPr wrap="square" lIns="208270" tIns="157470" rIns="0" bIns="132070"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OWASP</a:t>
            </a:r>
            <a:r>
              <a:rPr lang="en-US" sz="1450" dirty="0">
                <a:solidFill>
                  <a:srgbClr val="15202B"/>
                </a:solidFill>
                <a:latin typeface="IBM Plex Sans" pitchFamily="34" charset="0"/>
                <a:ea typeface="IBM Plex Sans" pitchFamily="34" charset="-122"/>
                <a:cs typeface="IBM Plex Sans" pitchFamily="34" charset="-120"/>
              </a:rPr>
              <a:t> — Testing WebSockets i Cross-Site WebSocket Hijacking.</a:t>
            </a:r>
            <a:endParaRPr lang="en-US" sz="1450" dirty="0"/>
          </a:p>
        </p:txBody>
      </p:sp>
      <p:sp>
        <p:nvSpPr>
          <p:cNvPr id="7" name="Text 5"/>
          <p:cNvSpPr/>
          <p:nvPr/>
        </p:nvSpPr>
        <p:spPr>
          <a:xfrm>
            <a:off x="815975" y="4641850"/>
            <a:ext cx="10560050" cy="615487"/>
          </a:xfrm>
          <a:prstGeom prst="roundRect">
            <a:avLst>
              <a:gd name="adj" fmla="val 11865"/>
            </a:avLst>
          </a:prstGeom>
          <a:solidFill>
            <a:srgbClr val="ECEEE9"/>
          </a:solidFill>
          <a:ln w="6350">
            <a:solidFill>
              <a:srgbClr val="D7DBD4"/>
            </a:solidFill>
            <a:prstDash val="solid"/>
          </a:ln>
        </p:spPr>
        <p:txBody>
          <a:bodyPr wrap="square" lIns="208270" tIns="157470" rIns="0" bIns="132070" rtlCol="0" anchor="t">
            <a:normAutofit/>
          </a:bodyPr>
          <a:lstStyle/>
          <a:p>
            <a:pPr marL="0" indent="0" algn="l">
              <a:lnSpc>
                <a:spcPts val="2030"/>
              </a:lnSpc>
              <a:buNone/>
            </a:pPr>
            <a:r>
              <a:rPr lang="en-US" sz="1450" b="1" dirty="0">
                <a:solidFill>
                  <a:srgbClr val="15202B"/>
                </a:solidFill>
                <a:latin typeface="IBM Plex Sans" pitchFamily="34" charset="0"/>
                <a:ea typeface="IBM Plex Sans" pitchFamily="34" charset="-122"/>
                <a:cs typeface="IBM Plex Sans" pitchFamily="34" charset="-120"/>
              </a:rPr>
              <a:t>ASW</a:t>
            </a:r>
            <a:r>
              <a:rPr lang="en-US" sz="1450" dirty="0">
                <a:solidFill>
                  <a:srgbClr val="15202B"/>
                </a:solidFill>
                <a:latin typeface="IBM Plex Sans" pitchFamily="34" charset="0"/>
                <a:ea typeface="IBM Plex Sans" pitchFamily="34" charset="-122"/>
                <a:cs typeface="IBM Plex Sans" pitchFamily="34" charset="-120"/>
              </a:rPr>
              <a:t> — tema 2 (HTTP, slide 26) i tema 3 (arquitectures, slide 19).</a:t>
            </a:r>
            <a:endParaRPr lang="en-US" sz="1450" dirty="0"/>
          </a:p>
        </p:txBody>
      </p:sp>
      <p:sp>
        <p:nvSpPr>
          <p:cNvPr id="8" name="Text 6"/>
          <p:cNvSpPr/>
          <p:nvPr/>
        </p:nvSpPr>
        <p:spPr>
          <a:xfrm>
            <a:off x="812800" y="6238280"/>
            <a:ext cx="16296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Gràcies. Preguntes?</a:t>
            </a:r>
            <a:endParaRPr lang="en-US" sz="1200" dirty="0"/>
          </a:p>
        </p:txBody>
      </p:sp>
    </p:spTree>
  </p:cSld>
  <p:clrMapOvr>
    <a:masterClrMapping/>
  </p:clrMapOvr>
</p:sld>
</file>

<file path=ppt/theme/theme1.xml><?xml version="1.0" encoding="utf-8"?>
<a:theme xmlns:a="http://schemas.openxmlformats.org/drawingml/2006/main" name="WebSockets i Server-Sent Events">
  <a:themeElements>
    <a:clrScheme name="WebSockets i Server-Sent Events">
      <a:dk1>
        <a:srgbClr val="15202B"/>
      </a:dk1>
      <a:lt1>
        <a:srgbClr val="F7F8F6"/>
      </a:lt1>
      <a:dk2>
        <a:srgbClr val="4E565E"/>
      </a:dk2>
      <a:lt2>
        <a:srgbClr val="E0E2E2"/>
      </a:lt2>
      <a:accent1>
        <a:srgbClr val="B45309"/>
      </a:accent1>
      <a:accent2>
        <a:srgbClr val="F59E0B"/>
      </a:accent2>
      <a:accent3>
        <a:srgbClr val="2563EB"/>
      </a:accent3>
      <a:accent4>
        <a:srgbClr val="4A5568"/>
      </a:accent4>
      <a:accent5>
        <a:srgbClr val="9FB0C0"/>
      </a:accent5>
      <a:accent6>
        <a:srgbClr val="9AA0A6"/>
      </a:accent6>
      <a:hlink>
        <a:srgbClr val="0563C1"/>
      </a:hlink>
      <a:folHlink>
        <a:srgbClr val="954F72"/>
      </a:folHlink>
    </a:clrScheme>
    <a:fontScheme name="WebSockets i Server-Sent Event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l'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2195</Words>
  <Application>Microsoft Office PowerPoint</Application>
  <PresentationFormat>Pantalla panoràmica</PresentationFormat>
  <Paragraphs>210</Paragraphs>
  <Slides>14</Slides>
  <Notes>14</Notes>
  <HiddenSlides>0</HiddenSlides>
  <MMClips>0</MMClips>
  <ScaleCrop>false</ScaleCrop>
  <HeadingPairs>
    <vt:vector size="6" baseType="variant">
      <vt:variant>
        <vt:lpstr>Tipus de lletra utilitzats</vt:lpstr>
      </vt:variant>
      <vt:variant>
        <vt:i4>4</vt:i4>
      </vt:variant>
      <vt:variant>
        <vt:lpstr>Tema</vt:lpstr>
      </vt:variant>
      <vt:variant>
        <vt:i4>1</vt:i4>
      </vt:variant>
      <vt:variant>
        <vt:lpstr>Títols de les diapositives</vt:lpstr>
      </vt:variant>
      <vt:variant>
        <vt:i4>14</vt:i4>
      </vt:variant>
    </vt:vector>
  </HeadingPairs>
  <TitlesOfParts>
    <vt:vector size="19" baseType="lpstr">
      <vt:lpstr>Arial</vt:lpstr>
      <vt:lpstr>Calibri</vt:lpstr>
      <vt:lpstr>IBM Plex Sans</vt:lpstr>
      <vt:lpstr>JetBrains Mono</vt:lpstr>
      <vt:lpstr>WebSockets i Server-Sent Events</vt:lpstr>
      <vt:lpstr>WebSockets i Server-Sent Events</vt:lpstr>
      <vt:lpstr>HTTP només sap respondre</vt:lpstr>
      <vt:lpstr>Abans ho simulàvem</vt:lpstr>
      <vt:lpstr>Server-Sent Events</vt:lpstr>
      <vt:lpstr>El format del cable</vt:lpstr>
      <vt:lpstr>La reconnexió ve de regal</vt:lpstr>
      <vt:lpstr>WebSockets comença parlant HTTP</vt:lpstr>
      <vt:lpstr>Després del 101 ja no és HTTP</vt:lpstr>
      <vt:lpstr>Un al costat de l'altre</vt:lpstr>
      <vt:lpstr>Quan fer servir cadascun</vt:lpstr>
      <vt:lpstr>Què li fa això a l'arquitectura</vt:lpstr>
      <vt:lpstr>Seguretat</vt:lpstr>
      <vt:lpstr>Presentació del PowerPoint</vt:lpstr>
      <vt:lpstr>Referències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i Server-Sent Events</dc:title>
  <dc:subject/>
  <dc:creator/>
  <cp:lastModifiedBy>MARC PLANAS BOSCH</cp:lastModifiedBy>
  <cp:revision>3</cp:revision>
  <dcterms:created xsi:type="dcterms:W3CDTF">2026-10-05T10:48:56Z</dcterms:created>
  <dcterms:modified xsi:type="dcterms:W3CDTF">2026-10-05T10:59:10Z</dcterms:modified>
</cp:coreProperties>
</file>